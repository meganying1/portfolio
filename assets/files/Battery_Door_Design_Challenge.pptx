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media1.mp4" ContentType="video/unknown"/>
  <Override PartName="/ppt/media/image6.jpeg" ContentType="image/jpeg"/>
  <Override PartName="/ppt/media/image7.jpeg" ContentType="image/jpeg"/>
  <Override PartName="/ppt/media/image8.jpeg" ContentType="image/jpeg"/>
  <Override PartName="/ppt/media/image9.jpeg" ContentType="image/jpeg"/>
  <Override PartName="/ppt/media/media2.mp4" ContentType="video/unknown"/>
  <Override PartName="/ppt/media/image10.jpeg" ContentType="image/jpeg"/>
  <Override PartName="/ppt/media/image11.jpeg" ContentType="image/jpeg"/>
  <Override PartName="/ppt/media/image12.jpeg" ContentType="image/jpeg"/>
  <Override PartName="/ppt/media/media3.mp4" ContentType="video/unknown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9" name="Shape 14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, and humm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,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7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8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9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1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Bowl of salad with fried rice, boiled eggs,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5" name="Bowl with salmon cakes, salad, and humm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6" name="Bowl of pappardelle pasta with parsley butter, roasted hazelnuts,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bowl of salad with fried rice, boiled eggs,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.jpe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6.png"/><Relationship Id="rId3" Type="http://schemas.openxmlformats.org/officeDocument/2006/relationships/image" Target="../media/image3.jpe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7.png"/><Relationship Id="rId3" Type="http://schemas.openxmlformats.org/officeDocument/2006/relationships/image" Target="../media/image4.jpe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8.png"/><Relationship Id="rId3" Type="http://schemas.openxmlformats.org/officeDocument/2006/relationships/image" Target="../media/image5.jpe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6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video" Target="../media/media1.mp4"/><Relationship Id="rId3" Type="http://schemas.microsoft.com/office/2007/relationships/media" Target="../media/media1.mp4"/><Relationship Id="rId4" Type="http://schemas.openxmlformats.org/officeDocument/2006/relationships/image" Target="../media/image25.pn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video" Target="../media/media2.mp4"/><Relationship Id="rId3" Type="http://schemas.microsoft.com/office/2007/relationships/media" Target="../media/media2.mp4"/><Relationship Id="rId4" Type="http://schemas.openxmlformats.org/officeDocument/2006/relationships/image" Target="../media/image26.png"/><Relationship Id="rId5" Type="http://schemas.openxmlformats.org/officeDocument/2006/relationships/image" Target="../media/image10.jpeg"/><Relationship Id="rId6" Type="http://schemas.openxmlformats.org/officeDocument/2006/relationships/image" Target="../media/image11.jpeg"/><Relationship Id="rId7" Type="http://schemas.openxmlformats.org/officeDocument/2006/relationships/image" Target="../media/image12.jpeg"/><Relationship Id="rId8" Type="http://schemas.openxmlformats.org/officeDocument/2006/relationships/image" Target="../media/image6.jpeg"/><Relationship Id="rId9" Type="http://schemas.openxmlformats.org/officeDocument/2006/relationships/video" Target="../media/media3.mp4"/><Relationship Id="rId10" Type="http://schemas.microsoft.com/office/2007/relationships/media" Target="../media/media3.mp4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0.jpeg"/><Relationship Id="rId3" Type="http://schemas.openxmlformats.org/officeDocument/2006/relationships/image" Target="../media/image11.jpeg"/><Relationship Id="rId4" Type="http://schemas.openxmlformats.org/officeDocument/2006/relationships/image" Target="../media/image12.jpeg"/><Relationship Id="rId5" Type="http://schemas.openxmlformats.org/officeDocument/2006/relationships/image" Target="../media/image6.jpeg"/><Relationship Id="rId6" Type="http://schemas.openxmlformats.org/officeDocument/2006/relationships/image" Target="../media/image27.png"/><Relationship Id="rId7" Type="http://schemas.openxmlformats.org/officeDocument/2006/relationships/image" Target="../media/image28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Battery Door Design Challenge"/>
          <p:cNvSpPr txBox="1"/>
          <p:nvPr>
            <p:ph type="ctrTitle"/>
          </p:nvPr>
        </p:nvSpPr>
        <p:spPr>
          <a:xfrm>
            <a:off x="1209075" y="9781301"/>
            <a:ext cx="21971004" cy="2049210"/>
          </a:xfrm>
          <a:prstGeom prst="rect">
            <a:avLst/>
          </a:prstGeom>
        </p:spPr>
        <p:txBody>
          <a:bodyPr/>
          <a:lstStyle/>
          <a:p>
            <a:pPr/>
            <a:r>
              <a:t>Battery Door Design Challenge</a:t>
            </a:r>
          </a:p>
        </p:txBody>
      </p:sp>
      <p:sp>
        <p:nvSpPr>
          <p:cNvPr id="152" name="Megan Ying"/>
          <p:cNvSpPr txBox="1"/>
          <p:nvPr>
            <p:ph type="subTitle" sz="quarter" idx="1"/>
          </p:nvPr>
        </p:nvSpPr>
        <p:spPr>
          <a:xfrm>
            <a:off x="1203921" y="11830510"/>
            <a:ext cx="21971001" cy="1121678"/>
          </a:xfrm>
          <a:prstGeom prst="rect">
            <a:avLst/>
          </a:prstGeom>
        </p:spPr>
        <p:txBody>
          <a:bodyPr/>
          <a:lstStyle/>
          <a:p>
            <a:pPr/>
            <a:r>
              <a:t>Megan Ying</a:t>
            </a:r>
          </a:p>
        </p:txBody>
      </p:sp>
      <p:grpSp>
        <p:nvGrpSpPr>
          <p:cNvPr id="155" name="Group"/>
          <p:cNvGrpSpPr/>
          <p:nvPr/>
        </p:nvGrpSpPr>
        <p:grpSpPr>
          <a:xfrm>
            <a:off x="2903973" y="978230"/>
            <a:ext cx="18552066" cy="8270656"/>
            <a:chOff x="0" y="0"/>
            <a:chExt cx="18552064" cy="8270654"/>
          </a:xfrm>
        </p:grpSpPr>
        <p:pic>
          <p:nvPicPr>
            <p:cNvPr id="153" name="Screen Shot 2024-11-29 at 1.10.39 PM.png" descr="Screen Shot 2024-11-29 at 1.10.39 PM.png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0" t="0" r="46770" b="0"/>
            <a:stretch>
              <a:fillRect/>
            </a:stretch>
          </p:blipFill>
          <p:spPr>
            <a:xfrm>
              <a:off x="0" y="0"/>
              <a:ext cx="8090968" cy="827065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4" name="Screen Shot 2024-11-29 at 1.10.39 PM.png" descr="Screen Shot 2024-11-29 at 1.10.39 PM.png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53000" t="0" r="0" b="0"/>
            <a:stretch>
              <a:fillRect/>
            </a:stretch>
          </p:blipFill>
          <p:spPr>
            <a:xfrm>
              <a:off x="11408075" y="0"/>
              <a:ext cx="7143990" cy="827065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56" name="Slide Number"/>
          <p:cNvSpPr txBox="1"/>
          <p:nvPr>
            <p:ph type="sldNum" sz="quarter" idx="2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roblem Statement and Assumptions"/>
          <p:cNvSpPr txBox="1"/>
          <p:nvPr>
            <p:ph type="title"/>
          </p:nvPr>
        </p:nvSpPr>
        <p:spPr>
          <a:xfrm>
            <a:off x="1206500" y="952500"/>
            <a:ext cx="21971000" cy="1434949"/>
          </a:xfrm>
          <a:prstGeom prst="rect">
            <a:avLst/>
          </a:prstGeom>
        </p:spPr>
        <p:txBody>
          <a:bodyPr/>
          <a:lstStyle>
            <a:lvl1pPr>
              <a:defRPr spc="-152" sz="7600"/>
            </a:lvl1pPr>
          </a:lstStyle>
          <a:p>
            <a:pPr/>
            <a:r>
              <a:t>Problem Statement and Assumptions</a:t>
            </a:r>
          </a:p>
        </p:txBody>
      </p:sp>
      <p:pic>
        <p:nvPicPr>
          <p:cNvPr id="159" name="Screen Shot 2024-11-29 at 1.10.39 PM.png" descr="Screen Shot 2024-11-29 at 1.10.39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91797" y="4140361"/>
            <a:ext cx="12644265" cy="6879968"/>
          </a:xfrm>
          <a:prstGeom prst="rect">
            <a:avLst/>
          </a:prstGeom>
          <a:ln w="12700">
            <a:miter lim="400000"/>
          </a:ln>
        </p:spPr>
      </p:pic>
      <p:sp>
        <p:nvSpPr>
          <p:cNvPr id="160" name="Rounded Rectangle"/>
          <p:cNvSpPr/>
          <p:nvPr/>
        </p:nvSpPr>
        <p:spPr>
          <a:xfrm>
            <a:off x="790438" y="3168988"/>
            <a:ext cx="13246983" cy="9885506"/>
          </a:xfrm>
          <a:prstGeom prst="roundRect">
            <a:avLst>
              <a:gd name="adj" fmla="val 5827"/>
            </a:avLst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61" name="Problem Statement"/>
          <p:cNvSpPr txBox="1"/>
          <p:nvPr/>
        </p:nvSpPr>
        <p:spPr>
          <a:xfrm>
            <a:off x="5291627" y="2857696"/>
            <a:ext cx="4244605" cy="5842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32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Problem Statement</a:t>
            </a:r>
          </a:p>
        </p:txBody>
      </p:sp>
      <p:sp>
        <p:nvSpPr>
          <p:cNvPr id="162" name="Users want to be able to replace batteries on the iPod"/>
          <p:cNvSpPr txBox="1"/>
          <p:nvPr/>
        </p:nvSpPr>
        <p:spPr>
          <a:xfrm>
            <a:off x="923372" y="11718793"/>
            <a:ext cx="12644265" cy="5842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2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Users want to be able to replace batteries on the iPod</a:t>
            </a:r>
          </a:p>
        </p:txBody>
      </p:sp>
      <p:sp>
        <p:nvSpPr>
          <p:cNvPr id="163" name="Rounded Rectangle"/>
          <p:cNvSpPr/>
          <p:nvPr/>
        </p:nvSpPr>
        <p:spPr>
          <a:xfrm>
            <a:off x="14710041" y="3168988"/>
            <a:ext cx="8883521" cy="9885506"/>
          </a:xfrm>
          <a:prstGeom prst="roundRect">
            <a:avLst>
              <a:gd name="adj" fmla="val 6484"/>
            </a:avLst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64" name="Assumptions"/>
          <p:cNvSpPr txBox="1"/>
          <p:nvPr/>
        </p:nvSpPr>
        <p:spPr>
          <a:xfrm>
            <a:off x="17534165" y="2857696"/>
            <a:ext cx="3235274" cy="5842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32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Assumptions</a:t>
            </a:r>
          </a:p>
        </p:txBody>
      </p:sp>
      <p:sp>
        <p:nvSpPr>
          <p:cNvPr id="165" name="5th generation iPod Classic…"/>
          <p:cNvSpPr txBox="1"/>
          <p:nvPr/>
        </p:nvSpPr>
        <p:spPr>
          <a:xfrm>
            <a:off x="15438463" y="3875172"/>
            <a:ext cx="7426677" cy="84731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406400" indent="-406400" algn="l">
              <a:lnSpc>
                <a:spcPct val="150000"/>
              </a:lnSpc>
              <a:buSzPct val="123000"/>
              <a:buChar char="•"/>
              <a:defRPr sz="3200"/>
            </a:pPr>
            <a:r>
              <a:t>5th generation iPod Classic</a:t>
            </a:r>
          </a:p>
          <a:p>
            <a:pPr lvl="1" marL="1016000" indent="-406400" algn="l">
              <a:lnSpc>
                <a:spcPct val="150000"/>
              </a:lnSpc>
              <a:buSzPct val="123000"/>
              <a:buChar char="•"/>
              <a:defRPr sz="3200"/>
            </a:pPr>
            <a:r>
              <a:t>Dimensions: 103.5 mm x 61.8 mm x 10.5 mm</a:t>
            </a:r>
          </a:p>
          <a:p>
            <a:pPr lvl="1" marL="1016000" indent="-406400" algn="l">
              <a:lnSpc>
                <a:spcPct val="150000"/>
              </a:lnSpc>
              <a:buSzPct val="123000"/>
              <a:buChar char="•"/>
              <a:defRPr sz="3200"/>
            </a:pPr>
            <a:r>
              <a:t>Weight: 140 g</a:t>
            </a:r>
          </a:p>
          <a:p>
            <a:pPr marL="406400" indent="-406400" algn="l">
              <a:lnSpc>
                <a:spcPct val="150000"/>
              </a:lnSpc>
              <a:buSzPct val="123000"/>
              <a:buChar char="•"/>
              <a:defRPr sz="3200"/>
            </a:pPr>
            <a:r>
              <a:t>Other internal electronics do not exist</a:t>
            </a:r>
          </a:p>
          <a:p>
            <a:pPr marL="406400" indent="-406400" algn="l">
              <a:lnSpc>
                <a:spcPct val="150000"/>
              </a:lnSpc>
              <a:buSzPct val="123000"/>
              <a:buChar char="•"/>
              <a:defRPr sz="3200"/>
            </a:pPr>
            <a:r>
              <a:t>Users will accept a thicker product</a:t>
            </a:r>
          </a:p>
          <a:p>
            <a:pPr marL="406400" indent="-406400" algn="l">
              <a:lnSpc>
                <a:spcPct val="150000"/>
              </a:lnSpc>
              <a:buSzPct val="123000"/>
              <a:buChar char="•"/>
              <a:defRPr sz="3200"/>
            </a:pPr>
            <a:r>
              <a:t>Mechanism is cycled less than 1000x</a:t>
            </a:r>
          </a:p>
          <a:p>
            <a:pPr lvl="1" marL="1016000" indent="-406400" algn="l">
              <a:lnSpc>
                <a:spcPct val="150000"/>
              </a:lnSpc>
              <a:buSzPct val="123000"/>
              <a:buChar char="•"/>
              <a:defRPr sz="3200"/>
            </a:pPr>
            <a:r>
              <a:t>Duracell AA batteries last ~100 hours in constant use</a:t>
            </a:r>
          </a:p>
          <a:p>
            <a:pPr lvl="1" marL="1016000" indent="-406400" algn="l">
              <a:lnSpc>
                <a:spcPct val="150000"/>
              </a:lnSpc>
              <a:buSzPct val="123000"/>
              <a:buChar char="•"/>
              <a:defRPr sz="3200"/>
            </a:pPr>
            <a:r>
              <a:t>iPod Classic lasts ~5 years</a:t>
            </a:r>
          </a:p>
          <a:p>
            <a:pPr marL="406400" indent="-406400" algn="l">
              <a:lnSpc>
                <a:spcPct val="150000"/>
              </a:lnSpc>
              <a:buSzPct val="123000"/>
              <a:buChar char="•"/>
              <a:defRPr sz="3200"/>
            </a:pPr>
            <a:r>
              <a:t>Product will be mass manufactured</a:t>
            </a:r>
          </a:p>
          <a:p>
            <a:pPr marL="406400" indent="-406400" algn="l">
              <a:lnSpc>
                <a:spcPct val="150000"/>
              </a:lnSpc>
              <a:buSzPct val="123000"/>
              <a:buChar char="•"/>
              <a:defRPr sz="3200"/>
            </a:pPr>
            <a:r>
              <a:t>Door will pop open when released</a:t>
            </a:r>
          </a:p>
        </p:txBody>
      </p:sp>
      <p:sp>
        <p:nvSpPr>
          <p:cNvPr id="166" name="Slide Number"/>
          <p:cNvSpPr txBox="1"/>
          <p:nvPr>
            <p:ph type="sldNum" sz="quarter" idx="2"/>
          </p:nvPr>
        </p:nvSpPr>
        <p:spPr>
          <a:xfrm>
            <a:off x="12058764" y="13080999"/>
            <a:ext cx="253975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Requirements and Constraints"/>
          <p:cNvSpPr txBox="1"/>
          <p:nvPr>
            <p:ph type="title"/>
          </p:nvPr>
        </p:nvSpPr>
        <p:spPr>
          <a:xfrm>
            <a:off x="1206500" y="952500"/>
            <a:ext cx="21971000" cy="1434949"/>
          </a:xfrm>
          <a:prstGeom prst="rect">
            <a:avLst/>
          </a:prstGeom>
        </p:spPr>
        <p:txBody>
          <a:bodyPr/>
          <a:lstStyle>
            <a:lvl1pPr>
              <a:defRPr spc="-152" sz="7600"/>
            </a:lvl1pPr>
          </a:lstStyle>
          <a:p>
            <a:pPr/>
            <a:r>
              <a:t>Requirements and Constraints</a:t>
            </a:r>
          </a:p>
        </p:txBody>
      </p:sp>
      <p:sp>
        <p:nvSpPr>
          <p:cNvPr id="169" name="Rounded Rectangle"/>
          <p:cNvSpPr/>
          <p:nvPr/>
        </p:nvSpPr>
        <p:spPr>
          <a:xfrm>
            <a:off x="1922753" y="3440272"/>
            <a:ext cx="9878760" cy="4321123"/>
          </a:xfrm>
          <a:prstGeom prst="roundRect">
            <a:avLst>
              <a:gd name="adj" fmla="val 13269"/>
            </a:avLst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70" name="Functionality"/>
          <p:cNvSpPr txBox="1"/>
          <p:nvPr/>
        </p:nvSpPr>
        <p:spPr>
          <a:xfrm>
            <a:off x="5315933" y="3133893"/>
            <a:ext cx="3092400" cy="5842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32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Functionality</a:t>
            </a:r>
          </a:p>
        </p:txBody>
      </p:sp>
      <p:sp>
        <p:nvSpPr>
          <p:cNvPr id="171" name="Rounded Rectangle"/>
          <p:cNvSpPr/>
          <p:nvPr/>
        </p:nvSpPr>
        <p:spPr>
          <a:xfrm>
            <a:off x="12582487" y="3440272"/>
            <a:ext cx="9878760" cy="4321123"/>
          </a:xfrm>
          <a:prstGeom prst="roundRect">
            <a:avLst>
              <a:gd name="adj" fmla="val 13269"/>
            </a:avLst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72" name="User"/>
          <p:cNvSpPr txBox="1"/>
          <p:nvPr/>
        </p:nvSpPr>
        <p:spPr>
          <a:xfrm>
            <a:off x="16755702" y="3133893"/>
            <a:ext cx="1532329" cy="5842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32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User</a:t>
            </a:r>
          </a:p>
        </p:txBody>
      </p:sp>
      <p:sp>
        <p:nvSpPr>
          <p:cNvPr id="173" name="Can sustain cycling over product lifespan…"/>
          <p:cNvSpPr txBox="1"/>
          <p:nvPr/>
        </p:nvSpPr>
        <p:spPr>
          <a:xfrm>
            <a:off x="2529857" y="4237107"/>
            <a:ext cx="8664551" cy="27274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406400" indent="-406400" algn="l">
              <a:lnSpc>
                <a:spcPct val="150000"/>
              </a:lnSpc>
              <a:buSzPct val="123000"/>
              <a:buChar char="•"/>
              <a:defRPr sz="3200"/>
            </a:pPr>
            <a:r>
              <a:t>Can sustain cycling over product lifespan</a:t>
            </a:r>
          </a:p>
          <a:p>
            <a:pPr marL="406400" indent="-406400" algn="l">
              <a:lnSpc>
                <a:spcPct val="150000"/>
              </a:lnSpc>
              <a:buSzPct val="123000"/>
              <a:buChar char="•"/>
              <a:defRPr sz="3200"/>
            </a:pPr>
            <a:r>
              <a:t>Withstands drop testing without failure</a:t>
            </a:r>
          </a:p>
          <a:p>
            <a:pPr marL="406400" indent="-406400" algn="l">
              <a:lnSpc>
                <a:spcPct val="150000"/>
              </a:lnSpc>
              <a:buSzPct val="123000"/>
              <a:buChar char="•"/>
              <a:defRPr sz="3200"/>
            </a:pPr>
            <a:r>
              <a:t>Withstands extreme temperature conditions without failure</a:t>
            </a:r>
          </a:p>
        </p:txBody>
      </p:sp>
      <p:sp>
        <p:nvSpPr>
          <p:cNvPr id="174" name="Does not require excessive user force…"/>
          <p:cNvSpPr txBox="1"/>
          <p:nvPr/>
        </p:nvSpPr>
        <p:spPr>
          <a:xfrm>
            <a:off x="13189591" y="4237107"/>
            <a:ext cx="8664552" cy="27274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406400" indent="-406400" algn="l">
              <a:lnSpc>
                <a:spcPct val="150000"/>
              </a:lnSpc>
              <a:buSzPct val="123000"/>
              <a:buChar char="•"/>
              <a:defRPr sz="3200"/>
            </a:pPr>
            <a:r>
              <a:t>Does not require excessive user force</a:t>
            </a:r>
          </a:p>
          <a:p>
            <a:pPr marL="406400" indent="-406400" algn="l">
              <a:lnSpc>
                <a:spcPct val="150000"/>
              </a:lnSpc>
              <a:buSzPct val="123000"/>
              <a:buChar char="•"/>
              <a:defRPr sz="3200"/>
            </a:pPr>
            <a:r>
              <a:t>Can be actuated using one hand</a:t>
            </a:r>
          </a:p>
          <a:p>
            <a:pPr marL="406400" indent="-406400" algn="l">
              <a:lnSpc>
                <a:spcPct val="150000"/>
              </a:lnSpc>
              <a:buSzPct val="123000"/>
              <a:buChar char="•"/>
              <a:defRPr sz="3200"/>
            </a:pPr>
            <a:r>
              <a:t>Is not prone to accidental actuation</a:t>
            </a:r>
          </a:p>
          <a:p>
            <a:pPr marL="406400" indent="-406400" algn="l">
              <a:lnSpc>
                <a:spcPct val="150000"/>
              </a:lnSpc>
              <a:buSzPct val="123000"/>
              <a:buChar char="•"/>
              <a:defRPr sz="3200"/>
            </a:pPr>
            <a:r>
              <a:t>Offers auditory or tactile feedback</a:t>
            </a:r>
          </a:p>
        </p:txBody>
      </p:sp>
      <p:sp>
        <p:nvSpPr>
          <p:cNvPr id="175" name="Rounded Rectangle"/>
          <p:cNvSpPr/>
          <p:nvPr/>
        </p:nvSpPr>
        <p:spPr>
          <a:xfrm>
            <a:off x="1922753" y="8744212"/>
            <a:ext cx="20538495" cy="3742203"/>
          </a:xfrm>
          <a:prstGeom prst="roundRect">
            <a:avLst>
              <a:gd name="adj" fmla="val 15322"/>
            </a:avLst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76" name="Design"/>
          <p:cNvSpPr txBox="1"/>
          <p:nvPr/>
        </p:nvSpPr>
        <p:spPr>
          <a:xfrm>
            <a:off x="11267555" y="8560218"/>
            <a:ext cx="1848889" cy="5842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32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Design</a:t>
            </a:r>
          </a:p>
        </p:txBody>
      </p:sp>
      <p:sp>
        <p:nvSpPr>
          <p:cNvPr id="177" name="Minimizes number of components…"/>
          <p:cNvSpPr txBox="1"/>
          <p:nvPr/>
        </p:nvSpPr>
        <p:spPr>
          <a:xfrm>
            <a:off x="2615996" y="9492060"/>
            <a:ext cx="20371188" cy="22465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numCol="2" spcCol="1018559" anchor="ctr"/>
          <a:lstStyle/>
          <a:p>
            <a:pPr marL="406400" indent="-406400" algn="l">
              <a:lnSpc>
                <a:spcPct val="150000"/>
              </a:lnSpc>
              <a:buSzPct val="123000"/>
              <a:buChar char="•"/>
              <a:defRPr sz="3200"/>
            </a:pPr>
            <a:r>
              <a:t>Minimizes number of components</a:t>
            </a:r>
          </a:p>
          <a:p>
            <a:pPr marL="406400" indent="-406400" algn="l">
              <a:lnSpc>
                <a:spcPct val="150000"/>
              </a:lnSpc>
              <a:buSzPct val="123000"/>
              <a:buChar char="•"/>
              <a:defRPr sz="3200"/>
            </a:pPr>
            <a:r>
              <a:t>Minimizes production time</a:t>
            </a:r>
          </a:p>
          <a:p>
            <a:pPr marL="406400" indent="-406400" algn="l">
              <a:lnSpc>
                <a:spcPct val="150000"/>
              </a:lnSpc>
              <a:buSzPct val="123000"/>
              <a:buChar char="•"/>
              <a:defRPr sz="3200"/>
            </a:pPr>
            <a:r>
              <a:t>Minimizes production costs</a:t>
            </a:r>
          </a:p>
          <a:p>
            <a:pPr marL="406400" indent="-406400" algn="l">
              <a:lnSpc>
                <a:spcPct val="150000"/>
              </a:lnSpc>
              <a:buSzPct val="123000"/>
              <a:buChar char="•"/>
              <a:defRPr sz="3200"/>
            </a:pPr>
            <a:r>
              <a:t>Minimizes weight addition</a:t>
            </a:r>
          </a:p>
          <a:p>
            <a:pPr marL="406400" indent="-406400" algn="l">
              <a:lnSpc>
                <a:spcPct val="150000"/>
              </a:lnSpc>
              <a:buSzPct val="123000"/>
              <a:buChar char="•"/>
              <a:defRPr sz="3200"/>
            </a:pPr>
            <a:r>
              <a:t>Minimizes thickness addition</a:t>
            </a:r>
          </a:p>
          <a:p>
            <a:pPr marL="406400" indent="-406400" algn="l">
              <a:lnSpc>
                <a:spcPct val="150000"/>
              </a:lnSpc>
              <a:buSzPct val="123000"/>
              <a:buChar char="•"/>
              <a:defRPr sz="3200"/>
            </a:pPr>
            <a:r>
              <a:t>Sleek and aesthetically pleasing</a:t>
            </a:r>
          </a:p>
        </p:txBody>
      </p:sp>
      <p:sp>
        <p:nvSpPr>
          <p:cNvPr id="178" name="Slide Number"/>
          <p:cNvSpPr txBox="1"/>
          <p:nvPr>
            <p:ph type="sldNum" sz="quarter" idx="2"/>
          </p:nvPr>
        </p:nvSpPr>
        <p:spPr>
          <a:xfrm>
            <a:off x="12058764" y="13080999"/>
            <a:ext cx="253975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Rounded Rectangle"/>
          <p:cNvSpPr/>
          <p:nvPr/>
        </p:nvSpPr>
        <p:spPr>
          <a:xfrm>
            <a:off x="995662" y="2842846"/>
            <a:ext cx="9518897" cy="9885506"/>
          </a:xfrm>
          <a:prstGeom prst="roundRect">
            <a:avLst>
              <a:gd name="adj" fmla="val 6051"/>
            </a:avLst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81" name="Assumptions"/>
          <p:cNvSpPr txBox="1"/>
          <p:nvPr/>
        </p:nvSpPr>
        <p:spPr>
          <a:xfrm>
            <a:off x="4240708" y="2576360"/>
            <a:ext cx="3028805" cy="5334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28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Assumptions</a:t>
            </a:r>
          </a:p>
        </p:txBody>
      </p:sp>
      <p:sp>
        <p:nvSpPr>
          <p:cNvPr id="182" name="5th generation iPod Classic…"/>
          <p:cNvSpPr txBox="1"/>
          <p:nvPr/>
        </p:nvSpPr>
        <p:spPr>
          <a:xfrm>
            <a:off x="1466937" y="3346186"/>
            <a:ext cx="8576346" cy="88788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406400" indent="-406400" algn="l">
              <a:lnSpc>
                <a:spcPct val="150000"/>
              </a:lnSpc>
              <a:buSzPct val="123000"/>
              <a:buChar char="•"/>
              <a:defRPr sz="2800"/>
            </a:pPr>
            <a:r>
              <a:t>5th generation iPod Classic</a:t>
            </a:r>
          </a:p>
          <a:p>
            <a:pPr lvl="1" marL="1016000" indent="-406400" algn="l">
              <a:lnSpc>
                <a:spcPct val="150000"/>
              </a:lnSpc>
              <a:buSzPct val="123000"/>
              <a:buChar char="•"/>
              <a:defRPr sz="2800"/>
            </a:pPr>
            <a:r>
              <a:t>Dimensions: 103.5 x 61.8 x 10.5 mm</a:t>
            </a:r>
          </a:p>
          <a:p>
            <a:pPr lvl="1" marL="1016000" indent="-406400" algn="l">
              <a:lnSpc>
                <a:spcPct val="150000"/>
              </a:lnSpc>
              <a:buSzPct val="123000"/>
              <a:buChar char="•"/>
              <a:defRPr sz="2800"/>
            </a:pPr>
            <a:r>
              <a:t>Mass: 140 g</a:t>
            </a:r>
          </a:p>
          <a:p>
            <a:pPr marL="406400" indent="-406400" algn="l">
              <a:lnSpc>
                <a:spcPct val="150000"/>
              </a:lnSpc>
              <a:buSzPct val="123000"/>
              <a:buChar char="•"/>
              <a:defRPr sz="2800"/>
            </a:pPr>
            <a:r>
              <a:t>Other internal components are out-of-scope</a:t>
            </a:r>
          </a:p>
          <a:p>
            <a:pPr marL="406400" indent="-406400" algn="l">
              <a:lnSpc>
                <a:spcPct val="150000"/>
              </a:lnSpc>
              <a:buSzPct val="123000"/>
              <a:buChar char="•"/>
              <a:defRPr sz="2800"/>
            </a:pPr>
            <a:r>
              <a:t>Users will accept a thicker product</a:t>
            </a:r>
          </a:p>
          <a:p>
            <a:pPr lvl="1" marL="1016000" indent="-406400" algn="l">
              <a:lnSpc>
                <a:spcPct val="150000"/>
              </a:lnSpc>
              <a:buSzPct val="123000"/>
              <a:buChar char="•"/>
              <a:defRPr sz="2800"/>
            </a:pPr>
            <a:r>
              <a:t>AA battery diameter: 14 mm</a:t>
            </a:r>
          </a:p>
          <a:p>
            <a:pPr marL="406400" indent="-406400" algn="l">
              <a:lnSpc>
                <a:spcPct val="150000"/>
              </a:lnSpc>
              <a:buSzPct val="123000"/>
              <a:buChar char="•"/>
              <a:defRPr sz="2800"/>
            </a:pPr>
            <a:r>
              <a:t>Product is cycled &lt; 1000 times over lifespan</a:t>
            </a:r>
          </a:p>
          <a:p>
            <a:pPr lvl="1" marL="1016000" indent="-406400" algn="l">
              <a:lnSpc>
                <a:spcPct val="150000"/>
              </a:lnSpc>
              <a:buSzPct val="123000"/>
              <a:buChar char="•"/>
              <a:defRPr sz="2800"/>
            </a:pPr>
            <a:r>
              <a:t>Duracell AA batteries last ~100 hours during constant use</a:t>
            </a:r>
          </a:p>
          <a:p>
            <a:pPr lvl="1" marL="1016000" indent="-406400" algn="l">
              <a:lnSpc>
                <a:spcPct val="150000"/>
              </a:lnSpc>
              <a:buSzPct val="123000"/>
              <a:buChar char="•"/>
              <a:defRPr sz="2800"/>
            </a:pPr>
            <a:r>
              <a:t>iPod Classic lasts ~5 years</a:t>
            </a:r>
          </a:p>
          <a:p>
            <a:pPr marL="406400" indent="-406400" algn="l">
              <a:lnSpc>
                <a:spcPct val="150000"/>
              </a:lnSpc>
              <a:buSzPct val="123000"/>
              <a:buChar char="•"/>
              <a:defRPr sz="2800"/>
            </a:pPr>
            <a:r>
              <a:t>Product will be mass manufactured ( &gt;100,000 units per year)</a:t>
            </a:r>
          </a:p>
          <a:p>
            <a:pPr marL="406400" indent="-406400" algn="l">
              <a:lnSpc>
                <a:spcPct val="150000"/>
              </a:lnSpc>
              <a:buSzPct val="123000"/>
              <a:buChar char="•"/>
              <a:defRPr sz="2800"/>
            </a:pPr>
            <a:r>
              <a:t>Door will pop open when released due to spring-loaded hinge</a:t>
            </a:r>
          </a:p>
        </p:txBody>
      </p:sp>
      <p:sp>
        <p:nvSpPr>
          <p:cNvPr id="183" name="Rounded Rectangle"/>
          <p:cNvSpPr/>
          <p:nvPr/>
        </p:nvSpPr>
        <p:spPr>
          <a:xfrm>
            <a:off x="11136687" y="2842846"/>
            <a:ext cx="12251651" cy="9885506"/>
          </a:xfrm>
          <a:prstGeom prst="roundRect">
            <a:avLst>
              <a:gd name="adj" fmla="val 5827"/>
            </a:avLst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84" name="Requirements"/>
          <p:cNvSpPr txBox="1"/>
          <p:nvPr/>
        </p:nvSpPr>
        <p:spPr>
          <a:xfrm>
            <a:off x="15644876" y="2576360"/>
            <a:ext cx="3235274" cy="5334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28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Requirements</a:t>
            </a:r>
          </a:p>
        </p:txBody>
      </p:sp>
      <p:sp>
        <p:nvSpPr>
          <p:cNvPr id="185" name="Button requires minimal user effort to actuate, but resists accidental actuation…"/>
          <p:cNvSpPr txBox="1"/>
          <p:nvPr/>
        </p:nvSpPr>
        <p:spPr>
          <a:xfrm>
            <a:off x="11718923" y="3346186"/>
            <a:ext cx="11087179" cy="88788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406400" indent="-406400" algn="l">
              <a:lnSpc>
                <a:spcPct val="150000"/>
              </a:lnSpc>
              <a:buSzPct val="123000"/>
              <a:buChar char="•"/>
              <a:defRPr sz="2800"/>
            </a:pPr>
            <a:r>
              <a:t>Button requires minimal user effort to actuate, but resists accidental actuation</a:t>
            </a:r>
          </a:p>
          <a:p>
            <a:pPr lvl="1" marL="1016000" indent="-406400" algn="l">
              <a:lnSpc>
                <a:spcPct val="150000"/>
              </a:lnSpc>
              <a:buSzPct val="123000"/>
              <a:buChar char="•"/>
              <a:defRPr sz="2800"/>
            </a:pPr>
            <a:r>
              <a:t>Button press force of 2-5 N and travel distance of 1-3 mm</a:t>
            </a:r>
          </a:p>
          <a:p>
            <a:pPr marL="406400" indent="-406400" algn="l">
              <a:lnSpc>
                <a:spcPct val="150000"/>
              </a:lnSpc>
              <a:buSzPct val="123000"/>
              <a:buChar char="•"/>
              <a:defRPr sz="2800"/>
            </a:pPr>
            <a:r>
              <a:t>Door require minimal user effort to close, but resists accidental opening </a:t>
            </a:r>
          </a:p>
          <a:p>
            <a:pPr lvl="1" marL="1016000" indent="-406400" algn="l">
              <a:lnSpc>
                <a:spcPct val="150000"/>
              </a:lnSpc>
              <a:buSzPct val="123000"/>
              <a:buChar char="•"/>
              <a:defRPr sz="2800"/>
            </a:pPr>
            <a:r>
              <a:t>Closing force of &lt; 8 N and opening force of &gt; 20 N</a:t>
            </a:r>
          </a:p>
          <a:p>
            <a:pPr marL="406400" indent="-406400" algn="l">
              <a:lnSpc>
                <a:spcPct val="150000"/>
              </a:lnSpc>
              <a:buSzPct val="123000"/>
              <a:buChar char="•"/>
              <a:defRPr sz="2800"/>
            </a:pPr>
            <a:r>
              <a:t>Does not obstruct battery removal or handling</a:t>
            </a:r>
          </a:p>
          <a:p>
            <a:pPr marL="406400" indent="-406400" algn="l">
              <a:lnSpc>
                <a:spcPct val="150000"/>
              </a:lnSpc>
              <a:buSzPct val="123000"/>
              <a:buChar char="•"/>
              <a:defRPr sz="2800"/>
            </a:pPr>
            <a:r>
              <a:t>Prevents rattling or unwanted noise during use</a:t>
            </a:r>
          </a:p>
          <a:p>
            <a:pPr marL="406400" indent="-406400" algn="l">
              <a:lnSpc>
                <a:spcPct val="150000"/>
              </a:lnSpc>
              <a:buSzPct val="123000"/>
              <a:buChar char="•"/>
              <a:defRPr sz="2800"/>
            </a:pPr>
            <a:r>
              <a:t>Endures repeated use over product’s lifespan</a:t>
            </a:r>
          </a:p>
          <a:p>
            <a:pPr marL="406400" indent="-406400" algn="l">
              <a:lnSpc>
                <a:spcPct val="150000"/>
              </a:lnSpc>
              <a:buSzPct val="123000"/>
              <a:buChar char="•"/>
              <a:defRPr sz="2800"/>
            </a:pPr>
            <a:r>
              <a:t>Remains functional and secure during drops</a:t>
            </a:r>
          </a:p>
          <a:p>
            <a:pPr marL="406400" indent="-406400" algn="l">
              <a:lnSpc>
                <a:spcPct val="150000"/>
              </a:lnSpc>
              <a:buSzPct val="123000"/>
              <a:buChar char="•"/>
              <a:defRPr sz="2800"/>
            </a:pPr>
            <a:r>
              <a:t>Remains functional under extreme temperatures</a:t>
            </a:r>
          </a:p>
          <a:p>
            <a:pPr marL="406400" indent="-406400" algn="l">
              <a:lnSpc>
                <a:spcPct val="150000"/>
              </a:lnSpc>
              <a:buSzPct val="123000"/>
              <a:buChar char="•"/>
              <a:defRPr sz="2800"/>
            </a:pPr>
            <a:r>
              <a:t>Minimizes production costs and assembly time</a:t>
            </a:r>
          </a:p>
          <a:p>
            <a:pPr marL="406400" indent="-406400" algn="l">
              <a:lnSpc>
                <a:spcPct val="150000"/>
              </a:lnSpc>
              <a:buSzPct val="123000"/>
              <a:buChar char="•"/>
              <a:defRPr sz="2800"/>
            </a:pPr>
            <a:r>
              <a:t>Minimizes additional weight and space footprint</a:t>
            </a:r>
          </a:p>
          <a:p>
            <a:pPr marL="406400" indent="-406400" algn="l">
              <a:lnSpc>
                <a:spcPct val="150000"/>
              </a:lnSpc>
              <a:buSzPct val="123000"/>
              <a:buChar char="•"/>
              <a:defRPr sz="2800"/>
            </a:pPr>
            <a:r>
              <a:t>Maintains sleek and aesthetically pleasing appearance</a:t>
            </a:r>
          </a:p>
        </p:txBody>
      </p:sp>
      <p:sp>
        <p:nvSpPr>
          <p:cNvPr id="186" name="Slide Number"/>
          <p:cNvSpPr txBox="1"/>
          <p:nvPr>
            <p:ph type="sldNum" sz="quarter" idx="2"/>
          </p:nvPr>
        </p:nvSpPr>
        <p:spPr>
          <a:xfrm>
            <a:off x="12065050" y="13090695"/>
            <a:ext cx="253899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/>
          <a:lstStyle/>
          <a:p>
            <a:pPr/>
            <a:fld id="{86CB4B4D-7CA3-9044-876B-883B54F8677D}" type="slidenum"/>
          </a:p>
        </p:txBody>
      </p:sp>
      <p:sp>
        <p:nvSpPr>
          <p:cNvPr id="187" name="Assumptions and Requirements"/>
          <p:cNvSpPr txBox="1"/>
          <p:nvPr/>
        </p:nvSpPr>
        <p:spPr>
          <a:xfrm>
            <a:off x="1206500" y="825500"/>
            <a:ext cx="21971000" cy="14349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algn="l">
              <a:lnSpc>
                <a:spcPct val="80000"/>
              </a:lnSpc>
              <a:defRPr b="1" spc="-152" sz="7600">
                <a:solidFill>
                  <a:srgbClr val="000000"/>
                </a:solidFill>
              </a:defRPr>
            </a:lvl1pPr>
          </a:lstStyle>
          <a:p>
            <a:pPr/>
            <a:r>
              <a:t>Assumptions and Requirements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Rounded Rectangle"/>
          <p:cNvSpPr/>
          <p:nvPr/>
        </p:nvSpPr>
        <p:spPr>
          <a:xfrm>
            <a:off x="950386" y="2872851"/>
            <a:ext cx="9218210" cy="9885506"/>
          </a:xfrm>
          <a:prstGeom prst="roundRect">
            <a:avLst>
              <a:gd name="adj" fmla="val 6220"/>
            </a:avLst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pic>
        <p:nvPicPr>
          <p:cNvPr id="190" name="Page4 2.jpg" descr="Page4 2.jpg"/>
          <p:cNvPicPr>
            <a:picLocks noChangeAspect="1"/>
          </p:cNvPicPr>
          <p:nvPr/>
        </p:nvPicPr>
        <p:blipFill>
          <a:blip r:embed="rId2">
            <a:extLst/>
          </a:blip>
          <a:srcRect l="7293" t="45827" r="55603" b="36800"/>
          <a:stretch>
            <a:fillRect/>
          </a:stretch>
        </p:blipFill>
        <p:spPr>
          <a:xfrm>
            <a:off x="11161002" y="3873243"/>
            <a:ext cx="5871561" cy="3609731"/>
          </a:xfrm>
          <a:prstGeom prst="rect">
            <a:avLst/>
          </a:prstGeom>
          <a:ln w="12700">
            <a:miter lim="400000"/>
          </a:ln>
        </p:spPr>
      </p:pic>
      <p:sp>
        <p:nvSpPr>
          <p:cNvPr id="191" name="Rectangle"/>
          <p:cNvSpPr/>
          <p:nvPr/>
        </p:nvSpPr>
        <p:spPr>
          <a:xfrm>
            <a:off x="11417381" y="7786692"/>
            <a:ext cx="709203" cy="57282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92" name="Battery covers and water bottles with snap fits"/>
          <p:cNvSpPr txBox="1"/>
          <p:nvPr/>
        </p:nvSpPr>
        <p:spPr>
          <a:xfrm>
            <a:off x="1362763" y="11462230"/>
            <a:ext cx="8393455" cy="523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150000"/>
              </a:lnSpc>
              <a:defRPr sz="2800"/>
            </a:lvl1pPr>
          </a:lstStyle>
          <a:p>
            <a:pPr/>
            <a:r>
              <a:t>Battery covers and water bottles with snap fits</a:t>
            </a:r>
          </a:p>
        </p:txBody>
      </p:sp>
      <p:pic>
        <p:nvPicPr>
          <p:cNvPr id="193" name="Group" descr="Group"/>
          <p:cNvPicPr>
            <a:picLocks noChangeAspect="1"/>
          </p:cNvPicPr>
          <p:nvPr/>
        </p:nvPicPr>
        <p:blipFill>
          <a:blip r:embed="rId3">
            <a:extLst/>
          </a:blip>
          <a:srcRect l="11517" t="24366" r="11979" b="23563"/>
          <a:stretch>
            <a:fillRect/>
          </a:stretch>
        </p:blipFill>
        <p:spPr>
          <a:xfrm rot="21600000">
            <a:off x="2669032" y="3772309"/>
            <a:ext cx="5780978" cy="26897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84" h="21598" fill="norm" stroke="1" extrusionOk="0">
                <a:moveTo>
                  <a:pt x="17311" y="4"/>
                </a:moveTo>
                <a:cubicBezTo>
                  <a:pt x="16935" y="-2"/>
                  <a:pt x="16440" y="-1"/>
                  <a:pt x="15919" y="7"/>
                </a:cubicBezTo>
                <a:cubicBezTo>
                  <a:pt x="14877" y="24"/>
                  <a:pt x="12342" y="47"/>
                  <a:pt x="10286" y="62"/>
                </a:cubicBezTo>
                <a:cubicBezTo>
                  <a:pt x="8231" y="76"/>
                  <a:pt x="5986" y="118"/>
                  <a:pt x="5295" y="154"/>
                </a:cubicBezTo>
                <a:cubicBezTo>
                  <a:pt x="4605" y="191"/>
                  <a:pt x="3962" y="180"/>
                  <a:pt x="3868" y="129"/>
                </a:cubicBezTo>
                <a:cubicBezTo>
                  <a:pt x="3714" y="46"/>
                  <a:pt x="3207" y="99"/>
                  <a:pt x="2605" y="259"/>
                </a:cubicBezTo>
                <a:cubicBezTo>
                  <a:pt x="2332" y="332"/>
                  <a:pt x="2084" y="538"/>
                  <a:pt x="1815" y="912"/>
                </a:cubicBezTo>
                <a:cubicBezTo>
                  <a:pt x="1694" y="1080"/>
                  <a:pt x="1574" y="1215"/>
                  <a:pt x="1548" y="1215"/>
                </a:cubicBezTo>
                <a:cubicBezTo>
                  <a:pt x="1522" y="1215"/>
                  <a:pt x="1486" y="1292"/>
                  <a:pt x="1470" y="1384"/>
                </a:cubicBezTo>
                <a:cubicBezTo>
                  <a:pt x="1453" y="1477"/>
                  <a:pt x="1403" y="1553"/>
                  <a:pt x="1357" y="1553"/>
                </a:cubicBezTo>
                <a:cubicBezTo>
                  <a:pt x="1312" y="1553"/>
                  <a:pt x="1287" y="1592"/>
                  <a:pt x="1301" y="1642"/>
                </a:cubicBezTo>
                <a:cubicBezTo>
                  <a:pt x="1316" y="1692"/>
                  <a:pt x="1260" y="1873"/>
                  <a:pt x="1176" y="2044"/>
                </a:cubicBezTo>
                <a:cubicBezTo>
                  <a:pt x="1011" y="2379"/>
                  <a:pt x="852" y="3005"/>
                  <a:pt x="871" y="3248"/>
                </a:cubicBezTo>
                <a:cubicBezTo>
                  <a:pt x="877" y="3332"/>
                  <a:pt x="870" y="3478"/>
                  <a:pt x="853" y="3570"/>
                </a:cubicBezTo>
                <a:cubicBezTo>
                  <a:pt x="836" y="3663"/>
                  <a:pt x="796" y="4165"/>
                  <a:pt x="763" y="4689"/>
                </a:cubicBezTo>
                <a:cubicBezTo>
                  <a:pt x="673" y="6132"/>
                  <a:pt x="651" y="6420"/>
                  <a:pt x="621" y="6524"/>
                </a:cubicBezTo>
                <a:cubicBezTo>
                  <a:pt x="606" y="6577"/>
                  <a:pt x="584" y="6930"/>
                  <a:pt x="573" y="7308"/>
                </a:cubicBezTo>
                <a:cubicBezTo>
                  <a:pt x="551" y="8031"/>
                  <a:pt x="530" y="8411"/>
                  <a:pt x="477" y="9061"/>
                </a:cubicBezTo>
                <a:cubicBezTo>
                  <a:pt x="376" y="10283"/>
                  <a:pt x="214" y="12779"/>
                  <a:pt x="108" y="14724"/>
                </a:cubicBezTo>
                <a:cubicBezTo>
                  <a:pt x="95" y="14971"/>
                  <a:pt x="62" y="15426"/>
                  <a:pt x="34" y="15734"/>
                </a:cubicBezTo>
                <a:cubicBezTo>
                  <a:pt x="-96" y="17170"/>
                  <a:pt x="147" y="18699"/>
                  <a:pt x="639" y="19533"/>
                </a:cubicBezTo>
                <a:cubicBezTo>
                  <a:pt x="794" y="19796"/>
                  <a:pt x="1075" y="20127"/>
                  <a:pt x="1262" y="20269"/>
                </a:cubicBezTo>
                <a:cubicBezTo>
                  <a:pt x="1352" y="20338"/>
                  <a:pt x="1421" y="20404"/>
                  <a:pt x="1480" y="20473"/>
                </a:cubicBezTo>
                <a:cubicBezTo>
                  <a:pt x="1653" y="20454"/>
                  <a:pt x="1928" y="20441"/>
                  <a:pt x="2254" y="20441"/>
                </a:cubicBezTo>
                <a:lnTo>
                  <a:pt x="3228" y="20441"/>
                </a:lnTo>
                <a:lnTo>
                  <a:pt x="3354" y="20961"/>
                </a:lnTo>
                <a:cubicBezTo>
                  <a:pt x="3423" y="21243"/>
                  <a:pt x="3488" y="21406"/>
                  <a:pt x="3605" y="21582"/>
                </a:cubicBezTo>
                <a:cubicBezTo>
                  <a:pt x="3647" y="21567"/>
                  <a:pt x="3727" y="21581"/>
                  <a:pt x="3815" y="21598"/>
                </a:cubicBezTo>
                <a:cubicBezTo>
                  <a:pt x="3821" y="21591"/>
                  <a:pt x="3821" y="21582"/>
                  <a:pt x="3829" y="21576"/>
                </a:cubicBezTo>
                <a:cubicBezTo>
                  <a:pt x="3870" y="21547"/>
                  <a:pt x="5748" y="21492"/>
                  <a:pt x="8003" y="21455"/>
                </a:cubicBezTo>
                <a:cubicBezTo>
                  <a:pt x="10259" y="21417"/>
                  <a:pt x="12291" y="21364"/>
                  <a:pt x="12519" y="21337"/>
                </a:cubicBezTo>
                <a:cubicBezTo>
                  <a:pt x="12748" y="21310"/>
                  <a:pt x="13367" y="21290"/>
                  <a:pt x="13895" y="21292"/>
                </a:cubicBezTo>
                <a:cubicBezTo>
                  <a:pt x="14424" y="21294"/>
                  <a:pt x="14949" y="21295"/>
                  <a:pt x="15064" y="21295"/>
                </a:cubicBezTo>
                <a:cubicBezTo>
                  <a:pt x="15411" y="21295"/>
                  <a:pt x="16186" y="21172"/>
                  <a:pt x="16232" y="21110"/>
                </a:cubicBezTo>
                <a:cubicBezTo>
                  <a:pt x="16250" y="21087"/>
                  <a:pt x="16264" y="21078"/>
                  <a:pt x="16276" y="21082"/>
                </a:cubicBezTo>
                <a:cubicBezTo>
                  <a:pt x="16290" y="21086"/>
                  <a:pt x="16299" y="21113"/>
                  <a:pt x="16302" y="21155"/>
                </a:cubicBezTo>
                <a:cubicBezTo>
                  <a:pt x="16330" y="21102"/>
                  <a:pt x="16353" y="21071"/>
                  <a:pt x="16370" y="21053"/>
                </a:cubicBezTo>
                <a:cubicBezTo>
                  <a:pt x="16420" y="20854"/>
                  <a:pt x="16471" y="20656"/>
                  <a:pt x="16528" y="20483"/>
                </a:cubicBezTo>
                <a:cubicBezTo>
                  <a:pt x="16714" y="19914"/>
                  <a:pt x="16826" y="19828"/>
                  <a:pt x="17376" y="19826"/>
                </a:cubicBezTo>
                <a:cubicBezTo>
                  <a:pt x="17563" y="19825"/>
                  <a:pt x="17661" y="19847"/>
                  <a:pt x="17693" y="19915"/>
                </a:cubicBezTo>
                <a:cubicBezTo>
                  <a:pt x="17883" y="19859"/>
                  <a:pt x="18213" y="19822"/>
                  <a:pt x="18826" y="19785"/>
                </a:cubicBezTo>
                <a:cubicBezTo>
                  <a:pt x="20160" y="19704"/>
                  <a:pt x="20477" y="19591"/>
                  <a:pt x="20823" y="19068"/>
                </a:cubicBezTo>
                <a:cubicBezTo>
                  <a:pt x="21073" y="18690"/>
                  <a:pt x="21346" y="17848"/>
                  <a:pt x="21426" y="17207"/>
                </a:cubicBezTo>
                <a:cubicBezTo>
                  <a:pt x="21491" y="16687"/>
                  <a:pt x="21504" y="15430"/>
                  <a:pt x="21447" y="15231"/>
                </a:cubicBezTo>
                <a:cubicBezTo>
                  <a:pt x="21427" y="15160"/>
                  <a:pt x="21424" y="15073"/>
                  <a:pt x="21441" y="15036"/>
                </a:cubicBezTo>
                <a:cubicBezTo>
                  <a:pt x="21458" y="15000"/>
                  <a:pt x="21445" y="14901"/>
                  <a:pt x="21413" y="14816"/>
                </a:cubicBezTo>
                <a:cubicBezTo>
                  <a:pt x="21381" y="14732"/>
                  <a:pt x="21370" y="14629"/>
                  <a:pt x="21388" y="14590"/>
                </a:cubicBezTo>
                <a:cubicBezTo>
                  <a:pt x="21406" y="14551"/>
                  <a:pt x="21395" y="14453"/>
                  <a:pt x="21363" y="14370"/>
                </a:cubicBezTo>
                <a:cubicBezTo>
                  <a:pt x="21320" y="14259"/>
                  <a:pt x="21322" y="14175"/>
                  <a:pt x="21372" y="14045"/>
                </a:cubicBezTo>
                <a:cubicBezTo>
                  <a:pt x="21379" y="14025"/>
                  <a:pt x="21378" y="14023"/>
                  <a:pt x="21383" y="14007"/>
                </a:cubicBezTo>
                <a:cubicBezTo>
                  <a:pt x="21379" y="13970"/>
                  <a:pt x="21381" y="13935"/>
                  <a:pt x="21383" y="13899"/>
                </a:cubicBezTo>
                <a:cubicBezTo>
                  <a:pt x="21377" y="13900"/>
                  <a:pt x="21374" y="13901"/>
                  <a:pt x="21366" y="13905"/>
                </a:cubicBezTo>
                <a:cubicBezTo>
                  <a:pt x="21313" y="13930"/>
                  <a:pt x="21296" y="13847"/>
                  <a:pt x="21307" y="13618"/>
                </a:cubicBezTo>
                <a:cubicBezTo>
                  <a:pt x="21316" y="13426"/>
                  <a:pt x="21292" y="13249"/>
                  <a:pt x="21243" y="13172"/>
                </a:cubicBezTo>
                <a:cubicBezTo>
                  <a:pt x="21180" y="13070"/>
                  <a:pt x="21171" y="12938"/>
                  <a:pt x="21204" y="12538"/>
                </a:cubicBezTo>
                <a:cubicBezTo>
                  <a:pt x="21206" y="12504"/>
                  <a:pt x="21208" y="12484"/>
                  <a:pt x="21211" y="12455"/>
                </a:cubicBezTo>
                <a:cubicBezTo>
                  <a:pt x="21167" y="12293"/>
                  <a:pt x="21105" y="11799"/>
                  <a:pt x="21083" y="11416"/>
                </a:cubicBezTo>
                <a:cubicBezTo>
                  <a:pt x="21077" y="11324"/>
                  <a:pt x="21050" y="11124"/>
                  <a:pt x="21019" y="10970"/>
                </a:cubicBezTo>
                <a:cubicBezTo>
                  <a:pt x="20921" y="10471"/>
                  <a:pt x="20072" y="3930"/>
                  <a:pt x="20072" y="3672"/>
                </a:cubicBezTo>
                <a:cubicBezTo>
                  <a:pt x="20072" y="3602"/>
                  <a:pt x="20003" y="3230"/>
                  <a:pt x="19917" y="2844"/>
                </a:cubicBezTo>
                <a:cubicBezTo>
                  <a:pt x="19585" y="1339"/>
                  <a:pt x="18918" y="366"/>
                  <a:pt x="17996" y="39"/>
                </a:cubicBezTo>
                <a:cubicBezTo>
                  <a:pt x="17946" y="22"/>
                  <a:pt x="17688" y="11"/>
                  <a:pt x="17311" y="4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194" name="1. Latch hooks onto door in locked position"/>
          <p:cNvSpPr txBox="1"/>
          <p:nvPr/>
        </p:nvSpPr>
        <p:spPr>
          <a:xfrm>
            <a:off x="17523624" y="5158225"/>
            <a:ext cx="5395147" cy="10396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lnSpc>
                <a:spcPct val="120000"/>
              </a:lnSpc>
              <a:defRPr sz="2800"/>
            </a:lvl1pPr>
          </a:lstStyle>
          <a:p>
            <a:pPr/>
            <a:r>
              <a:t>1. Latch hooks onto door in locked position</a:t>
            </a:r>
          </a:p>
        </p:txBody>
      </p:sp>
      <p:sp>
        <p:nvSpPr>
          <p:cNvPr id="195" name="2. Button is pressed and latch moves to release door"/>
          <p:cNvSpPr txBox="1"/>
          <p:nvPr/>
        </p:nvSpPr>
        <p:spPr>
          <a:xfrm>
            <a:off x="17523624" y="9433370"/>
            <a:ext cx="5395147" cy="10396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lnSpc>
                <a:spcPct val="120000"/>
              </a:lnSpc>
              <a:defRPr sz="2800"/>
            </a:lvl1pPr>
          </a:lstStyle>
          <a:p>
            <a:pPr/>
            <a:r>
              <a:t>2. Button is pressed and latch moves to release door</a:t>
            </a:r>
          </a:p>
        </p:txBody>
      </p:sp>
      <p:sp>
        <p:nvSpPr>
          <p:cNvPr id="196" name="Inspiration"/>
          <p:cNvSpPr txBox="1"/>
          <p:nvPr/>
        </p:nvSpPr>
        <p:spPr>
          <a:xfrm>
            <a:off x="4249491" y="2548349"/>
            <a:ext cx="2620000" cy="5334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28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Inspiration</a:t>
            </a:r>
          </a:p>
        </p:txBody>
      </p:sp>
      <p:sp>
        <p:nvSpPr>
          <p:cNvPr id="197" name="Rounded Rectangle"/>
          <p:cNvSpPr/>
          <p:nvPr/>
        </p:nvSpPr>
        <p:spPr>
          <a:xfrm>
            <a:off x="10646160" y="2872851"/>
            <a:ext cx="12787454" cy="9885506"/>
          </a:xfrm>
          <a:prstGeom prst="roundRect">
            <a:avLst>
              <a:gd name="adj" fmla="val 5800"/>
            </a:avLst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98" name="Concept"/>
          <p:cNvSpPr txBox="1"/>
          <p:nvPr/>
        </p:nvSpPr>
        <p:spPr>
          <a:xfrm>
            <a:off x="15999338" y="2548349"/>
            <a:ext cx="2081096" cy="5334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28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Concept</a:t>
            </a:r>
          </a:p>
        </p:txBody>
      </p:sp>
      <p:pic>
        <p:nvPicPr>
          <p:cNvPr id="199" name="Page4 2.jpg" descr="Page4 2.jpg"/>
          <p:cNvPicPr>
            <a:picLocks noChangeAspect="1"/>
          </p:cNvPicPr>
          <p:nvPr/>
        </p:nvPicPr>
        <p:blipFill>
          <a:blip r:embed="rId2">
            <a:extLst/>
          </a:blip>
          <a:srcRect l="7901" t="62376" r="54995" b="20250"/>
          <a:stretch>
            <a:fillRect/>
          </a:stretch>
        </p:blipFill>
        <p:spPr>
          <a:xfrm>
            <a:off x="11161002" y="8148386"/>
            <a:ext cx="5871561" cy="3609732"/>
          </a:xfrm>
          <a:prstGeom prst="rect">
            <a:avLst/>
          </a:prstGeom>
          <a:ln w="12700">
            <a:miter lim="400000"/>
          </a:ln>
        </p:spPr>
      </p:pic>
      <p:pic>
        <p:nvPicPr>
          <p:cNvPr id="200" name="Image" descr="Image"/>
          <p:cNvPicPr>
            <a:picLocks noChangeAspect="1"/>
          </p:cNvPicPr>
          <p:nvPr/>
        </p:nvPicPr>
        <p:blipFill>
          <a:blip r:embed="rId4">
            <a:extLst/>
          </a:blip>
          <a:srcRect l="40435" t="50028" r="0" b="2029"/>
          <a:stretch>
            <a:fillRect/>
          </a:stretch>
        </p:blipFill>
        <p:spPr>
          <a:xfrm>
            <a:off x="2831372" y="6565355"/>
            <a:ext cx="5456225" cy="4391567"/>
          </a:xfrm>
          <a:prstGeom prst="rect">
            <a:avLst/>
          </a:prstGeom>
          <a:ln w="12700">
            <a:miter lim="400000"/>
          </a:ln>
        </p:spPr>
      </p:pic>
      <p:sp>
        <p:nvSpPr>
          <p:cNvPr id="201" name="Slide Number"/>
          <p:cNvSpPr txBox="1"/>
          <p:nvPr>
            <p:ph type="sldNum" sz="quarter" idx="2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02" name="Moving Snap Fit Mechanism"/>
          <p:cNvSpPr txBox="1"/>
          <p:nvPr/>
        </p:nvSpPr>
        <p:spPr>
          <a:xfrm>
            <a:off x="1206500" y="825500"/>
            <a:ext cx="21971000" cy="14349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algn="l">
              <a:lnSpc>
                <a:spcPct val="80000"/>
              </a:lnSpc>
              <a:defRPr b="1" spc="-152" sz="7600">
                <a:solidFill>
                  <a:srgbClr val="000000"/>
                </a:solidFill>
              </a:defRPr>
            </a:lvl1pPr>
          </a:lstStyle>
          <a:p>
            <a:pPr/>
            <a:r>
              <a:t>Moving Snap Fit Mechanism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Push Release Mechanisms.jpg" descr="Push Release Mechanisms.jpg"/>
          <p:cNvPicPr>
            <a:picLocks noChangeAspect="1"/>
          </p:cNvPicPr>
          <p:nvPr/>
        </p:nvPicPr>
        <p:blipFill>
          <a:blip r:embed="rId2">
            <a:extLst/>
          </a:blip>
          <a:srcRect l="42923" t="35120" r="30640" b="35120"/>
          <a:stretch>
            <a:fillRect/>
          </a:stretch>
        </p:blipFill>
        <p:spPr>
          <a:xfrm>
            <a:off x="18804214" y="7791784"/>
            <a:ext cx="2546530" cy="3764124"/>
          </a:xfrm>
          <a:prstGeom prst="rect">
            <a:avLst/>
          </a:prstGeom>
          <a:ln w="12700">
            <a:miter lim="400000"/>
          </a:ln>
        </p:spPr>
      </p:pic>
      <p:sp>
        <p:nvSpPr>
          <p:cNvPr id="205" name="4. Button is pressed and hook travels to unlocked position"/>
          <p:cNvSpPr txBox="1"/>
          <p:nvPr/>
        </p:nvSpPr>
        <p:spPr>
          <a:xfrm>
            <a:off x="17093989" y="11317473"/>
            <a:ext cx="5608577" cy="10396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lnSpc>
                <a:spcPct val="120000"/>
              </a:lnSpc>
              <a:defRPr sz="2800"/>
            </a:lvl1pPr>
          </a:lstStyle>
          <a:p>
            <a:pPr/>
            <a:r>
              <a:t>4. Button is pressed and hook travels to unlocked position</a:t>
            </a:r>
          </a:p>
        </p:txBody>
      </p:sp>
      <p:pic>
        <p:nvPicPr>
          <p:cNvPr id="206" name="Push Release Mechanisms.jpg" descr="Push Release Mechanisms.jpg"/>
          <p:cNvPicPr>
            <a:picLocks noChangeAspect="1"/>
          </p:cNvPicPr>
          <p:nvPr/>
        </p:nvPicPr>
        <p:blipFill>
          <a:blip r:embed="rId2">
            <a:extLst/>
          </a:blip>
          <a:srcRect l="43734" t="6581" r="29830" b="63659"/>
          <a:stretch>
            <a:fillRect/>
          </a:stretch>
        </p:blipFill>
        <p:spPr>
          <a:xfrm>
            <a:off x="18842314" y="2705746"/>
            <a:ext cx="2470274" cy="3651408"/>
          </a:xfrm>
          <a:prstGeom prst="rect">
            <a:avLst/>
          </a:prstGeom>
          <a:ln w="12700">
            <a:miter lim="400000"/>
          </a:ln>
        </p:spPr>
      </p:pic>
      <p:sp>
        <p:nvSpPr>
          <p:cNvPr id="207" name="Push to open cabinets with touch latches"/>
          <p:cNvSpPr txBox="1"/>
          <p:nvPr/>
        </p:nvSpPr>
        <p:spPr>
          <a:xfrm>
            <a:off x="1014124" y="11462230"/>
            <a:ext cx="9090734" cy="523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150000"/>
              </a:lnSpc>
              <a:defRPr sz="2800"/>
            </a:lvl1pPr>
          </a:lstStyle>
          <a:p>
            <a:pPr/>
            <a:r>
              <a:t>Push to open cabinets with touch latches</a:t>
            </a:r>
          </a:p>
        </p:txBody>
      </p:sp>
      <p:grpSp>
        <p:nvGrpSpPr>
          <p:cNvPr id="210" name="Group"/>
          <p:cNvGrpSpPr/>
          <p:nvPr/>
        </p:nvGrpSpPr>
        <p:grpSpPr>
          <a:xfrm rot="16200000">
            <a:off x="172168" y="3858089"/>
            <a:ext cx="10741909" cy="7151392"/>
            <a:chOff x="-1381078" y="-1515079"/>
            <a:chExt cx="10741908" cy="7151391"/>
          </a:xfrm>
        </p:grpSpPr>
        <p:pic>
          <p:nvPicPr>
            <p:cNvPr id="208" name="Image" descr="Image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9908" t="19187" r="26175" b="19110"/>
            <a:stretch>
              <a:fillRect/>
            </a:stretch>
          </p:blipFill>
          <p:spPr>
            <a:xfrm rot="2780544">
              <a:off x="-380941" y="-422877"/>
              <a:ext cx="5145211" cy="49669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89" h="21589" fill="norm" stroke="1" extrusionOk="0">
                  <a:moveTo>
                    <a:pt x="4109" y="0"/>
                  </a:moveTo>
                  <a:cubicBezTo>
                    <a:pt x="4036" y="2"/>
                    <a:pt x="3974" y="36"/>
                    <a:pt x="3891" y="81"/>
                  </a:cubicBezTo>
                  <a:cubicBezTo>
                    <a:pt x="3572" y="255"/>
                    <a:pt x="46" y="2961"/>
                    <a:pt x="7" y="3062"/>
                  </a:cubicBezTo>
                  <a:cubicBezTo>
                    <a:pt x="-11" y="3110"/>
                    <a:pt x="7" y="3452"/>
                    <a:pt x="45" y="3821"/>
                  </a:cubicBezTo>
                  <a:cubicBezTo>
                    <a:pt x="68" y="4031"/>
                    <a:pt x="79" y="4302"/>
                    <a:pt x="82" y="4590"/>
                  </a:cubicBezTo>
                  <a:cubicBezTo>
                    <a:pt x="82" y="4592"/>
                    <a:pt x="82" y="4594"/>
                    <a:pt x="82" y="4596"/>
                  </a:cubicBezTo>
                  <a:cubicBezTo>
                    <a:pt x="98" y="4881"/>
                    <a:pt x="110" y="5222"/>
                    <a:pt x="122" y="5613"/>
                  </a:cubicBezTo>
                  <a:cubicBezTo>
                    <a:pt x="135" y="5679"/>
                    <a:pt x="147" y="5761"/>
                    <a:pt x="152" y="5870"/>
                  </a:cubicBezTo>
                  <a:cubicBezTo>
                    <a:pt x="171" y="6291"/>
                    <a:pt x="255" y="7311"/>
                    <a:pt x="327" y="7970"/>
                  </a:cubicBezTo>
                  <a:cubicBezTo>
                    <a:pt x="349" y="8170"/>
                    <a:pt x="396" y="8413"/>
                    <a:pt x="432" y="8510"/>
                  </a:cubicBezTo>
                  <a:cubicBezTo>
                    <a:pt x="467" y="8607"/>
                    <a:pt x="874" y="9036"/>
                    <a:pt x="1336" y="9464"/>
                  </a:cubicBezTo>
                  <a:cubicBezTo>
                    <a:pt x="2129" y="10197"/>
                    <a:pt x="5390" y="13295"/>
                    <a:pt x="6525" y="14394"/>
                  </a:cubicBezTo>
                  <a:cubicBezTo>
                    <a:pt x="7109" y="14959"/>
                    <a:pt x="7431" y="15113"/>
                    <a:pt x="8022" y="15113"/>
                  </a:cubicBezTo>
                  <a:cubicBezTo>
                    <a:pt x="8222" y="15113"/>
                    <a:pt x="8503" y="15071"/>
                    <a:pt x="8647" y="15018"/>
                  </a:cubicBezTo>
                  <a:cubicBezTo>
                    <a:pt x="9032" y="14877"/>
                    <a:pt x="9728" y="14930"/>
                    <a:pt x="9849" y="15109"/>
                  </a:cubicBezTo>
                  <a:cubicBezTo>
                    <a:pt x="9900" y="15184"/>
                    <a:pt x="9978" y="15246"/>
                    <a:pt x="10022" y="15246"/>
                  </a:cubicBezTo>
                  <a:cubicBezTo>
                    <a:pt x="10067" y="15246"/>
                    <a:pt x="10173" y="15322"/>
                    <a:pt x="10259" y="15417"/>
                  </a:cubicBezTo>
                  <a:cubicBezTo>
                    <a:pt x="10488" y="15671"/>
                    <a:pt x="10617" y="15724"/>
                    <a:pt x="11141" y="15777"/>
                  </a:cubicBezTo>
                  <a:cubicBezTo>
                    <a:pt x="11199" y="15783"/>
                    <a:pt x="11246" y="15790"/>
                    <a:pt x="11294" y="15798"/>
                  </a:cubicBezTo>
                  <a:cubicBezTo>
                    <a:pt x="11443" y="15779"/>
                    <a:pt x="11608" y="15743"/>
                    <a:pt x="11792" y="15691"/>
                  </a:cubicBezTo>
                  <a:cubicBezTo>
                    <a:pt x="11833" y="15677"/>
                    <a:pt x="11860" y="15663"/>
                    <a:pt x="11910" y="15649"/>
                  </a:cubicBezTo>
                  <a:cubicBezTo>
                    <a:pt x="12088" y="15602"/>
                    <a:pt x="12234" y="15525"/>
                    <a:pt x="12234" y="15479"/>
                  </a:cubicBezTo>
                  <a:cubicBezTo>
                    <a:pt x="12234" y="15435"/>
                    <a:pt x="12220" y="15373"/>
                    <a:pt x="12200" y="15303"/>
                  </a:cubicBezTo>
                  <a:cubicBezTo>
                    <a:pt x="12151" y="15128"/>
                    <a:pt x="12057" y="14919"/>
                    <a:pt x="11980" y="14813"/>
                  </a:cubicBezTo>
                  <a:cubicBezTo>
                    <a:pt x="11964" y="14801"/>
                    <a:pt x="11947" y="14789"/>
                    <a:pt x="11925" y="14780"/>
                  </a:cubicBezTo>
                  <a:cubicBezTo>
                    <a:pt x="11840" y="14743"/>
                    <a:pt x="11829" y="14708"/>
                    <a:pt x="11879" y="14661"/>
                  </a:cubicBezTo>
                  <a:cubicBezTo>
                    <a:pt x="11883" y="14653"/>
                    <a:pt x="11896" y="14643"/>
                    <a:pt x="11907" y="14633"/>
                  </a:cubicBezTo>
                  <a:cubicBezTo>
                    <a:pt x="11907" y="14633"/>
                    <a:pt x="11909" y="14632"/>
                    <a:pt x="11909" y="14632"/>
                  </a:cubicBezTo>
                  <a:cubicBezTo>
                    <a:pt x="11935" y="14611"/>
                    <a:pt x="11973" y="14589"/>
                    <a:pt x="12037" y="14554"/>
                  </a:cubicBezTo>
                  <a:cubicBezTo>
                    <a:pt x="12057" y="14543"/>
                    <a:pt x="12067" y="14534"/>
                    <a:pt x="12084" y="14525"/>
                  </a:cubicBezTo>
                  <a:cubicBezTo>
                    <a:pt x="12093" y="14489"/>
                    <a:pt x="12123" y="14466"/>
                    <a:pt x="12167" y="14468"/>
                  </a:cubicBezTo>
                  <a:cubicBezTo>
                    <a:pt x="12216" y="14424"/>
                    <a:pt x="12228" y="14367"/>
                    <a:pt x="12219" y="14273"/>
                  </a:cubicBezTo>
                  <a:cubicBezTo>
                    <a:pt x="12182" y="14174"/>
                    <a:pt x="12144" y="14073"/>
                    <a:pt x="12095" y="13938"/>
                  </a:cubicBezTo>
                  <a:cubicBezTo>
                    <a:pt x="11969" y="13593"/>
                    <a:pt x="11966" y="13591"/>
                    <a:pt x="11692" y="13591"/>
                  </a:cubicBezTo>
                  <a:cubicBezTo>
                    <a:pt x="11566" y="13591"/>
                    <a:pt x="11450" y="13568"/>
                    <a:pt x="11359" y="13524"/>
                  </a:cubicBezTo>
                  <a:cubicBezTo>
                    <a:pt x="11348" y="13521"/>
                    <a:pt x="11324" y="13517"/>
                    <a:pt x="11318" y="13514"/>
                  </a:cubicBezTo>
                  <a:cubicBezTo>
                    <a:pt x="11277" y="13491"/>
                    <a:pt x="11261" y="13477"/>
                    <a:pt x="11261" y="13460"/>
                  </a:cubicBezTo>
                  <a:lnTo>
                    <a:pt x="11118" y="13341"/>
                  </a:lnTo>
                  <a:lnTo>
                    <a:pt x="11369" y="13234"/>
                  </a:lnTo>
                  <a:cubicBezTo>
                    <a:pt x="11844" y="13029"/>
                    <a:pt x="12315" y="12525"/>
                    <a:pt x="12205" y="12341"/>
                  </a:cubicBezTo>
                  <a:cubicBezTo>
                    <a:pt x="12187" y="12310"/>
                    <a:pt x="12239" y="12237"/>
                    <a:pt x="12325" y="12179"/>
                  </a:cubicBezTo>
                  <a:cubicBezTo>
                    <a:pt x="12418" y="12116"/>
                    <a:pt x="12494" y="12098"/>
                    <a:pt x="12518" y="12136"/>
                  </a:cubicBezTo>
                  <a:cubicBezTo>
                    <a:pt x="12433" y="12038"/>
                    <a:pt x="12453" y="12006"/>
                    <a:pt x="12715" y="11811"/>
                  </a:cubicBezTo>
                  <a:cubicBezTo>
                    <a:pt x="12874" y="11692"/>
                    <a:pt x="13043" y="11589"/>
                    <a:pt x="13089" y="11582"/>
                  </a:cubicBezTo>
                  <a:cubicBezTo>
                    <a:pt x="13136" y="11575"/>
                    <a:pt x="13243" y="11485"/>
                    <a:pt x="13329" y="11382"/>
                  </a:cubicBezTo>
                  <a:lnTo>
                    <a:pt x="13487" y="11192"/>
                  </a:lnTo>
                  <a:lnTo>
                    <a:pt x="13556" y="11283"/>
                  </a:lnTo>
                  <a:cubicBezTo>
                    <a:pt x="13580" y="11208"/>
                    <a:pt x="13745" y="11232"/>
                    <a:pt x="14109" y="11340"/>
                  </a:cubicBezTo>
                  <a:cubicBezTo>
                    <a:pt x="14370" y="11418"/>
                    <a:pt x="14574" y="11504"/>
                    <a:pt x="14723" y="11603"/>
                  </a:cubicBezTo>
                  <a:cubicBezTo>
                    <a:pt x="14723" y="11603"/>
                    <a:pt x="14725" y="11604"/>
                    <a:pt x="14725" y="11604"/>
                  </a:cubicBezTo>
                  <a:cubicBezTo>
                    <a:pt x="14728" y="11606"/>
                    <a:pt x="14739" y="11611"/>
                    <a:pt x="14741" y="11613"/>
                  </a:cubicBezTo>
                  <a:cubicBezTo>
                    <a:pt x="14754" y="11622"/>
                    <a:pt x="14761" y="11633"/>
                    <a:pt x="14773" y="11642"/>
                  </a:cubicBezTo>
                  <a:cubicBezTo>
                    <a:pt x="14980" y="11798"/>
                    <a:pt x="15064" y="11981"/>
                    <a:pt x="15021" y="12201"/>
                  </a:cubicBezTo>
                  <a:cubicBezTo>
                    <a:pt x="14985" y="12389"/>
                    <a:pt x="14995" y="12402"/>
                    <a:pt x="15311" y="12500"/>
                  </a:cubicBezTo>
                  <a:cubicBezTo>
                    <a:pt x="15492" y="12555"/>
                    <a:pt x="15674" y="12601"/>
                    <a:pt x="15716" y="12601"/>
                  </a:cubicBezTo>
                  <a:cubicBezTo>
                    <a:pt x="15729" y="12601"/>
                    <a:pt x="15748" y="12610"/>
                    <a:pt x="15766" y="12619"/>
                  </a:cubicBezTo>
                  <a:cubicBezTo>
                    <a:pt x="15775" y="12617"/>
                    <a:pt x="15784" y="12613"/>
                    <a:pt x="15792" y="12610"/>
                  </a:cubicBezTo>
                  <a:cubicBezTo>
                    <a:pt x="15930" y="12515"/>
                    <a:pt x="16082" y="11926"/>
                    <a:pt x="16165" y="11325"/>
                  </a:cubicBezTo>
                  <a:cubicBezTo>
                    <a:pt x="16164" y="11315"/>
                    <a:pt x="16167" y="11296"/>
                    <a:pt x="16165" y="11290"/>
                  </a:cubicBezTo>
                  <a:cubicBezTo>
                    <a:pt x="16154" y="11260"/>
                    <a:pt x="16126" y="11241"/>
                    <a:pt x="16102" y="11245"/>
                  </a:cubicBezTo>
                  <a:cubicBezTo>
                    <a:pt x="16040" y="11259"/>
                    <a:pt x="16055" y="11151"/>
                    <a:pt x="16160" y="10850"/>
                  </a:cubicBezTo>
                  <a:cubicBezTo>
                    <a:pt x="16197" y="10747"/>
                    <a:pt x="16214" y="10683"/>
                    <a:pt x="16225" y="10618"/>
                  </a:cubicBezTo>
                  <a:cubicBezTo>
                    <a:pt x="16228" y="10476"/>
                    <a:pt x="16224" y="10345"/>
                    <a:pt x="16209" y="10242"/>
                  </a:cubicBezTo>
                  <a:cubicBezTo>
                    <a:pt x="16162" y="9923"/>
                    <a:pt x="15882" y="9695"/>
                    <a:pt x="15286" y="9495"/>
                  </a:cubicBezTo>
                  <a:lnTo>
                    <a:pt x="14755" y="9317"/>
                  </a:lnTo>
                  <a:lnTo>
                    <a:pt x="14753" y="9305"/>
                  </a:lnTo>
                  <a:cubicBezTo>
                    <a:pt x="14637" y="9258"/>
                    <a:pt x="14593" y="9226"/>
                    <a:pt x="14615" y="9196"/>
                  </a:cubicBezTo>
                  <a:cubicBezTo>
                    <a:pt x="14633" y="9172"/>
                    <a:pt x="14637" y="8911"/>
                    <a:pt x="14625" y="8577"/>
                  </a:cubicBezTo>
                  <a:cubicBezTo>
                    <a:pt x="14610" y="8157"/>
                    <a:pt x="14617" y="7937"/>
                    <a:pt x="14650" y="7771"/>
                  </a:cubicBezTo>
                  <a:cubicBezTo>
                    <a:pt x="14658" y="7732"/>
                    <a:pt x="14660" y="7692"/>
                    <a:pt x="14665" y="7652"/>
                  </a:cubicBezTo>
                  <a:cubicBezTo>
                    <a:pt x="14657" y="7105"/>
                    <a:pt x="14631" y="6915"/>
                    <a:pt x="14530" y="6711"/>
                  </a:cubicBezTo>
                  <a:cubicBezTo>
                    <a:pt x="14222" y="6084"/>
                    <a:pt x="13393" y="5792"/>
                    <a:pt x="12580" y="6024"/>
                  </a:cubicBezTo>
                  <a:cubicBezTo>
                    <a:pt x="12578" y="6025"/>
                    <a:pt x="12568" y="6019"/>
                    <a:pt x="12565" y="6019"/>
                  </a:cubicBezTo>
                  <a:cubicBezTo>
                    <a:pt x="12547" y="6024"/>
                    <a:pt x="12502" y="6035"/>
                    <a:pt x="12495" y="6038"/>
                  </a:cubicBezTo>
                  <a:cubicBezTo>
                    <a:pt x="12463" y="6050"/>
                    <a:pt x="12349" y="5970"/>
                    <a:pt x="12190" y="5826"/>
                  </a:cubicBezTo>
                  <a:cubicBezTo>
                    <a:pt x="12051" y="5699"/>
                    <a:pt x="11664" y="5350"/>
                    <a:pt x="11329" y="5049"/>
                  </a:cubicBezTo>
                  <a:cubicBezTo>
                    <a:pt x="11325" y="5046"/>
                    <a:pt x="11312" y="5034"/>
                    <a:pt x="11308" y="5030"/>
                  </a:cubicBezTo>
                  <a:cubicBezTo>
                    <a:pt x="10689" y="4488"/>
                    <a:pt x="9855" y="3734"/>
                    <a:pt x="8638" y="2617"/>
                  </a:cubicBezTo>
                  <a:cubicBezTo>
                    <a:pt x="8259" y="2269"/>
                    <a:pt x="7856" y="1935"/>
                    <a:pt x="7744" y="1875"/>
                  </a:cubicBezTo>
                  <a:cubicBezTo>
                    <a:pt x="7630" y="1815"/>
                    <a:pt x="7215" y="1732"/>
                    <a:pt x="6805" y="1687"/>
                  </a:cubicBezTo>
                  <a:cubicBezTo>
                    <a:pt x="6651" y="1671"/>
                    <a:pt x="6570" y="1654"/>
                    <a:pt x="6462" y="1637"/>
                  </a:cubicBezTo>
                  <a:lnTo>
                    <a:pt x="6054" y="1594"/>
                  </a:lnTo>
                  <a:lnTo>
                    <a:pt x="5353" y="947"/>
                  </a:lnTo>
                  <a:cubicBezTo>
                    <a:pt x="5107" y="722"/>
                    <a:pt x="5037" y="664"/>
                    <a:pt x="4893" y="533"/>
                  </a:cubicBezTo>
                  <a:cubicBezTo>
                    <a:pt x="4456" y="147"/>
                    <a:pt x="4247" y="-2"/>
                    <a:pt x="4109" y="0"/>
                  </a:cubicBezTo>
                  <a:close/>
                  <a:moveTo>
                    <a:pt x="13747" y="11694"/>
                  </a:moveTo>
                  <a:cubicBezTo>
                    <a:pt x="13719" y="11750"/>
                    <a:pt x="13653" y="11822"/>
                    <a:pt x="13577" y="11892"/>
                  </a:cubicBezTo>
                  <a:lnTo>
                    <a:pt x="13767" y="11727"/>
                  </a:lnTo>
                  <a:lnTo>
                    <a:pt x="13747" y="11694"/>
                  </a:lnTo>
                  <a:close/>
                  <a:moveTo>
                    <a:pt x="21511" y="12536"/>
                  </a:moveTo>
                  <a:cubicBezTo>
                    <a:pt x="21508" y="12533"/>
                    <a:pt x="21490" y="12541"/>
                    <a:pt x="21452" y="12562"/>
                  </a:cubicBezTo>
                  <a:cubicBezTo>
                    <a:pt x="21442" y="12567"/>
                    <a:pt x="21436" y="12574"/>
                    <a:pt x="21427" y="12581"/>
                  </a:cubicBezTo>
                  <a:cubicBezTo>
                    <a:pt x="21443" y="12585"/>
                    <a:pt x="21454" y="12597"/>
                    <a:pt x="21464" y="12610"/>
                  </a:cubicBezTo>
                  <a:cubicBezTo>
                    <a:pt x="21469" y="12602"/>
                    <a:pt x="21470" y="12593"/>
                    <a:pt x="21476" y="12586"/>
                  </a:cubicBezTo>
                  <a:cubicBezTo>
                    <a:pt x="21502" y="12554"/>
                    <a:pt x="21514" y="12539"/>
                    <a:pt x="21511" y="12536"/>
                  </a:cubicBezTo>
                  <a:close/>
                  <a:moveTo>
                    <a:pt x="21449" y="12743"/>
                  </a:moveTo>
                  <a:cubicBezTo>
                    <a:pt x="21439" y="12757"/>
                    <a:pt x="21427" y="12768"/>
                    <a:pt x="21414" y="12776"/>
                  </a:cubicBezTo>
                  <a:cubicBezTo>
                    <a:pt x="21443" y="12804"/>
                    <a:pt x="21448" y="12830"/>
                    <a:pt x="21421" y="12891"/>
                  </a:cubicBezTo>
                  <a:cubicBezTo>
                    <a:pt x="21391" y="12960"/>
                    <a:pt x="21402" y="12979"/>
                    <a:pt x="21459" y="13003"/>
                  </a:cubicBezTo>
                  <a:cubicBezTo>
                    <a:pt x="21448" y="12970"/>
                    <a:pt x="21454" y="12927"/>
                    <a:pt x="21474" y="12907"/>
                  </a:cubicBezTo>
                  <a:cubicBezTo>
                    <a:pt x="21488" y="12893"/>
                    <a:pt x="21498" y="12888"/>
                    <a:pt x="21507" y="12891"/>
                  </a:cubicBezTo>
                  <a:cubicBezTo>
                    <a:pt x="21514" y="12894"/>
                    <a:pt x="21520" y="12907"/>
                    <a:pt x="21526" y="12919"/>
                  </a:cubicBezTo>
                  <a:cubicBezTo>
                    <a:pt x="21534" y="12894"/>
                    <a:pt x="21547" y="12864"/>
                    <a:pt x="21572" y="12834"/>
                  </a:cubicBezTo>
                  <a:cubicBezTo>
                    <a:pt x="21584" y="12821"/>
                    <a:pt x="21582" y="12820"/>
                    <a:pt x="21589" y="12812"/>
                  </a:cubicBezTo>
                  <a:lnTo>
                    <a:pt x="21589" y="12784"/>
                  </a:lnTo>
                  <a:cubicBezTo>
                    <a:pt x="21580" y="12786"/>
                    <a:pt x="21577" y="12784"/>
                    <a:pt x="21556" y="12791"/>
                  </a:cubicBezTo>
                  <a:cubicBezTo>
                    <a:pt x="21505" y="12807"/>
                    <a:pt x="21467" y="12782"/>
                    <a:pt x="21449" y="12743"/>
                  </a:cubicBezTo>
                  <a:close/>
                  <a:moveTo>
                    <a:pt x="21537" y="12986"/>
                  </a:moveTo>
                  <a:cubicBezTo>
                    <a:pt x="21534" y="13003"/>
                    <a:pt x="21529" y="13019"/>
                    <a:pt x="21519" y="13029"/>
                  </a:cubicBezTo>
                  <a:cubicBezTo>
                    <a:pt x="21517" y="13031"/>
                    <a:pt x="21514" y="13029"/>
                    <a:pt x="21512" y="13031"/>
                  </a:cubicBezTo>
                  <a:cubicBezTo>
                    <a:pt x="21572" y="13055"/>
                    <a:pt x="21580" y="13068"/>
                    <a:pt x="21531" y="13124"/>
                  </a:cubicBezTo>
                  <a:cubicBezTo>
                    <a:pt x="21498" y="13162"/>
                    <a:pt x="21480" y="13217"/>
                    <a:pt x="21491" y="13246"/>
                  </a:cubicBezTo>
                  <a:cubicBezTo>
                    <a:pt x="21515" y="13313"/>
                    <a:pt x="21535" y="13294"/>
                    <a:pt x="21589" y="13193"/>
                  </a:cubicBezTo>
                  <a:lnTo>
                    <a:pt x="21589" y="13019"/>
                  </a:lnTo>
                  <a:cubicBezTo>
                    <a:pt x="21570" y="13010"/>
                    <a:pt x="21551" y="13000"/>
                    <a:pt x="21537" y="12986"/>
                  </a:cubicBezTo>
                  <a:close/>
                  <a:moveTo>
                    <a:pt x="21589" y="13441"/>
                  </a:moveTo>
                  <a:cubicBezTo>
                    <a:pt x="21565" y="13502"/>
                    <a:pt x="21559" y="13562"/>
                    <a:pt x="21589" y="13567"/>
                  </a:cubicBezTo>
                  <a:lnTo>
                    <a:pt x="21589" y="13441"/>
                  </a:lnTo>
                  <a:close/>
                  <a:moveTo>
                    <a:pt x="20738" y="13766"/>
                  </a:moveTo>
                  <a:cubicBezTo>
                    <a:pt x="20669" y="13771"/>
                    <a:pt x="20594" y="13801"/>
                    <a:pt x="20505" y="13859"/>
                  </a:cubicBezTo>
                  <a:cubicBezTo>
                    <a:pt x="20448" y="13900"/>
                    <a:pt x="20358" y="13970"/>
                    <a:pt x="20212" y="14092"/>
                  </a:cubicBezTo>
                  <a:cubicBezTo>
                    <a:pt x="20110" y="14179"/>
                    <a:pt x="20017" y="14256"/>
                    <a:pt x="19872" y="14385"/>
                  </a:cubicBezTo>
                  <a:cubicBezTo>
                    <a:pt x="19579" y="14645"/>
                    <a:pt x="19126" y="15043"/>
                    <a:pt x="18866" y="15268"/>
                  </a:cubicBezTo>
                  <a:cubicBezTo>
                    <a:pt x="18565" y="15530"/>
                    <a:pt x="18420" y="15681"/>
                    <a:pt x="18345" y="15817"/>
                  </a:cubicBezTo>
                  <a:cubicBezTo>
                    <a:pt x="18341" y="15867"/>
                    <a:pt x="18338" y="15923"/>
                    <a:pt x="18337" y="15987"/>
                  </a:cubicBezTo>
                  <a:cubicBezTo>
                    <a:pt x="18332" y="16217"/>
                    <a:pt x="18353" y="16271"/>
                    <a:pt x="18458" y="16291"/>
                  </a:cubicBezTo>
                  <a:cubicBezTo>
                    <a:pt x="18504" y="16300"/>
                    <a:pt x="18532" y="16312"/>
                    <a:pt x="18560" y="16324"/>
                  </a:cubicBezTo>
                  <a:cubicBezTo>
                    <a:pt x="18622" y="16332"/>
                    <a:pt x="18681" y="16378"/>
                    <a:pt x="18658" y="16417"/>
                  </a:cubicBezTo>
                  <a:cubicBezTo>
                    <a:pt x="18642" y="16445"/>
                    <a:pt x="18160" y="16695"/>
                    <a:pt x="18124" y="16695"/>
                  </a:cubicBezTo>
                  <a:cubicBezTo>
                    <a:pt x="18123" y="16695"/>
                    <a:pt x="18117" y="16690"/>
                    <a:pt x="18117" y="16690"/>
                  </a:cubicBezTo>
                  <a:lnTo>
                    <a:pt x="18100" y="16696"/>
                  </a:lnTo>
                  <a:lnTo>
                    <a:pt x="17639" y="16343"/>
                  </a:lnTo>
                  <a:cubicBezTo>
                    <a:pt x="17637" y="16341"/>
                    <a:pt x="17636" y="16341"/>
                    <a:pt x="17634" y="16339"/>
                  </a:cubicBezTo>
                  <a:cubicBezTo>
                    <a:pt x="17611" y="16322"/>
                    <a:pt x="17613" y="16325"/>
                    <a:pt x="17589" y="16307"/>
                  </a:cubicBezTo>
                  <a:lnTo>
                    <a:pt x="17073" y="15918"/>
                  </a:lnTo>
                  <a:lnTo>
                    <a:pt x="17041" y="15755"/>
                  </a:lnTo>
                  <a:cubicBezTo>
                    <a:pt x="17040" y="15751"/>
                    <a:pt x="17039" y="15743"/>
                    <a:pt x="17038" y="15739"/>
                  </a:cubicBezTo>
                  <a:cubicBezTo>
                    <a:pt x="17032" y="15723"/>
                    <a:pt x="17029" y="15700"/>
                    <a:pt x="17025" y="15682"/>
                  </a:cubicBezTo>
                  <a:cubicBezTo>
                    <a:pt x="16987" y="15507"/>
                    <a:pt x="16925" y="15352"/>
                    <a:pt x="16843" y="15216"/>
                  </a:cubicBezTo>
                  <a:cubicBezTo>
                    <a:pt x="16705" y="15014"/>
                    <a:pt x="16495" y="14829"/>
                    <a:pt x="16275" y="14725"/>
                  </a:cubicBezTo>
                  <a:cubicBezTo>
                    <a:pt x="16256" y="14717"/>
                    <a:pt x="16236" y="14708"/>
                    <a:pt x="16217" y="14701"/>
                  </a:cubicBezTo>
                  <a:cubicBezTo>
                    <a:pt x="16191" y="14690"/>
                    <a:pt x="16166" y="14681"/>
                    <a:pt x="16140" y="14673"/>
                  </a:cubicBezTo>
                  <a:cubicBezTo>
                    <a:pt x="16105" y="14662"/>
                    <a:pt x="16068" y="14652"/>
                    <a:pt x="16030" y="14644"/>
                  </a:cubicBezTo>
                  <a:cubicBezTo>
                    <a:pt x="16000" y="14637"/>
                    <a:pt x="15968" y="14629"/>
                    <a:pt x="15939" y="14625"/>
                  </a:cubicBezTo>
                  <a:cubicBezTo>
                    <a:pt x="15781" y="14602"/>
                    <a:pt x="15638" y="14613"/>
                    <a:pt x="15406" y="14661"/>
                  </a:cubicBezTo>
                  <a:cubicBezTo>
                    <a:pt x="15155" y="14713"/>
                    <a:pt x="14994" y="14763"/>
                    <a:pt x="14876" y="14842"/>
                  </a:cubicBezTo>
                  <a:cubicBezTo>
                    <a:pt x="14874" y="14844"/>
                    <a:pt x="14870" y="14846"/>
                    <a:pt x="14868" y="14847"/>
                  </a:cubicBezTo>
                  <a:cubicBezTo>
                    <a:pt x="14864" y="14850"/>
                    <a:pt x="14861" y="14854"/>
                    <a:pt x="14856" y="14858"/>
                  </a:cubicBezTo>
                  <a:cubicBezTo>
                    <a:pt x="14793" y="14915"/>
                    <a:pt x="14733" y="14988"/>
                    <a:pt x="14678" y="15068"/>
                  </a:cubicBezTo>
                  <a:cubicBezTo>
                    <a:pt x="14653" y="15110"/>
                    <a:pt x="14628" y="15148"/>
                    <a:pt x="14603" y="15201"/>
                  </a:cubicBezTo>
                  <a:cubicBezTo>
                    <a:pt x="14524" y="15373"/>
                    <a:pt x="14496" y="15478"/>
                    <a:pt x="14505" y="15665"/>
                  </a:cubicBezTo>
                  <a:cubicBezTo>
                    <a:pt x="14510" y="15676"/>
                    <a:pt x="14514" y="15693"/>
                    <a:pt x="14522" y="15698"/>
                  </a:cubicBezTo>
                  <a:cubicBezTo>
                    <a:pt x="14540" y="15710"/>
                    <a:pt x="14555" y="15820"/>
                    <a:pt x="14555" y="15944"/>
                  </a:cubicBezTo>
                  <a:cubicBezTo>
                    <a:pt x="14555" y="16095"/>
                    <a:pt x="14584" y="16255"/>
                    <a:pt x="14640" y="16420"/>
                  </a:cubicBezTo>
                  <a:cubicBezTo>
                    <a:pt x="14691" y="16572"/>
                    <a:pt x="14714" y="16702"/>
                    <a:pt x="14701" y="16755"/>
                  </a:cubicBezTo>
                  <a:cubicBezTo>
                    <a:pt x="14666" y="16902"/>
                    <a:pt x="14758" y="17225"/>
                    <a:pt x="14871" y="17350"/>
                  </a:cubicBezTo>
                  <a:cubicBezTo>
                    <a:pt x="14928" y="17413"/>
                    <a:pt x="14993" y="17464"/>
                    <a:pt x="15018" y="17464"/>
                  </a:cubicBezTo>
                  <a:cubicBezTo>
                    <a:pt x="15043" y="17464"/>
                    <a:pt x="15072" y="17487"/>
                    <a:pt x="15083" y="17516"/>
                  </a:cubicBezTo>
                  <a:cubicBezTo>
                    <a:pt x="15102" y="17569"/>
                    <a:pt x="15414" y="17782"/>
                    <a:pt x="15459" y="17773"/>
                  </a:cubicBezTo>
                  <a:cubicBezTo>
                    <a:pt x="15517" y="17762"/>
                    <a:pt x="15707" y="17860"/>
                    <a:pt x="15736" y="17916"/>
                  </a:cubicBezTo>
                  <a:cubicBezTo>
                    <a:pt x="15761" y="17966"/>
                    <a:pt x="15702" y="18042"/>
                    <a:pt x="15406" y="18328"/>
                  </a:cubicBezTo>
                  <a:cubicBezTo>
                    <a:pt x="15184" y="18543"/>
                    <a:pt x="15028" y="18726"/>
                    <a:pt x="14958" y="18848"/>
                  </a:cubicBezTo>
                  <a:cubicBezTo>
                    <a:pt x="14861" y="19077"/>
                    <a:pt x="14854" y="19375"/>
                    <a:pt x="14876" y="20027"/>
                  </a:cubicBezTo>
                  <a:cubicBezTo>
                    <a:pt x="14887" y="20351"/>
                    <a:pt x="14890" y="20571"/>
                    <a:pt x="14896" y="20833"/>
                  </a:cubicBezTo>
                  <a:cubicBezTo>
                    <a:pt x="14920" y="20944"/>
                    <a:pt x="14955" y="21013"/>
                    <a:pt x="15013" y="21069"/>
                  </a:cubicBezTo>
                  <a:cubicBezTo>
                    <a:pt x="15059" y="21114"/>
                    <a:pt x="15096" y="21177"/>
                    <a:pt x="15096" y="21209"/>
                  </a:cubicBezTo>
                  <a:cubicBezTo>
                    <a:pt x="15096" y="21337"/>
                    <a:pt x="15244" y="21501"/>
                    <a:pt x="15399" y="21544"/>
                  </a:cubicBezTo>
                  <a:cubicBezTo>
                    <a:pt x="15483" y="21567"/>
                    <a:pt x="15570" y="21587"/>
                    <a:pt x="15594" y="21589"/>
                  </a:cubicBezTo>
                  <a:cubicBezTo>
                    <a:pt x="15714" y="21598"/>
                    <a:pt x="15931" y="21433"/>
                    <a:pt x="16720" y="20729"/>
                  </a:cubicBezTo>
                  <a:cubicBezTo>
                    <a:pt x="17192" y="20308"/>
                    <a:pt x="17768" y="19801"/>
                    <a:pt x="18000" y="19603"/>
                  </a:cubicBezTo>
                  <a:cubicBezTo>
                    <a:pt x="18233" y="19405"/>
                    <a:pt x="18559" y="19113"/>
                    <a:pt x="18726" y="18954"/>
                  </a:cubicBezTo>
                  <a:cubicBezTo>
                    <a:pt x="19159" y="18543"/>
                    <a:pt x="19613" y="18127"/>
                    <a:pt x="20064" y="17725"/>
                  </a:cubicBezTo>
                  <a:cubicBezTo>
                    <a:pt x="20185" y="17616"/>
                    <a:pt x="20251" y="17555"/>
                    <a:pt x="20350" y="17466"/>
                  </a:cubicBezTo>
                  <a:cubicBezTo>
                    <a:pt x="21190" y="16692"/>
                    <a:pt x="21468" y="16342"/>
                    <a:pt x="21527" y="15974"/>
                  </a:cubicBezTo>
                  <a:cubicBezTo>
                    <a:pt x="21532" y="15945"/>
                    <a:pt x="21535" y="15932"/>
                    <a:pt x="21539" y="15906"/>
                  </a:cubicBezTo>
                  <a:cubicBezTo>
                    <a:pt x="21549" y="15828"/>
                    <a:pt x="21559" y="15751"/>
                    <a:pt x="21566" y="15627"/>
                  </a:cubicBezTo>
                  <a:cubicBezTo>
                    <a:pt x="21575" y="15470"/>
                    <a:pt x="21582" y="15439"/>
                    <a:pt x="21589" y="15356"/>
                  </a:cubicBezTo>
                  <a:lnTo>
                    <a:pt x="21589" y="14273"/>
                  </a:lnTo>
                  <a:lnTo>
                    <a:pt x="21288" y="14052"/>
                  </a:lnTo>
                  <a:cubicBezTo>
                    <a:pt x="21268" y="14039"/>
                    <a:pt x="21253" y="14031"/>
                    <a:pt x="21233" y="14016"/>
                  </a:cubicBezTo>
                  <a:cubicBezTo>
                    <a:pt x="21011" y="13843"/>
                    <a:pt x="20864" y="13769"/>
                    <a:pt x="20738" y="13766"/>
                  </a:cubicBez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  <p:pic>
          <p:nvPicPr>
            <p:cNvPr id="209" name="Image" descr="Image"/>
            <p:cNvPicPr>
              <a:picLocks noChangeAspect="1"/>
            </p:cNvPicPr>
            <p:nvPr/>
          </p:nvPicPr>
          <p:blipFill>
            <a:blip r:embed="rId4">
              <a:extLst/>
            </a:blip>
            <a:srcRect l="4891" t="15886" r="4360" b="21243"/>
            <a:stretch>
              <a:fillRect/>
            </a:stretch>
          </p:blipFill>
          <p:spPr>
            <a:xfrm rot="2323786">
              <a:off x="3474842" y="-184129"/>
              <a:ext cx="5318139" cy="36843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6" h="21562" fill="norm" stroke="1" extrusionOk="0">
                  <a:moveTo>
                    <a:pt x="9137" y="3"/>
                  </a:moveTo>
                  <a:cubicBezTo>
                    <a:pt x="8525" y="-33"/>
                    <a:pt x="7918" y="213"/>
                    <a:pt x="4732" y="1610"/>
                  </a:cubicBezTo>
                  <a:cubicBezTo>
                    <a:pt x="2605" y="2543"/>
                    <a:pt x="750" y="3455"/>
                    <a:pt x="609" y="3635"/>
                  </a:cubicBezTo>
                  <a:cubicBezTo>
                    <a:pt x="148" y="4227"/>
                    <a:pt x="0" y="5065"/>
                    <a:pt x="0" y="7094"/>
                  </a:cubicBezTo>
                  <a:lnTo>
                    <a:pt x="0" y="9024"/>
                  </a:lnTo>
                  <a:lnTo>
                    <a:pt x="928" y="11621"/>
                  </a:lnTo>
                  <a:cubicBezTo>
                    <a:pt x="2290" y="15426"/>
                    <a:pt x="2481" y="15856"/>
                    <a:pt x="2980" y="16219"/>
                  </a:cubicBezTo>
                  <a:cubicBezTo>
                    <a:pt x="3226" y="16399"/>
                    <a:pt x="3646" y="16544"/>
                    <a:pt x="3912" y="16545"/>
                  </a:cubicBezTo>
                  <a:cubicBezTo>
                    <a:pt x="4177" y="16545"/>
                    <a:pt x="5661" y="15959"/>
                    <a:pt x="7209" y="15242"/>
                  </a:cubicBezTo>
                  <a:cubicBezTo>
                    <a:pt x="10685" y="13630"/>
                    <a:pt x="10735" y="13573"/>
                    <a:pt x="10735" y="11319"/>
                  </a:cubicBezTo>
                  <a:cubicBezTo>
                    <a:pt x="10735" y="9868"/>
                    <a:pt x="10746" y="9822"/>
                    <a:pt x="11091" y="9609"/>
                  </a:cubicBezTo>
                  <a:cubicBezTo>
                    <a:pt x="11287" y="9489"/>
                    <a:pt x="11554" y="9261"/>
                    <a:pt x="11685" y="9103"/>
                  </a:cubicBezTo>
                  <a:cubicBezTo>
                    <a:pt x="11903" y="8839"/>
                    <a:pt x="11949" y="8863"/>
                    <a:pt x="12266" y="9400"/>
                  </a:cubicBezTo>
                  <a:cubicBezTo>
                    <a:pt x="12733" y="10191"/>
                    <a:pt x="13131" y="10452"/>
                    <a:pt x="13654" y="10311"/>
                  </a:cubicBezTo>
                  <a:cubicBezTo>
                    <a:pt x="14359" y="10120"/>
                    <a:pt x="14486" y="9802"/>
                    <a:pt x="14486" y="8209"/>
                  </a:cubicBezTo>
                  <a:cubicBezTo>
                    <a:pt x="14486" y="6814"/>
                    <a:pt x="14480" y="6787"/>
                    <a:pt x="13994" y="6121"/>
                  </a:cubicBezTo>
                  <a:cubicBezTo>
                    <a:pt x="13723" y="5749"/>
                    <a:pt x="13465" y="5322"/>
                    <a:pt x="13422" y="5171"/>
                  </a:cubicBezTo>
                  <a:cubicBezTo>
                    <a:pt x="13268" y="4636"/>
                    <a:pt x="10718" y="422"/>
                    <a:pt x="10468" y="288"/>
                  </a:cubicBezTo>
                  <a:cubicBezTo>
                    <a:pt x="10328" y="214"/>
                    <a:pt x="9850" y="98"/>
                    <a:pt x="9406" y="33"/>
                  </a:cubicBezTo>
                  <a:cubicBezTo>
                    <a:pt x="9311" y="19"/>
                    <a:pt x="9224" y="8"/>
                    <a:pt x="9137" y="3"/>
                  </a:cubicBezTo>
                  <a:close/>
                  <a:moveTo>
                    <a:pt x="15920" y="7451"/>
                  </a:moveTo>
                  <a:cubicBezTo>
                    <a:pt x="15863" y="7422"/>
                    <a:pt x="15779" y="7919"/>
                    <a:pt x="15733" y="8552"/>
                  </a:cubicBezTo>
                  <a:cubicBezTo>
                    <a:pt x="15581" y="10644"/>
                    <a:pt x="15622" y="11088"/>
                    <a:pt x="16036" y="11911"/>
                  </a:cubicBezTo>
                  <a:cubicBezTo>
                    <a:pt x="16248" y="12333"/>
                    <a:pt x="16386" y="12762"/>
                    <a:pt x="16342" y="12863"/>
                  </a:cubicBezTo>
                  <a:cubicBezTo>
                    <a:pt x="16213" y="13164"/>
                    <a:pt x="15261" y="12879"/>
                    <a:pt x="14940" y="12445"/>
                  </a:cubicBezTo>
                  <a:cubicBezTo>
                    <a:pt x="14543" y="11907"/>
                    <a:pt x="14454" y="12147"/>
                    <a:pt x="14381" y="13980"/>
                  </a:cubicBezTo>
                  <a:cubicBezTo>
                    <a:pt x="14322" y="15433"/>
                    <a:pt x="14327" y="15454"/>
                    <a:pt x="14822" y="16491"/>
                  </a:cubicBezTo>
                  <a:cubicBezTo>
                    <a:pt x="15601" y="18120"/>
                    <a:pt x="15573" y="18098"/>
                    <a:pt x="16616" y="17961"/>
                  </a:cubicBezTo>
                  <a:lnTo>
                    <a:pt x="17533" y="17843"/>
                  </a:lnTo>
                  <a:lnTo>
                    <a:pt x="18355" y="19443"/>
                  </a:lnTo>
                  <a:cubicBezTo>
                    <a:pt x="18808" y="20324"/>
                    <a:pt x="19262" y="21166"/>
                    <a:pt x="19364" y="21313"/>
                  </a:cubicBezTo>
                  <a:cubicBezTo>
                    <a:pt x="19483" y="21485"/>
                    <a:pt x="19605" y="21567"/>
                    <a:pt x="19796" y="21562"/>
                  </a:cubicBezTo>
                  <a:cubicBezTo>
                    <a:pt x="19987" y="21556"/>
                    <a:pt x="20247" y="21462"/>
                    <a:pt x="20639" y="21276"/>
                  </a:cubicBezTo>
                  <a:cubicBezTo>
                    <a:pt x="21408" y="20911"/>
                    <a:pt x="21600" y="20597"/>
                    <a:pt x="21596" y="19724"/>
                  </a:cubicBezTo>
                  <a:cubicBezTo>
                    <a:pt x="21591" y="18430"/>
                    <a:pt x="21026" y="17129"/>
                    <a:pt x="17622" y="10580"/>
                  </a:cubicBezTo>
                  <a:cubicBezTo>
                    <a:pt x="16743" y="8889"/>
                    <a:pt x="15977" y="7481"/>
                    <a:pt x="15920" y="7451"/>
                  </a:cubicBez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</p:grpSp>
      <p:pic>
        <p:nvPicPr>
          <p:cNvPr id="211" name="Push Release Mechanisms.jpg" descr="Push Release Mechanisms.jpg"/>
          <p:cNvPicPr>
            <a:picLocks noChangeAspect="1"/>
          </p:cNvPicPr>
          <p:nvPr/>
        </p:nvPicPr>
        <p:blipFill>
          <a:blip r:embed="rId2">
            <a:extLst/>
          </a:blip>
          <a:srcRect l="10297" t="9341" r="63267" b="64739"/>
          <a:stretch>
            <a:fillRect/>
          </a:stretch>
        </p:blipFill>
        <p:spPr>
          <a:xfrm>
            <a:off x="12575996" y="3222578"/>
            <a:ext cx="2434887" cy="3134576"/>
          </a:xfrm>
          <a:prstGeom prst="rect">
            <a:avLst/>
          </a:prstGeom>
          <a:ln w="12700">
            <a:miter lim="400000"/>
          </a:ln>
        </p:spPr>
      </p:pic>
      <p:pic>
        <p:nvPicPr>
          <p:cNvPr id="212" name="Push Release Mechanisms.jpg" descr="Push Release Mechanisms.jpg"/>
          <p:cNvPicPr>
            <a:picLocks noChangeAspect="1"/>
          </p:cNvPicPr>
          <p:nvPr/>
        </p:nvPicPr>
        <p:blipFill>
          <a:blip r:embed="rId2">
            <a:extLst/>
          </a:blip>
          <a:srcRect l="10905" t="36137" r="62659" b="35120"/>
          <a:stretch>
            <a:fillRect/>
          </a:stretch>
        </p:blipFill>
        <p:spPr>
          <a:xfrm>
            <a:off x="12475190" y="7791784"/>
            <a:ext cx="2636618" cy="3764077"/>
          </a:xfrm>
          <a:prstGeom prst="rect">
            <a:avLst/>
          </a:prstGeom>
          <a:ln w="12700">
            <a:miter lim="400000"/>
          </a:ln>
        </p:spPr>
      </p:pic>
      <p:sp>
        <p:nvSpPr>
          <p:cNvPr id="213" name="1. Button is pressed and hook travels down groove"/>
          <p:cNvSpPr txBox="1"/>
          <p:nvPr/>
        </p:nvSpPr>
        <p:spPr>
          <a:xfrm>
            <a:off x="11377207" y="6466348"/>
            <a:ext cx="5137578" cy="10396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lnSpc>
                <a:spcPct val="120000"/>
              </a:lnSpc>
              <a:defRPr sz="2800"/>
            </a:lvl1pPr>
          </a:lstStyle>
          <a:p>
            <a:pPr/>
            <a:r>
              <a:t>1. Button is pressed and hook travels down groove</a:t>
            </a:r>
          </a:p>
        </p:txBody>
      </p:sp>
      <p:sp>
        <p:nvSpPr>
          <p:cNvPr id="214" name="3. Button is pressed and hook travels down groove"/>
          <p:cNvSpPr txBox="1"/>
          <p:nvPr/>
        </p:nvSpPr>
        <p:spPr>
          <a:xfrm>
            <a:off x="11377240" y="11317473"/>
            <a:ext cx="5137577" cy="10396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lnSpc>
                <a:spcPct val="120000"/>
              </a:lnSpc>
              <a:defRPr sz="2800"/>
            </a:lvl1pPr>
          </a:lstStyle>
          <a:p>
            <a:pPr/>
            <a:r>
              <a:t>3. Button is pressed and hook travels down groove</a:t>
            </a:r>
          </a:p>
        </p:txBody>
      </p:sp>
      <p:sp>
        <p:nvSpPr>
          <p:cNvPr id="215" name="2. Button is released and hook sits in locked position"/>
          <p:cNvSpPr txBox="1"/>
          <p:nvPr/>
        </p:nvSpPr>
        <p:spPr>
          <a:xfrm>
            <a:off x="17329489" y="6466348"/>
            <a:ext cx="5137577" cy="10396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lnSpc>
                <a:spcPct val="120000"/>
              </a:lnSpc>
              <a:defRPr sz="2800"/>
            </a:lvl1pPr>
          </a:lstStyle>
          <a:p>
            <a:pPr/>
            <a:r>
              <a:t>2. Button is released and hook sits in locked position</a:t>
            </a:r>
          </a:p>
        </p:txBody>
      </p:sp>
      <p:sp>
        <p:nvSpPr>
          <p:cNvPr id="216" name="Rounded Rectangle"/>
          <p:cNvSpPr/>
          <p:nvPr/>
        </p:nvSpPr>
        <p:spPr>
          <a:xfrm>
            <a:off x="950386" y="2872851"/>
            <a:ext cx="9218210" cy="9885506"/>
          </a:xfrm>
          <a:prstGeom prst="roundRect">
            <a:avLst>
              <a:gd name="adj" fmla="val 6220"/>
            </a:avLst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17" name="Inspiration"/>
          <p:cNvSpPr txBox="1"/>
          <p:nvPr/>
        </p:nvSpPr>
        <p:spPr>
          <a:xfrm>
            <a:off x="4249491" y="2522949"/>
            <a:ext cx="2620000" cy="5842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32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Inspiration</a:t>
            </a:r>
          </a:p>
        </p:txBody>
      </p:sp>
      <p:sp>
        <p:nvSpPr>
          <p:cNvPr id="218" name="Rounded Rectangle"/>
          <p:cNvSpPr/>
          <p:nvPr/>
        </p:nvSpPr>
        <p:spPr>
          <a:xfrm>
            <a:off x="10646160" y="2872851"/>
            <a:ext cx="12787454" cy="9885506"/>
          </a:xfrm>
          <a:prstGeom prst="roundRect">
            <a:avLst>
              <a:gd name="adj" fmla="val 5800"/>
            </a:avLst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19" name="Concept"/>
          <p:cNvSpPr txBox="1"/>
          <p:nvPr/>
        </p:nvSpPr>
        <p:spPr>
          <a:xfrm>
            <a:off x="15999339" y="2522949"/>
            <a:ext cx="2081096" cy="5842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32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Concept</a:t>
            </a:r>
          </a:p>
        </p:txBody>
      </p:sp>
      <p:sp>
        <p:nvSpPr>
          <p:cNvPr id="220" name="Slide Number"/>
          <p:cNvSpPr txBox="1"/>
          <p:nvPr>
            <p:ph type="sldNum" sz="quarter" idx="2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21" name="Push Release Mechanism"/>
          <p:cNvSpPr txBox="1"/>
          <p:nvPr/>
        </p:nvSpPr>
        <p:spPr>
          <a:xfrm>
            <a:off x="1206500" y="825500"/>
            <a:ext cx="21971000" cy="14349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algn="l">
              <a:lnSpc>
                <a:spcPct val="80000"/>
              </a:lnSpc>
              <a:defRPr b="1" spc="-152" sz="7600">
                <a:solidFill>
                  <a:srgbClr val="000000"/>
                </a:solidFill>
              </a:defRPr>
            </a:lvl1pPr>
          </a:lstStyle>
          <a:p>
            <a:pPr/>
            <a:r>
              <a:t>Push Release Mechanism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Image" descr="Image"/>
          <p:cNvPicPr>
            <a:picLocks noChangeAspect="1"/>
          </p:cNvPicPr>
          <p:nvPr/>
        </p:nvPicPr>
        <p:blipFill>
          <a:blip r:embed="rId2">
            <a:extLst/>
          </a:blip>
          <a:srcRect l="57278" t="10133" r="5308" b="288"/>
          <a:stretch>
            <a:fillRect/>
          </a:stretch>
        </p:blipFill>
        <p:spPr>
          <a:xfrm>
            <a:off x="2918830" y="3672833"/>
            <a:ext cx="5281322" cy="71127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3" h="21600" fill="norm" stroke="1" extrusionOk="0">
                <a:moveTo>
                  <a:pt x="9949" y="0"/>
                </a:moveTo>
                <a:lnTo>
                  <a:pt x="9986" y="4218"/>
                </a:lnTo>
                <a:cubicBezTo>
                  <a:pt x="10019" y="7882"/>
                  <a:pt x="10063" y="10926"/>
                  <a:pt x="10085" y="10983"/>
                </a:cubicBezTo>
                <a:cubicBezTo>
                  <a:pt x="10107" y="11040"/>
                  <a:pt x="10201" y="11101"/>
                  <a:pt x="10293" y="11119"/>
                </a:cubicBezTo>
                <a:cubicBezTo>
                  <a:pt x="10442" y="11148"/>
                  <a:pt x="10461" y="11212"/>
                  <a:pt x="10471" y="11680"/>
                </a:cubicBezTo>
                <a:cubicBezTo>
                  <a:pt x="10478" y="11970"/>
                  <a:pt x="10479" y="12327"/>
                  <a:pt x="10475" y="12472"/>
                </a:cubicBezTo>
                <a:cubicBezTo>
                  <a:pt x="10470" y="12616"/>
                  <a:pt x="10513" y="12760"/>
                  <a:pt x="10570" y="12792"/>
                </a:cubicBezTo>
                <a:cubicBezTo>
                  <a:pt x="10627" y="12824"/>
                  <a:pt x="10974" y="12914"/>
                  <a:pt x="11341" y="12991"/>
                </a:cubicBezTo>
                <a:cubicBezTo>
                  <a:pt x="12105" y="13152"/>
                  <a:pt x="12931" y="13410"/>
                  <a:pt x="12931" y="13488"/>
                </a:cubicBezTo>
                <a:cubicBezTo>
                  <a:pt x="12931" y="13517"/>
                  <a:pt x="12864" y="13611"/>
                  <a:pt x="12782" y="13697"/>
                </a:cubicBezTo>
                <a:cubicBezTo>
                  <a:pt x="12661" y="13824"/>
                  <a:pt x="12625" y="14037"/>
                  <a:pt x="12591" y="14801"/>
                </a:cubicBezTo>
                <a:lnTo>
                  <a:pt x="12547" y="15749"/>
                </a:lnTo>
                <a:lnTo>
                  <a:pt x="11278" y="15934"/>
                </a:lnTo>
                <a:lnTo>
                  <a:pt x="10007" y="16122"/>
                </a:lnTo>
                <a:lnTo>
                  <a:pt x="10064" y="17488"/>
                </a:lnTo>
                <a:cubicBezTo>
                  <a:pt x="10094" y="18239"/>
                  <a:pt x="10118" y="19486"/>
                  <a:pt x="10119" y="20261"/>
                </a:cubicBezTo>
                <a:lnTo>
                  <a:pt x="10119" y="21600"/>
                </a:lnTo>
                <a:lnTo>
                  <a:pt x="21543" y="21600"/>
                </a:lnTo>
                <a:lnTo>
                  <a:pt x="21514" y="18521"/>
                </a:lnTo>
                <a:cubicBezTo>
                  <a:pt x="21485" y="15425"/>
                  <a:pt x="21481" y="15365"/>
                  <a:pt x="21287" y="14933"/>
                </a:cubicBezTo>
                <a:cubicBezTo>
                  <a:pt x="21117" y="14553"/>
                  <a:pt x="21091" y="14378"/>
                  <a:pt x="21103" y="13666"/>
                </a:cubicBezTo>
                <a:cubicBezTo>
                  <a:pt x="21110" y="13212"/>
                  <a:pt x="21131" y="12756"/>
                  <a:pt x="21150" y="12651"/>
                </a:cubicBezTo>
                <a:cubicBezTo>
                  <a:pt x="21168" y="12547"/>
                  <a:pt x="21189" y="12248"/>
                  <a:pt x="21197" y="11987"/>
                </a:cubicBezTo>
                <a:cubicBezTo>
                  <a:pt x="21204" y="11726"/>
                  <a:pt x="21249" y="11476"/>
                  <a:pt x="21299" y="11432"/>
                </a:cubicBezTo>
                <a:cubicBezTo>
                  <a:pt x="21361" y="11374"/>
                  <a:pt x="21358" y="11305"/>
                  <a:pt x="21282" y="11200"/>
                </a:cubicBezTo>
                <a:cubicBezTo>
                  <a:pt x="21198" y="11083"/>
                  <a:pt x="21181" y="9761"/>
                  <a:pt x="21205" y="4943"/>
                </a:cubicBezTo>
                <a:cubicBezTo>
                  <a:pt x="21218" y="2214"/>
                  <a:pt x="21222" y="828"/>
                  <a:pt x="21210" y="0"/>
                </a:cubicBezTo>
                <a:lnTo>
                  <a:pt x="9949" y="0"/>
                </a:lnTo>
                <a:close/>
                <a:moveTo>
                  <a:pt x="2110" y="463"/>
                </a:moveTo>
                <a:lnTo>
                  <a:pt x="1409" y="481"/>
                </a:lnTo>
                <a:lnTo>
                  <a:pt x="706" y="499"/>
                </a:lnTo>
                <a:lnTo>
                  <a:pt x="664" y="753"/>
                </a:lnTo>
                <a:cubicBezTo>
                  <a:pt x="631" y="954"/>
                  <a:pt x="583" y="1010"/>
                  <a:pt x="434" y="1026"/>
                </a:cubicBezTo>
                <a:cubicBezTo>
                  <a:pt x="331" y="1037"/>
                  <a:pt x="227" y="1093"/>
                  <a:pt x="205" y="1152"/>
                </a:cubicBezTo>
                <a:cubicBezTo>
                  <a:pt x="182" y="1211"/>
                  <a:pt x="117" y="2070"/>
                  <a:pt x="60" y="3062"/>
                </a:cubicBezTo>
                <a:cubicBezTo>
                  <a:pt x="-57" y="5127"/>
                  <a:pt x="9" y="14227"/>
                  <a:pt x="153" y="15657"/>
                </a:cubicBezTo>
                <a:cubicBezTo>
                  <a:pt x="344" y="17562"/>
                  <a:pt x="811" y="19852"/>
                  <a:pt x="1037" y="19984"/>
                </a:cubicBezTo>
                <a:cubicBezTo>
                  <a:pt x="1115" y="20030"/>
                  <a:pt x="1173" y="20215"/>
                  <a:pt x="1197" y="20498"/>
                </a:cubicBezTo>
                <a:cubicBezTo>
                  <a:pt x="1217" y="20742"/>
                  <a:pt x="1282" y="21027"/>
                  <a:pt x="1341" y="21131"/>
                </a:cubicBezTo>
                <a:lnTo>
                  <a:pt x="1449" y="21322"/>
                </a:lnTo>
                <a:lnTo>
                  <a:pt x="1537" y="21164"/>
                </a:lnTo>
                <a:cubicBezTo>
                  <a:pt x="1586" y="21077"/>
                  <a:pt x="1650" y="20763"/>
                  <a:pt x="1678" y="20467"/>
                </a:cubicBezTo>
                <a:cubicBezTo>
                  <a:pt x="1712" y="20102"/>
                  <a:pt x="1761" y="19934"/>
                  <a:pt x="1830" y="19944"/>
                </a:cubicBezTo>
                <a:cubicBezTo>
                  <a:pt x="1960" y="19963"/>
                  <a:pt x="1987" y="19892"/>
                  <a:pt x="2189" y="18980"/>
                </a:cubicBezTo>
                <a:cubicBezTo>
                  <a:pt x="2407" y="17996"/>
                  <a:pt x="2597" y="16797"/>
                  <a:pt x="2712" y="15688"/>
                </a:cubicBezTo>
                <a:cubicBezTo>
                  <a:pt x="2808" y="14768"/>
                  <a:pt x="2872" y="4764"/>
                  <a:pt x="2795" y="2747"/>
                </a:cubicBezTo>
                <a:lnTo>
                  <a:pt x="2751" y="1638"/>
                </a:lnTo>
                <a:lnTo>
                  <a:pt x="3177" y="1638"/>
                </a:lnTo>
                <a:lnTo>
                  <a:pt x="3603" y="1638"/>
                </a:lnTo>
                <a:lnTo>
                  <a:pt x="3667" y="2241"/>
                </a:lnTo>
                <a:cubicBezTo>
                  <a:pt x="3703" y="2571"/>
                  <a:pt x="3762" y="4407"/>
                  <a:pt x="3797" y="6321"/>
                </a:cubicBezTo>
                <a:lnTo>
                  <a:pt x="3862" y="9802"/>
                </a:lnTo>
                <a:lnTo>
                  <a:pt x="3936" y="8157"/>
                </a:lnTo>
                <a:cubicBezTo>
                  <a:pt x="4010" y="6539"/>
                  <a:pt x="3957" y="2841"/>
                  <a:pt x="3847" y="1938"/>
                </a:cubicBezTo>
                <a:lnTo>
                  <a:pt x="3790" y="1476"/>
                </a:lnTo>
                <a:lnTo>
                  <a:pt x="3271" y="1494"/>
                </a:lnTo>
                <a:lnTo>
                  <a:pt x="2751" y="1513"/>
                </a:lnTo>
                <a:lnTo>
                  <a:pt x="2725" y="1311"/>
                </a:lnTo>
                <a:cubicBezTo>
                  <a:pt x="2705" y="1157"/>
                  <a:pt x="2643" y="1096"/>
                  <a:pt x="2460" y="1049"/>
                </a:cubicBezTo>
                <a:cubicBezTo>
                  <a:pt x="2266" y="998"/>
                  <a:pt x="2212" y="937"/>
                  <a:pt x="2167" y="724"/>
                </a:cubicBezTo>
                <a:lnTo>
                  <a:pt x="2110" y="463"/>
                </a:lnTo>
                <a:close/>
                <a:moveTo>
                  <a:pt x="3774" y="9952"/>
                </a:moveTo>
                <a:cubicBezTo>
                  <a:pt x="3760" y="9946"/>
                  <a:pt x="3750" y="9996"/>
                  <a:pt x="3750" y="10088"/>
                </a:cubicBezTo>
                <a:cubicBezTo>
                  <a:pt x="3750" y="10210"/>
                  <a:pt x="3769" y="10260"/>
                  <a:pt x="3790" y="10199"/>
                </a:cubicBezTo>
                <a:cubicBezTo>
                  <a:pt x="3812" y="10138"/>
                  <a:pt x="3812" y="10038"/>
                  <a:pt x="3790" y="9977"/>
                </a:cubicBezTo>
                <a:cubicBezTo>
                  <a:pt x="3785" y="9962"/>
                  <a:pt x="3779" y="9954"/>
                  <a:pt x="3774" y="9952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224" name="Retractable pens with rotating cam body"/>
          <p:cNvSpPr txBox="1"/>
          <p:nvPr/>
        </p:nvSpPr>
        <p:spPr>
          <a:xfrm>
            <a:off x="1805948" y="11462230"/>
            <a:ext cx="7507086" cy="523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lnSpc>
                <a:spcPct val="150000"/>
              </a:lnSpc>
              <a:defRPr sz="2800"/>
            </a:lvl1pPr>
          </a:lstStyle>
          <a:p>
            <a:pPr/>
            <a:r>
              <a:t>Retractable pens with rotating cam body</a:t>
            </a:r>
          </a:p>
        </p:txBody>
      </p:sp>
      <p:pic>
        <p:nvPicPr>
          <p:cNvPr id="225" name="Page6.jpg" descr="Page6.jpg"/>
          <p:cNvPicPr>
            <a:picLocks noChangeAspect="1"/>
          </p:cNvPicPr>
          <p:nvPr/>
        </p:nvPicPr>
        <p:blipFill>
          <a:blip r:embed="rId3">
            <a:extLst/>
          </a:blip>
          <a:srcRect l="39799" t="45771" r="33196" b="28729"/>
          <a:stretch>
            <a:fillRect/>
          </a:stretch>
        </p:blipFill>
        <p:spPr>
          <a:xfrm>
            <a:off x="12672800" y="7815867"/>
            <a:ext cx="2688529" cy="3333238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28" name="Group"/>
          <p:cNvGrpSpPr/>
          <p:nvPr/>
        </p:nvGrpSpPr>
        <p:grpSpPr>
          <a:xfrm>
            <a:off x="18503326" y="3016112"/>
            <a:ext cx="3093118" cy="3333354"/>
            <a:chOff x="0" y="0"/>
            <a:chExt cx="3093117" cy="3333353"/>
          </a:xfrm>
        </p:grpSpPr>
        <p:pic>
          <p:nvPicPr>
            <p:cNvPr id="226" name="Page6.jpg" descr="Page6.jp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6433" t="46266" r="67449" b="28235"/>
            <a:stretch>
              <a:fillRect/>
            </a:stretch>
          </p:blipFill>
          <p:spPr>
            <a:xfrm>
              <a:off x="492863" y="0"/>
              <a:ext cx="2600255" cy="333335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27" name="Square"/>
            <p:cNvSpPr/>
            <p:nvPr/>
          </p:nvSpPr>
          <p:spPr>
            <a:xfrm>
              <a:off x="0" y="1197561"/>
              <a:ext cx="938115" cy="938116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</p:grpSp>
      <p:sp>
        <p:nvSpPr>
          <p:cNvPr id="229" name="Square"/>
          <p:cNvSpPr/>
          <p:nvPr/>
        </p:nvSpPr>
        <p:spPr>
          <a:xfrm>
            <a:off x="11959878" y="8728661"/>
            <a:ext cx="1063244" cy="106324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30" name="1. Hook sits in groove of rotating part when locked"/>
          <p:cNvSpPr txBox="1"/>
          <p:nvPr/>
        </p:nvSpPr>
        <p:spPr>
          <a:xfrm>
            <a:off x="11376356" y="6404379"/>
            <a:ext cx="5281322" cy="10396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lnSpc>
                <a:spcPct val="120000"/>
              </a:lnSpc>
              <a:defRPr sz="2800"/>
            </a:lvl1pPr>
          </a:lstStyle>
          <a:p>
            <a:pPr/>
            <a:r>
              <a:t>1. Hook sits in groove of rotating part when locked</a:t>
            </a:r>
          </a:p>
        </p:txBody>
      </p:sp>
      <p:sp>
        <p:nvSpPr>
          <p:cNvPr id="231" name="3. Button is released and hook travels up path"/>
          <p:cNvSpPr txBox="1"/>
          <p:nvPr/>
        </p:nvSpPr>
        <p:spPr>
          <a:xfrm>
            <a:off x="11614603" y="11319303"/>
            <a:ext cx="4804829" cy="10396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lnSpc>
                <a:spcPct val="120000"/>
              </a:lnSpc>
              <a:defRPr sz="2800"/>
            </a:lvl1pPr>
          </a:lstStyle>
          <a:p>
            <a:pPr/>
            <a:r>
              <a:t>3. Button is released and hook travels up path</a:t>
            </a:r>
          </a:p>
        </p:txBody>
      </p:sp>
      <p:sp>
        <p:nvSpPr>
          <p:cNvPr id="232" name="2. Button is pressed and hook travels down path"/>
          <p:cNvSpPr txBox="1"/>
          <p:nvPr/>
        </p:nvSpPr>
        <p:spPr>
          <a:xfrm>
            <a:off x="17695070" y="6404379"/>
            <a:ext cx="5281322" cy="10396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lnSpc>
                <a:spcPct val="120000"/>
              </a:lnSpc>
              <a:defRPr sz="2800"/>
            </a:lvl1pPr>
          </a:lstStyle>
          <a:p>
            <a:pPr/>
            <a:r>
              <a:t>2. Button is pressed and hook travels down path</a:t>
            </a:r>
          </a:p>
        </p:txBody>
      </p:sp>
      <p:grpSp>
        <p:nvGrpSpPr>
          <p:cNvPr id="235" name="Group"/>
          <p:cNvGrpSpPr/>
          <p:nvPr/>
        </p:nvGrpSpPr>
        <p:grpSpPr>
          <a:xfrm>
            <a:off x="11915085" y="3016112"/>
            <a:ext cx="3114336" cy="3333354"/>
            <a:chOff x="0" y="0"/>
            <a:chExt cx="3114334" cy="3333353"/>
          </a:xfrm>
        </p:grpSpPr>
        <p:pic>
          <p:nvPicPr>
            <p:cNvPr id="233" name="Page6.jpg" descr="Page6.jp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70612" t="12831" r="3270" b="61669"/>
            <a:stretch>
              <a:fillRect/>
            </a:stretch>
          </p:blipFill>
          <p:spPr>
            <a:xfrm>
              <a:off x="514081" y="0"/>
              <a:ext cx="2600254" cy="333335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34" name="Square"/>
            <p:cNvSpPr/>
            <p:nvPr/>
          </p:nvSpPr>
          <p:spPr>
            <a:xfrm>
              <a:off x="0" y="906486"/>
              <a:ext cx="938115" cy="938116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</p:grpSp>
      <p:pic>
        <p:nvPicPr>
          <p:cNvPr id="236" name="Page6.jpg" descr="Page6.jpg"/>
          <p:cNvPicPr>
            <a:picLocks noChangeAspect="1"/>
          </p:cNvPicPr>
          <p:nvPr/>
        </p:nvPicPr>
        <p:blipFill>
          <a:blip r:embed="rId3">
            <a:extLst/>
          </a:blip>
          <a:srcRect l="70916" t="45933" r="2078" b="28567"/>
          <a:stretch>
            <a:fillRect/>
          </a:stretch>
        </p:blipFill>
        <p:spPr>
          <a:xfrm>
            <a:off x="18991526" y="7815902"/>
            <a:ext cx="2688502" cy="3333203"/>
          </a:xfrm>
          <a:prstGeom prst="rect">
            <a:avLst/>
          </a:prstGeom>
          <a:ln w="12700">
            <a:miter lim="400000"/>
          </a:ln>
        </p:spPr>
      </p:pic>
      <p:sp>
        <p:nvSpPr>
          <p:cNvPr id="237" name="Square"/>
          <p:cNvSpPr/>
          <p:nvPr/>
        </p:nvSpPr>
        <p:spPr>
          <a:xfrm>
            <a:off x="18424855" y="8728661"/>
            <a:ext cx="1063244" cy="106324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38" name="4. Hook is removed and part rotates to initial position"/>
          <p:cNvSpPr txBox="1"/>
          <p:nvPr/>
        </p:nvSpPr>
        <p:spPr>
          <a:xfrm>
            <a:off x="17695070" y="11319303"/>
            <a:ext cx="5281322" cy="10396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lnSpc>
                <a:spcPct val="120000"/>
              </a:lnSpc>
              <a:defRPr sz="2800"/>
            </a:lvl1pPr>
          </a:lstStyle>
          <a:p>
            <a:pPr/>
            <a:r>
              <a:t>4. Hook is removed and part rotates to initial position</a:t>
            </a:r>
          </a:p>
        </p:txBody>
      </p:sp>
      <p:sp>
        <p:nvSpPr>
          <p:cNvPr id="239" name="Rounded Rectangle"/>
          <p:cNvSpPr/>
          <p:nvPr/>
        </p:nvSpPr>
        <p:spPr>
          <a:xfrm>
            <a:off x="950386" y="2872851"/>
            <a:ext cx="9218210" cy="9885506"/>
          </a:xfrm>
          <a:prstGeom prst="roundRect">
            <a:avLst>
              <a:gd name="adj" fmla="val 6220"/>
            </a:avLst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40" name="Rounded Rectangle"/>
          <p:cNvSpPr/>
          <p:nvPr/>
        </p:nvSpPr>
        <p:spPr>
          <a:xfrm>
            <a:off x="10646160" y="2872851"/>
            <a:ext cx="12787454" cy="9885506"/>
          </a:xfrm>
          <a:prstGeom prst="roundRect">
            <a:avLst>
              <a:gd name="adj" fmla="val 5800"/>
            </a:avLst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41" name="Inspiration"/>
          <p:cNvSpPr txBox="1"/>
          <p:nvPr/>
        </p:nvSpPr>
        <p:spPr>
          <a:xfrm>
            <a:off x="4249491" y="2522949"/>
            <a:ext cx="2620000" cy="5842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32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Inspiration</a:t>
            </a:r>
          </a:p>
        </p:txBody>
      </p:sp>
      <p:sp>
        <p:nvSpPr>
          <p:cNvPr id="242" name="Concept"/>
          <p:cNvSpPr txBox="1"/>
          <p:nvPr/>
        </p:nvSpPr>
        <p:spPr>
          <a:xfrm>
            <a:off x="15999339" y="2522949"/>
            <a:ext cx="2081096" cy="5842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32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Concept</a:t>
            </a:r>
          </a:p>
        </p:txBody>
      </p:sp>
      <p:sp>
        <p:nvSpPr>
          <p:cNvPr id="243" name="Slide Number"/>
          <p:cNvSpPr txBox="1"/>
          <p:nvPr>
            <p:ph type="sldNum" sz="quarter" idx="2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44" name="Rotating Body Mechanism"/>
          <p:cNvSpPr txBox="1"/>
          <p:nvPr/>
        </p:nvSpPr>
        <p:spPr>
          <a:xfrm>
            <a:off x="1206500" y="825500"/>
            <a:ext cx="21971000" cy="14349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algn="l">
              <a:lnSpc>
                <a:spcPct val="80000"/>
              </a:lnSpc>
              <a:defRPr b="1" spc="-152" sz="7600">
                <a:solidFill>
                  <a:srgbClr val="000000"/>
                </a:solidFill>
              </a:defRPr>
            </a:lvl1pPr>
          </a:lstStyle>
          <a:p>
            <a:pPr/>
            <a:r>
              <a:t>Rotating Body Mechanism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Knobs with strike plate and sliding latch"/>
          <p:cNvSpPr txBox="1"/>
          <p:nvPr/>
        </p:nvSpPr>
        <p:spPr>
          <a:xfrm>
            <a:off x="1406020" y="11462230"/>
            <a:ext cx="8306941" cy="523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150000"/>
              </a:lnSpc>
              <a:defRPr sz="2800"/>
            </a:lvl1pPr>
          </a:lstStyle>
          <a:p>
            <a:pPr/>
            <a:r>
              <a:t>Knobs with strike plate and sliding latch</a:t>
            </a:r>
          </a:p>
        </p:txBody>
      </p:sp>
      <p:sp>
        <p:nvSpPr>
          <p:cNvPr id="247" name="Square"/>
          <p:cNvSpPr/>
          <p:nvPr/>
        </p:nvSpPr>
        <p:spPr>
          <a:xfrm>
            <a:off x="11823391" y="8800803"/>
            <a:ext cx="1063244" cy="106324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48" name="1. Button is pressed and latches slide over fixed part"/>
          <p:cNvSpPr txBox="1"/>
          <p:nvPr/>
        </p:nvSpPr>
        <p:spPr>
          <a:xfrm>
            <a:off x="11366869" y="6778615"/>
            <a:ext cx="5452980" cy="10396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lnSpc>
                <a:spcPct val="120000"/>
              </a:lnSpc>
              <a:defRPr sz="2800"/>
            </a:lvl1pPr>
          </a:lstStyle>
          <a:p>
            <a:pPr/>
            <a:r>
              <a:t>1. Button is pressed and latches slide over fixed part</a:t>
            </a:r>
          </a:p>
        </p:txBody>
      </p:sp>
      <p:sp>
        <p:nvSpPr>
          <p:cNvPr id="249" name="3. Button is pressed and latches slide over sliding part"/>
          <p:cNvSpPr txBox="1"/>
          <p:nvPr/>
        </p:nvSpPr>
        <p:spPr>
          <a:xfrm>
            <a:off x="11366869" y="11312540"/>
            <a:ext cx="5452980" cy="1039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lnSpc>
                <a:spcPct val="120000"/>
              </a:lnSpc>
              <a:defRPr sz="2800"/>
            </a:lvl1pPr>
          </a:lstStyle>
          <a:p>
            <a:pPr/>
            <a:r>
              <a:t>3. Button is pressed and latches slide over sliding part</a:t>
            </a:r>
          </a:p>
        </p:txBody>
      </p:sp>
      <p:sp>
        <p:nvSpPr>
          <p:cNvPr id="250" name="2. Button is released and latches lock in place"/>
          <p:cNvSpPr txBox="1"/>
          <p:nvPr/>
        </p:nvSpPr>
        <p:spPr>
          <a:xfrm>
            <a:off x="17431582" y="6778615"/>
            <a:ext cx="5281322" cy="10396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lnSpc>
                <a:spcPct val="120000"/>
              </a:lnSpc>
              <a:defRPr sz="2800"/>
            </a:lvl1pPr>
          </a:lstStyle>
          <a:p>
            <a:pPr/>
            <a:r>
              <a:t>2. Button is released and latches lock in place</a:t>
            </a:r>
          </a:p>
        </p:txBody>
      </p:sp>
      <p:sp>
        <p:nvSpPr>
          <p:cNvPr id="251" name="4. Button is released and latches to unlocked position"/>
          <p:cNvSpPr txBox="1"/>
          <p:nvPr/>
        </p:nvSpPr>
        <p:spPr>
          <a:xfrm>
            <a:off x="17431582" y="11400640"/>
            <a:ext cx="5281322" cy="10396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lnSpc>
                <a:spcPct val="120000"/>
              </a:lnSpc>
              <a:defRPr sz="2800"/>
            </a:lvl1pPr>
          </a:lstStyle>
          <a:p>
            <a:pPr/>
            <a:r>
              <a:t>4. Button is released and latches to unlocked position</a:t>
            </a:r>
          </a:p>
        </p:txBody>
      </p:sp>
      <p:sp>
        <p:nvSpPr>
          <p:cNvPr id="252" name="Rounded Rectangle"/>
          <p:cNvSpPr/>
          <p:nvPr/>
        </p:nvSpPr>
        <p:spPr>
          <a:xfrm>
            <a:off x="950386" y="2872851"/>
            <a:ext cx="9218210" cy="9885506"/>
          </a:xfrm>
          <a:prstGeom prst="roundRect">
            <a:avLst>
              <a:gd name="adj" fmla="val 6220"/>
            </a:avLst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53" name="Inspiration"/>
          <p:cNvSpPr txBox="1"/>
          <p:nvPr/>
        </p:nvSpPr>
        <p:spPr>
          <a:xfrm>
            <a:off x="4249491" y="2548349"/>
            <a:ext cx="2620000" cy="5334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28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Inspiration</a:t>
            </a:r>
          </a:p>
        </p:txBody>
      </p:sp>
      <p:pic>
        <p:nvPicPr>
          <p:cNvPr id="254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05948" y="4964076"/>
            <a:ext cx="7507086" cy="5703057"/>
          </a:xfrm>
          <a:prstGeom prst="rect">
            <a:avLst/>
          </a:prstGeom>
          <a:ln w="12700">
            <a:miter lim="400000"/>
          </a:ln>
        </p:spPr>
      </p:pic>
      <p:pic>
        <p:nvPicPr>
          <p:cNvPr id="255" name="Page5.jpg" descr="Page5.jpg"/>
          <p:cNvPicPr>
            <a:picLocks noChangeAspect="1"/>
          </p:cNvPicPr>
          <p:nvPr/>
        </p:nvPicPr>
        <p:blipFill>
          <a:blip r:embed="rId3">
            <a:extLst/>
          </a:blip>
          <a:srcRect l="4723" t="31279" r="67262" b="51747"/>
          <a:stretch>
            <a:fillRect/>
          </a:stretch>
        </p:blipFill>
        <p:spPr>
          <a:xfrm>
            <a:off x="11975592" y="3545745"/>
            <a:ext cx="3871687" cy="30800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56" name="Page5.jpg" descr="Page5.jpg"/>
          <p:cNvPicPr>
            <a:picLocks noChangeAspect="1"/>
          </p:cNvPicPr>
          <p:nvPr/>
        </p:nvPicPr>
        <p:blipFill>
          <a:blip r:embed="rId3">
            <a:extLst/>
          </a:blip>
          <a:srcRect l="38102" t="33648" r="35219" b="50852"/>
          <a:stretch>
            <a:fillRect/>
          </a:stretch>
        </p:blipFill>
        <p:spPr>
          <a:xfrm>
            <a:off x="18131722" y="3605673"/>
            <a:ext cx="3880894" cy="2960326"/>
          </a:xfrm>
          <a:prstGeom prst="rect">
            <a:avLst/>
          </a:prstGeom>
          <a:ln w="12700">
            <a:miter lim="400000"/>
          </a:ln>
        </p:spPr>
      </p:pic>
      <p:pic>
        <p:nvPicPr>
          <p:cNvPr id="257" name="Page5.jpg" descr="Page5.jpg"/>
          <p:cNvPicPr>
            <a:picLocks noChangeAspect="1"/>
          </p:cNvPicPr>
          <p:nvPr/>
        </p:nvPicPr>
        <p:blipFill>
          <a:blip r:embed="rId3">
            <a:extLst/>
          </a:blip>
          <a:srcRect l="71392" t="37411" r="1929" b="51240"/>
          <a:stretch>
            <a:fillRect/>
          </a:stretch>
        </p:blipFill>
        <p:spPr>
          <a:xfrm>
            <a:off x="12077507" y="8618238"/>
            <a:ext cx="4031773" cy="2251716"/>
          </a:xfrm>
          <a:prstGeom prst="rect">
            <a:avLst/>
          </a:prstGeom>
          <a:ln w="12700">
            <a:miter lim="400000"/>
          </a:ln>
        </p:spPr>
      </p:pic>
      <p:pic>
        <p:nvPicPr>
          <p:cNvPr id="258" name="Page5.jpg" descr="Page5.jpg"/>
          <p:cNvPicPr>
            <a:picLocks noChangeAspect="1"/>
          </p:cNvPicPr>
          <p:nvPr/>
        </p:nvPicPr>
        <p:blipFill>
          <a:blip r:embed="rId3">
            <a:extLst/>
          </a:blip>
          <a:srcRect l="37772" t="51252" r="36660" b="31923"/>
          <a:stretch>
            <a:fillRect/>
          </a:stretch>
        </p:blipFill>
        <p:spPr>
          <a:xfrm>
            <a:off x="18179939" y="8109247"/>
            <a:ext cx="3784496" cy="3269777"/>
          </a:xfrm>
          <a:prstGeom prst="rect">
            <a:avLst/>
          </a:prstGeom>
          <a:ln w="12700">
            <a:miter lim="400000"/>
          </a:ln>
        </p:spPr>
      </p:pic>
      <p:sp>
        <p:nvSpPr>
          <p:cNvPr id="259" name="Rounded Rectangle"/>
          <p:cNvSpPr/>
          <p:nvPr/>
        </p:nvSpPr>
        <p:spPr>
          <a:xfrm>
            <a:off x="10646160" y="2872851"/>
            <a:ext cx="12787454" cy="9885506"/>
          </a:xfrm>
          <a:prstGeom prst="roundRect">
            <a:avLst>
              <a:gd name="adj" fmla="val 5800"/>
            </a:avLst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60" name="Concept"/>
          <p:cNvSpPr txBox="1"/>
          <p:nvPr/>
        </p:nvSpPr>
        <p:spPr>
          <a:xfrm>
            <a:off x="15999338" y="2548349"/>
            <a:ext cx="2081096" cy="5334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28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Concept</a:t>
            </a:r>
          </a:p>
        </p:txBody>
      </p:sp>
      <p:sp>
        <p:nvSpPr>
          <p:cNvPr id="261" name="Slide Number"/>
          <p:cNvSpPr txBox="1"/>
          <p:nvPr>
            <p:ph type="sldNum" sz="quarter" idx="2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62" name="Sliding Latch Mechanism"/>
          <p:cNvSpPr txBox="1"/>
          <p:nvPr/>
        </p:nvSpPr>
        <p:spPr>
          <a:xfrm>
            <a:off x="1206500" y="825500"/>
            <a:ext cx="21971000" cy="14349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algn="l">
              <a:lnSpc>
                <a:spcPct val="80000"/>
              </a:lnSpc>
              <a:defRPr b="1" spc="-152" sz="7600">
                <a:solidFill>
                  <a:srgbClr val="000000"/>
                </a:solidFill>
              </a:defRPr>
            </a:lvl1pPr>
          </a:lstStyle>
          <a:p>
            <a:pPr/>
            <a:r>
              <a:t>Sliding Latch Mechanism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Mechanisms: Flippable Snap Fit"/>
          <p:cNvSpPr txBox="1"/>
          <p:nvPr>
            <p:ph type="title"/>
          </p:nvPr>
        </p:nvSpPr>
        <p:spPr>
          <a:xfrm>
            <a:off x="1206500" y="952500"/>
            <a:ext cx="21971000" cy="1434949"/>
          </a:xfrm>
          <a:prstGeom prst="rect">
            <a:avLst/>
          </a:prstGeom>
        </p:spPr>
        <p:txBody>
          <a:bodyPr/>
          <a:lstStyle/>
          <a:p>
            <a:pPr>
              <a:defRPr spc="-152" sz="7600"/>
            </a:pPr>
            <a:r>
              <a:t>Mechanisms: </a:t>
            </a:r>
            <a:r>
              <a:rPr b="0"/>
              <a:t>Flippable Snap Fit</a:t>
            </a:r>
          </a:p>
        </p:txBody>
      </p:sp>
      <p:sp>
        <p:nvSpPr>
          <p:cNvPr id="265" name="Switches with spring toggle mechanism"/>
          <p:cNvSpPr txBox="1"/>
          <p:nvPr/>
        </p:nvSpPr>
        <p:spPr>
          <a:xfrm>
            <a:off x="1892838" y="11437542"/>
            <a:ext cx="7333306" cy="572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150000"/>
              </a:lnSpc>
              <a:defRPr sz="3200"/>
            </a:lvl1pPr>
          </a:lstStyle>
          <a:p>
            <a:pPr/>
            <a:r>
              <a:t>Switches with spring toggle mechanism</a:t>
            </a:r>
          </a:p>
        </p:txBody>
      </p:sp>
      <p:pic>
        <p:nvPicPr>
          <p:cNvPr id="266" name="Screen Shot 2024-11-28 at 2.22.36 PM.png" descr="Screen Shot 2024-11-28 at 2.22.36 PM.png"/>
          <p:cNvPicPr>
            <a:picLocks noChangeAspect="1"/>
          </p:cNvPicPr>
          <p:nvPr/>
        </p:nvPicPr>
        <p:blipFill>
          <a:blip r:embed="rId2">
            <a:extLst/>
          </a:blip>
          <a:srcRect l="6048" t="5202" r="3448" b="3890"/>
          <a:stretch>
            <a:fillRect/>
          </a:stretch>
        </p:blipFill>
        <p:spPr>
          <a:xfrm>
            <a:off x="1717782" y="3721671"/>
            <a:ext cx="7683417" cy="65780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3" h="21599" fill="norm" stroke="1" extrusionOk="0">
                <a:moveTo>
                  <a:pt x="12701" y="2"/>
                </a:moveTo>
                <a:cubicBezTo>
                  <a:pt x="12603" y="4"/>
                  <a:pt x="12527" y="6"/>
                  <a:pt x="12468" y="9"/>
                </a:cubicBezTo>
                <a:lnTo>
                  <a:pt x="12455" y="777"/>
                </a:lnTo>
                <a:cubicBezTo>
                  <a:pt x="12456" y="881"/>
                  <a:pt x="12455" y="990"/>
                  <a:pt x="12453" y="1112"/>
                </a:cubicBezTo>
                <a:lnTo>
                  <a:pt x="12438" y="2031"/>
                </a:lnTo>
                <a:lnTo>
                  <a:pt x="12225" y="2051"/>
                </a:lnTo>
                <a:cubicBezTo>
                  <a:pt x="12059" y="2067"/>
                  <a:pt x="12013" y="2099"/>
                  <a:pt x="12013" y="2198"/>
                </a:cubicBezTo>
                <a:cubicBezTo>
                  <a:pt x="12013" y="2279"/>
                  <a:pt x="11936" y="2368"/>
                  <a:pt x="11801" y="2444"/>
                </a:cubicBezTo>
                <a:cubicBezTo>
                  <a:pt x="11614" y="2549"/>
                  <a:pt x="11486" y="2558"/>
                  <a:pt x="10741" y="2524"/>
                </a:cubicBezTo>
                <a:cubicBezTo>
                  <a:pt x="9855" y="2482"/>
                  <a:pt x="9638" y="2418"/>
                  <a:pt x="9638" y="2194"/>
                </a:cubicBezTo>
                <a:cubicBezTo>
                  <a:pt x="9638" y="2091"/>
                  <a:pt x="9600" y="2064"/>
                  <a:pt x="9453" y="2064"/>
                </a:cubicBezTo>
                <a:cubicBezTo>
                  <a:pt x="9299" y="2064"/>
                  <a:pt x="9256" y="2097"/>
                  <a:pt x="9203" y="2262"/>
                </a:cubicBezTo>
                <a:lnTo>
                  <a:pt x="9139" y="2460"/>
                </a:lnTo>
                <a:lnTo>
                  <a:pt x="6196" y="2460"/>
                </a:lnTo>
                <a:cubicBezTo>
                  <a:pt x="3344" y="2460"/>
                  <a:pt x="3253" y="2456"/>
                  <a:pt x="3196" y="2332"/>
                </a:cubicBezTo>
                <a:cubicBezTo>
                  <a:pt x="3162" y="2259"/>
                  <a:pt x="3137" y="1739"/>
                  <a:pt x="3137" y="1111"/>
                </a:cubicBezTo>
                <a:lnTo>
                  <a:pt x="3137" y="18"/>
                </a:lnTo>
                <a:lnTo>
                  <a:pt x="2006" y="18"/>
                </a:lnTo>
                <a:cubicBezTo>
                  <a:pt x="971" y="18"/>
                  <a:pt x="876" y="27"/>
                  <a:pt x="873" y="132"/>
                </a:cubicBezTo>
                <a:cubicBezTo>
                  <a:pt x="873" y="133"/>
                  <a:pt x="873" y="133"/>
                  <a:pt x="873" y="134"/>
                </a:cubicBezTo>
                <a:cubicBezTo>
                  <a:pt x="873" y="135"/>
                  <a:pt x="873" y="147"/>
                  <a:pt x="873" y="148"/>
                </a:cubicBezTo>
                <a:cubicBezTo>
                  <a:pt x="871" y="222"/>
                  <a:pt x="872" y="725"/>
                  <a:pt x="875" y="1290"/>
                </a:cubicBezTo>
                <a:cubicBezTo>
                  <a:pt x="880" y="2315"/>
                  <a:pt x="879" y="2330"/>
                  <a:pt x="751" y="2388"/>
                </a:cubicBezTo>
                <a:cubicBezTo>
                  <a:pt x="571" y="2470"/>
                  <a:pt x="291" y="2832"/>
                  <a:pt x="134" y="3186"/>
                </a:cubicBezTo>
                <a:cubicBezTo>
                  <a:pt x="29" y="3423"/>
                  <a:pt x="2" y="3590"/>
                  <a:pt x="0" y="4016"/>
                </a:cubicBezTo>
                <a:cubicBezTo>
                  <a:pt x="-1" y="4480"/>
                  <a:pt x="20" y="4598"/>
                  <a:pt x="170" y="4940"/>
                </a:cubicBezTo>
                <a:cubicBezTo>
                  <a:pt x="288" y="5209"/>
                  <a:pt x="426" y="5404"/>
                  <a:pt x="613" y="5563"/>
                </a:cubicBezTo>
                <a:lnTo>
                  <a:pt x="883" y="5793"/>
                </a:lnTo>
                <a:lnTo>
                  <a:pt x="865" y="11865"/>
                </a:lnTo>
                <a:cubicBezTo>
                  <a:pt x="855" y="15165"/>
                  <a:pt x="826" y="17901"/>
                  <a:pt x="800" y="18010"/>
                </a:cubicBezTo>
                <a:cubicBezTo>
                  <a:pt x="860" y="18130"/>
                  <a:pt x="875" y="18514"/>
                  <a:pt x="875" y="19866"/>
                </a:cubicBezTo>
                <a:lnTo>
                  <a:pt x="875" y="21599"/>
                </a:lnTo>
                <a:lnTo>
                  <a:pt x="7801" y="21599"/>
                </a:lnTo>
                <a:lnTo>
                  <a:pt x="14726" y="21599"/>
                </a:lnTo>
                <a:lnTo>
                  <a:pt x="14734" y="21319"/>
                </a:lnTo>
                <a:cubicBezTo>
                  <a:pt x="14738" y="21165"/>
                  <a:pt x="14743" y="19627"/>
                  <a:pt x="14747" y="17903"/>
                </a:cubicBezTo>
                <a:cubicBezTo>
                  <a:pt x="14750" y="16964"/>
                  <a:pt x="14757" y="16245"/>
                  <a:pt x="14766" y="15717"/>
                </a:cubicBezTo>
                <a:cubicBezTo>
                  <a:pt x="14764" y="15494"/>
                  <a:pt x="14761" y="15378"/>
                  <a:pt x="14759" y="15120"/>
                </a:cubicBezTo>
                <a:cubicBezTo>
                  <a:pt x="14737" y="13220"/>
                  <a:pt x="14728" y="10330"/>
                  <a:pt x="14737" y="8697"/>
                </a:cubicBezTo>
                <a:lnTo>
                  <a:pt x="14755" y="5727"/>
                </a:lnTo>
                <a:lnTo>
                  <a:pt x="17837" y="5694"/>
                </a:lnTo>
                <a:cubicBezTo>
                  <a:pt x="17839" y="5694"/>
                  <a:pt x="17838" y="5694"/>
                  <a:pt x="17840" y="5694"/>
                </a:cubicBezTo>
                <a:cubicBezTo>
                  <a:pt x="20128" y="5670"/>
                  <a:pt x="20788" y="5671"/>
                  <a:pt x="21061" y="5540"/>
                </a:cubicBezTo>
                <a:lnTo>
                  <a:pt x="21129" y="5481"/>
                </a:lnTo>
                <a:cubicBezTo>
                  <a:pt x="21303" y="5326"/>
                  <a:pt x="21450" y="5039"/>
                  <a:pt x="21550" y="4730"/>
                </a:cubicBezTo>
                <a:cubicBezTo>
                  <a:pt x="21589" y="4555"/>
                  <a:pt x="21599" y="4357"/>
                  <a:pt x="21590" y="4091"/>
                </a:cubicBezTo>
                <a:cubicBezTo>
                  <a:pt x="21581" y="3810"/>
                  <a:pt x="21559" y="3553"/>
                  <a:pt x="21542" y="3521"/>
                </a:cubicBezTo>
                <a:cubicBezTo>
                  <a:pt x="21525" y="3488"/>
                  <a:pt x="21525" y="3419"/>
                  <a:pt x="21542" y="3367"/>
                </a:cubicBezTo>
                <a:cubicBezTo>
                  <a:pt x="21548" y="3350"/>
                  <a:pt x="21547" y="3330"/>
                  <a:pt x="21544" y="3309"/>
                </a:cubicBezTo>
                <a:cubicBezTo>
                  <a:pt x="21537" y="3275"/>
                  <a:pt x="21515" y="3243"/>
                  <a:pt x="21481" y="3227"/>
                </a:cubicBezTo>
                <a:cubicBezTo>
                  <a:pt x="21429" y="3204"/>
                  <a:pt x="21399" y="3146"/>
                  <a:pt x="21415" y="3098"/>
                </a:cubicBezTo>
                <a:cubicBezTo>
                  <a:pt x="21426" y="3066"/>
                  <a:pt x="21410" y="3020"/>
                  <a:pt x="21381" y="2981"/>
                </a:cubicBezTo>
                <a:cubicBezTo>
                  <a:pt x="21361" y="2973"/>
                  <a:pt x="21342" y="2954"/>
                  <a:pt x="21326" y="2925"/>
                </a:cubicBezTo>
                <a:cubicBezTo>
                  <a:pt x="21271" y="2882"/>
                  <a:pt x="21238" y="2826"/>
                  <a:pt x="21253" y="2797"/>
                </a:cubicBezTo>
                <a:cubicBezTo>
                  <a:pt x="21269" y="2768"/>
                  <a:pt x="21218" y="2674"/>
                  <a:pt x="21142" y="2590"/>
                </a:cubicBezTo>
                <a:cubicBezTo>
                  <a:pt x="21065" y="2506"/>
                  <a:pt x="21002" y="2458"/>
                  <a:pt x="21002" y="2485"/>
                </a:cubicBezTo>
                <a:cubicBezTo>
                  <a:pt x="21002" y="2511"/>
                  <a:pt x="20978" y="2516"/>
                  <a:pt x="20949" y="2495"/>
                </a:cubicBezTo>
                <a:cubicBezTo>
                  <a:pt x="20919" y="2474"/>
                  <a:pt x="19514" y="2450"/>
                  <a:pt x="17826" y="2442"/>
                </a:cubicBezTo>
                <a:lnTo>
                  <a:pt x="14755" y="2427"/>
                </a:lnTo>
                <a:lnTo>
                  <a:pt x="14740" y="1224"/>
                </a:lnTo>
                <a:lnTo>
                  <a:pt x="14735" y="891"/>
                </a:lnTo>
                <a:lnTo>
                  <a:pt x="14713" y="23"/>
                </a:lnTo>
                <a:lnTo>
                  <a:pt x="13538" y="5"/>
                </a:lnTo>
                <a:cubicBezTo>
                  <a:pt x="13212" y="-1"/>
                  <a:pt x="12916" y="-1"/>
                  <a:pt x="12701" y="2"/>
                </a:cubicBezTo>
                <a:close/>
                <a:moveTo>
                  <a:pt x="10226" y="5573"/>
                </a:moveTo>
                <a:cubicBezTo>
                  <a:pt x="10277" y="5571"/>
                  <a:pt x="10332" y="5572"/>
                  <a:pt x="10389" y="5576"/>
                </a:cubicBezTo>
                <a:lnTo>
                  <a:pt x="10734" y="5595"/>
                </a:lnTo>
                <a:lnTo>
                  <a:pt x="10810" y="5946"/>
                </a:lnTo>
                <a:cubicBezTo>
                  <a:pt x="10881" y="6274"/>
                  <a:pt x="10879" y="6312"/>
                  <a:pt x="10767" y="6523"/>
                </a:cubicBezTo>
                <a:lnTo>
                  <a:pt x="10647" y="6750"/>
                </a:lnTo>
                <a:lnTo>
                  <a:pt x="6947" y="6750"/>
                </a:lnTo>
                <a:cubicBezTo>
                  <a:pt x="3885" y="6750"/>
                  <a:pt x="3241" y="6734"/>
                  <a:pt x="3217" y="6660"/>
                </a:cubicBezTo>
                <a:cubicBezTo>
                  <a:pt x="3201" y="6611"/>
                  <a:pt x="3195" y="6381"/>
                  <a:pt x="3205" y="6149"/>
                </a:cubicBezTo>
                <a:lnTo>
                  <a:pt x="3221" y="5727"/>
                </a:lnTo>
                <a:lnTo>
                  <a:pt x="6217" y="5727"/>
                </a:lnTo>
                <a:lnTo>
                  <a:pt x="9214" y="5727"/>
                </a:lnTo>
                <a:lnTo>
                  <a:pt x="9232" y="5908"/>
                </a:lnTo>
                <a:cubicBezTo>
                  <a:pt x="9248" y="6067"/>
                  <a:pt x="9274" y="6089"/>
                  <a:pt x="9444" y="6089"/>
                </a:cubicBezTo>
                <a:cubicBezTo>
                  <a:pt x="9614" y="6089"/>
                  <a:pt x="9638" y="6070"/>
                  <a:pt x="9638" y="5922"/>
                </a:cubicBezTo>
                <a:cubicBezTo>
                  <a:pt x="9638" y="5716"/>
                  <a:pt x="9865" y="5585"/>
                  <a:pt x="10226" y="5573"/>
                </a:cubicBezTo>
                <a:close/>
                <a:moveTo>
                  <a:pt x="11214" y="5581"/>
                </a:moveTo>
                <a:cubicBezTo>
                  <a:pt x="11242" y="5579"/>
                  <a:pt x="11275" y="5579"/>
                  <a:pt x="11310" y="5581"/>
                </a:cubicBezTo>
                <a:cubicBezTo>
                  <a:pt x="11350" y="5583"/>
                  <a:pt x="11395" y="5588"/>
                  <a:pt x="11445" y="5595"/>
                </a:cubicBezTo>
                <a:cubicBezTo>
                  <a:pt x="11831" y="5651"/>
                  <a:pt x="11944" y="5718"/>
                  <a:pt x="11967" y="5903"/>
                </a:cubicBezTo>
                <a:cubicBezTo>
                  <a:pt x="11980" y="6006"/>
                  <a:pt x="12048" y="6066"/>
                  <a:pt x="12211" y="6119"/>
                </a:cubicBezTo>
                <a:cubicBezTo>
                  <a:pt x="12426" y="6189"/>
                  <a:pt x="12438" y="6206"/>
                  <a:pt x="12438" y="6455"/>
                </a:cubicBezTo>
                <a:lnTo>
                  <a:pt x="12438" y="6717"/>
                </a:lnTo>
                <a:lnTo>
                  <a:pt x="11767" y="6722"/>
                </a:lnTo>
                <a:cubicBezTo>
                  <a:pt x="11052" y="6728"/>
                  <a:pt x="11006" y="6706"/>
                  <a:pt x="11072" y="6399"/>
                </a:cubicBezTo>
                <a:cubicBezTo>
                  <a:pt x="11090" y="6315"/>
                  <a:pt x="11079" y="6136"/>
                  <a:pt x="11047" y="5999"/>
                </a:cubicBezTo>
                <a:cubicBezTo>
                  <a:pt x="10979" y="5715"/>
                  <a:pt x="11015" y="5595"/>
                  <a:pt x="11214" y="5581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267" name="1. Hinged latch is sitting in locked position"/>
          <p:cNvSpPr txBox="1"/>
          <p:nvPr/>
        </p:nvSpPr>
        <p:spPr>
          <a:xfrm>
            <a:off x="18157694" y="4899962"/>
            <a:ext cx="4559972" cy="1149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lnSpc>
                <a:spcPct val="120000"/>
              </a:lnSpc>
              <a:defRPr sz="3200"/>
            </a:lvl1pPr>
          </a:lstStyle>
          <a:p>
            <a:pPr/>
            <a:r>
              <a:t>1. Hinged latch is sitting in locked position</a:t>
            </a:r>
          </a:p>
        </p:txBody>
      </p:sp>
      <p:sp>
        <p:nvSpPr>
          <p:cNvPr id="268" name="2. Button is pressed and hinged latch flips to unlocked position"/>
          <p:cNvSpPr txBox="1"/>
          <p:nvPr/>
        </p:nvSpPr>
        <p:spPr>
          <a:xfrm>
            <a:off x="18157694" y="9496379"/>
            <a:ext cx="4456644" cy="17265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lnSpc>
                <a:spcPct val="120000"/>
              </a:lnSpc>
              <a:defRPr sz="3200"/>
            </a:lvl1pPr>
          </a:lstStyle>
          <a:p>
            <a:pPr/>
            <a:r>
              <a:t>2. Button is pressed and hinged latch flips to unlocked position </a:t>
            </a:r>
          </a:p>
        </p:txBody>
      </p:sp>
      <p:grpSp>
        <p:nvGrpSpPr>
          <p:cNvPr id="273" name="Group"/>
          <p:cNvGrpSpPr/>
          <p:nvPr/>
        </p:nvGrpSpPr>
        <p:grpSpPr>
          <a:xfrm>
            <a:off x="11362107" y="3644375"/>
            <a:ext cx="6411860" cy="8679120"/>
            <a:chOff x="0" y="-125078"/>
            <a:chExt cx="6411859" cy="8679118"/>
          </a:xfrm>
        </p:grpSpPr>
        <p:pic>
          <p:nvPicPr>
            <p:cNvPr id="269" name="Page2.jpg" descr="Page2.jp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24754" r="51008" b="52737"/>
            <a:stretch>
              <a:fillRect/>
            </a:stretch>
          </p:blipFill>
          <p:spPr>
            <a:xfrm>
              <a:off x="0" y="-125079"/>
              <a:ext cx="6411860" cy="386793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70" name="Page2.jpg" descr="Page2.jp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51639" t="24888" r="0" b="52737"/>
            <a:stretch>
              <a:fillRect/>
            </a:stretch>
          </p:blipFill>
          <p:spPr>
            <a:xfrm>
              <a:off x="22084" y="4685860"/>
              <a:ext cx="6367613" cy="386818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71" name="Square"/>
            <p:cNvSpPr/>
            <p:nvPr/>
          </p:nvSpPr>
          <p:spPr>
            <a:xfrm>
              <a:off x="88012" y="801517"/>
              <a:ext cx="1250788" cy="1250788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272" name="Square"/>
            <p:cNvSpPr/>
            <p:nvPr/>
          </p:nvSpPr>
          <p:spPr>
            <a:xfrm>
              <a:off x="88012" y="5994495"/>
              <a:ext cx="1250788" cy="1250788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</p:grpSp>
      <p:sp>
        <p:nvSpPr>
          <p:cNvPr id="274" name="Rounded Rectangle"/>
          <p:cNvSpPr/>
          <p:nvPr/>
        </p:nvSpPr>
        <p:spPr>
          <a:xfrm>
            <a:off x="950386" y="2872851"/>
            <a:ext cx="9218210" cy="9885506"/>
          </a:xfrm>
          <a:prstGeom prst="roundRect">
            <a:avLst>
              <a:gd name="adj" fmla="val 6220"/>
            </a:avLst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75" name="Inspiration"/>
          <p:cNvSpPr txBox="1"/>
          <p:nvPr/>
        </p:nvSpPr>
        <p:spPr>
          <a:xfrm>
            <a:off x="4249491" y="2522949"/>
            <a:ext cx="2620000" cy="5842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32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Inspiration</a:t>
            </a:r>
          </a:p>
        </p:txBody>
      </p:sp>
      <p:sp>
        <p:nvSpPr>
          <p:cNvPr id="276" name="Rounded Rectangle"/>
          <p:cNvSpPr/>
          <p:nvPr/>
        </p:nvSpPr>
        <p:spPr>
          <a:xfrm>
            <a:off x="10646160" y="2872851"/>
            <a:ext cx="12787454" cy="9885506"/>
          </a:xfrm>
          <a:prstGeom prst="roundRect">
            <a:avLst>
              <a:gd name="adj" fmla="val 5800"/>
            </a:avLst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77" name="Concept"/>
          <p:cNvSpPr txBox="1"/>
          <p:nvPr/>
        </p:nvSpPr>
        <p:spPr>
          <a:xfrm>
            <a:off x="15999338" y="2522949"/>
            <a:ext cx="2081096" cy="5842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32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Concept</a:t>
            </a:r>
          </a:p>
        </p:txBody>
      </p:sp>
      <p:sp>
        <p:nvSpPr>
          <p:cNvPr id="278" name="Slide Number"/>
          <p:cNvSpPr txBox="1"/>
          <p:nvPr>
            <p:ph type="sldNum" sz="quarter" idx="2"/>
          </p:nvPr>
        </p:nvSpPr>
        <p:spPr>
          <a:xfrm>
            <a:off x="12058764" y="13080999"/>
            <a:ext cx="253975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Comparing Mechanisms"/>
          <p:cNvSpPr txBox="1"/>
          <p:nvPr>
            <p:ph type="title"/>
          </p:nvPr>
        </p:nvSpPr>
        <p:spPr>
          <a:xfrm>
            <a:off x="1206500" y="952500"/>
            <a:ext cx="21971000" cy="1434949"/>
          </a:xfrm>
          <a:prstGeom prst="rect">
            <a:avLst/>
          </a:prstGeom>
        </p:spPr>
        <p:txBody>
          <a:bodyPr/>
          <a:lstStyle>
            <a:lvl1pPr>
              <a:defRPr spc="-152" sz="7600"/>
            </a:lvl1pPr>
          </a:lstStyle>
          <a:p>
            <a:pPr/>
            <a:r>
              <a:t>Comparing Mechanisms</a:t>
            </a:r>
          </a:p>
        </p:txBody>
      </p:sp>
      <p:graphicFrame>
        <p:nvGraphicFramePr>
          <p:cNvPr id="281" name="Table 1"/>
          <p:cNvGraphicFramePr/>
          <p:nvPr/>
        </p:nvGraphicFramePr>
        <p:xfrm>
          <a:off x="744037" y="2758576"/>
          <a:ext cx="22822938" cy="1047413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{EEE7283C-3CF3-47DC-8721-378D4A62B228}</a:tableStyleId>
              </a:tblPr>
              <a:tblGrid>
                <a:gridCol w="4571535"/>
                <a:gridCol w="4581206"/>
                <a:gridCol w="4575521"/>
                <a:gridCol w="4579864"/>
                <a:gridCol w="4587797"/>
              </a:tblGrid>
              <a:tr h="672981">
                <a:tc>
                  <a:txBody>
                    <a:bodyPr/>
                    <a:lstStyle/>
                    <a:p>
                      <a:pPr defTabSz="914400"/>
                      <a:r>
                        <a:rPr sz="3200">
                          <a:solidFill>
                            <a:srgbClr val="5E5E5E"/>
                          </a:solidFill>
                        </a:rPr>
                        <a:t>Moving Snap Fit</a:t>
                      </a:r>
                    </a:p>
                  </a:txBody>
                  <a:tcPr marL="50800" marR="50800" marT="50800" marB="50800" anchor="ctr" anchorCtr="0" horzOverflow="overflow">
                    <a:lnL w="0">
                      <a:miter lim="400000"/>
                    </a:lnL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>
                          <a:solidFill>
                            <a:srgbClr val="5E5E5E"/>
                          </a:solidFill>
                        </a:rPr>
                        <a:t>Push Release</a:t>
                      </a:r>
                    </a:p>
                  </a:txBody>
                  <a:tcPr marL="50800" marR="50800" marT="50800" marB="50800" anchor="ctr" anchorCtr="0" horzOverflow="overflow"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>
                          <a:solidFill>
                            <a:srgbClr val="5E5E5E"/>
                          </a:solidFill>
                        </a:rPr>
                        <a:t>Rotating Body</a:t>
                      </a:r>
                    </a:p>
                  </a:txBody>
                  <a:tcPr marL="50800" marR="50800" marT="50800" marB="50800" anchor="ctr" anchorCtr="0" horzOverflow="overflow"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>
                          <a:solidFill>
                            <a:srgbClr val="5E5E5E"/>
                          </a:solidFill>
                        </a:rPr>
                        <a:t>Sliding Latch</a:t>
                      </a:r>
                    </a:p>
                  </a:txBody>
                  <a:tcPr marL="50800" marR="50800" marT="50800" marB="50800" anchor="ctr" anchorCtr="0" horzOverflow="overflow">
                    <a:lnR w="127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>
                          <a:solidFill>
                            <a:srgbClr val="5E5E5E"/>
                          </a:solidFill>
                        </a:rPr>
                        <a:t>Flippable Snap Fit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</a:tr>
              <a:tr h="2754581">
                <a:tc>
                  <a:txBody>
                    <a:bodyPr/>
                    <a:lstStyle/>
                    <a:p>
                      <a:pPr defTabSz="914400">
                        <a:defRPr sz="3200">
                          <a:solidFill>
                            <a:srgbClr val="5E5E5E"/>
                          </a:solidFill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0">
                      <a:miter lim="400000"/>
                    </a:lnL>
                    <a:lnT w="0">
                      <a:miter lim="400000"/>
                    </a:lnT>
                    <a:blipFill rotWithShape="1">
                      <a:blip r:embed="rId2"/>
                      <a:srcRect l="0" t="0" r="0" b="0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olidFill>
                            <a:srgbClr val="5E5E5E"/>
                          </a:solidFill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T w="0">
                      <a:miter lim="400000"/>
                    </a:lnT>
                    <a:blipFill rotWithShape="1">
                      <a:blip r:embed="rId3"/>
                      <a:srcRect l="0" t="0" r="0" b="0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olidFill>
                            <a:srgbClr val="5E5E5E"/>
                          </a:solidFill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T w="0">
                      <a:miter lim="400000"/>
                    </a:lnT>
                    <a:blipFill rotWithShape="1">
                      <a:blip r:embed="rId4"/>
                      <a:srcRect l="0" t="0" r="0" b="0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olidFill>
                            <a:srgbClr val="5E5E5E"/>
                          </a:solidFill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R w="12700">
                      <a:solidFill>
                        <a:srgbClr val="000000"/>
                      </a:solidFill>
                      <a:miter lim="400000"/>
                    </a:lnR>
                    <a:lnT w="0">
                      <a:miter lim="400000"/>
                    </a:lnT>
                    <a:blipFill rotWithShape="1">
                      <a:blip r:embed="rId5"/>
                      <a:srcRect l="0" t="0" r="0" b="0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>
                          <a:solidFill>
                            <a:srgbClr val="5E5E5E"/>
                          </a:solidFill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blipFill rotWithShape="1">
                      <a:blip r:embed="rId6"/>
                      <a:srcRect l="0" t="0" r="0" b="0"/>
                      <a:stretch>
                        <a:fillRect/>
                      </a:stretch>
                    </a:blipFill>
                  </a:tcPr>
                </a:tc>
              </a:tr>
              <a:tr h="3277079">
                <a:tc>
                  <a:txBody>
                    <a:bodyPr/>
                    <a:lstStyle/>
                    <a:p>
                      <a:pPr marL="419100" marR="127000" indent="-292100" algn="l"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+ Less sensitive to tolerances
+ Not easily actuated
+ Simple components
+ Less components</a:t>
                      </a:r>
                    </a:p>
                  </a:txBody>
                  <a:tcPr marL="50800" marR="50800" marT="50800" marB="50800" anchor="ctr" anchorCtr="0" horzOverflow="overflow">
                    <a:lnL w="0">
                      <a:miter lim="400000"/>
                    </a:lnL>
                    <a:lnB w="127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419100" marR="127000" indent="-292100" algn="l"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+ Button exists on door
+ Not easily actuated
+ Less components
+ Compact</a:t>
                      </a:r>
                    </a:p>
                  </a:txBody>
                  <a:tcPr marL="50800" marR="50800" marT="50800" marB="50800" anchor="ctr" anchorCtr="0" horzOverflow="overflow">
                    <a:lnB w="127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419100" marR="127000" indent="-292100" algn="l"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+ Button exists on door
+ Not easily actuated
+ Less components</a:t>
                      </a:r>
                    </a:p>
                  </a:txBody>
                  <a:tcPr marL="50800" marR="50800" marT="50800" marB="50800" anchor="ctr" anchorCtr="0" horzOverflow="overflow">
                    <a:lnB w="127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419100" marR="127000" indent="-292100" algn="l"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+ Button exists on door
+ Less sensitive to bending</a:t>
                      </a:r>
                    </a:p>
                  </a:txBody>
                  <a:tcPr marL="50800" marR="50800" marT="50800" marB="50800" anchor="ctr" anchorCtr="0" horzOverflow="overflow">
                    <a:lnR w="12700">
                      <a:solidFill>
                        <a:srgbClr val="000000"/>
                      </a:solidFill>
                      <a:miter lim="400000"/>
                    </a:lnR>
                    <a:lnB w="127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419100" marR="127000" indent="-292100" algn="l"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+ Less sensitive to tolerances
+ Simple components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0">
                      <a:miter lim="400000"/>
                    </a:lnR>
                    <a:lnB w="12700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3756804">
                <a:tc>
                  <a:txBody>
                    <a:bodyPr/>
                    <a:lstStyle/>
                    <a:p>
                      <a:pPr marL="419100" marR="127000" indent="-292100" algn="l"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- Sensitive to bending and wear
- Button exists on housing</a:t>
                      </a:r>
                    </a:p>
                  </a:txBody>
                  <a:tcPr marL="50800" marR="50800" marT="50800" marB="50800" anchor="ctr" anchorCtr="0" horzOverflow="overflow">
                    <a:lnL w="0">
                      <a:miter lim="400000"/>
                    </a:lnL>
                    <a:lnT w="12700">
                      <a:solidFill>
                        <a:srgbClr val="000000"/>
                      </a:solidFill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419100" marR="127000" indent="-292100" algn="l"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- Groove may jam
- Sensitive to bending in multiple directions
- Sensitive to tolerances
- Complex components</a:t>
                      </a:r>
                    </a:p>
                  </a:txBody>
                  <a:tcPr marL="50800" marR="50800" marT="50800" marB="50800" anchor="ctr" anchorCtr="0" horzOverflow="overflow">
                    <a:lnT w="12700">
                      <a:solidFill>
                        <a:srgbClr val="000000"/>
                      </a:solidFill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419100" marR="127000" indent="-292100" algn="l"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- Groove may jam
- Sensitive to tolerances
- Downward hook force may not trigger rotation
- Requires more space
- Complex components</a:t>
                      </a:r>
                    </a:p>
                  </a:txBody>
                  <a:tcPr marL="50800" marR="50800" marT="50800" marB="50800" anchor="ctr" anchorCtr="0" horzOverflow="overflow">
                    <a:lnT w="12700">
                      <a:solidFill>
                        <a:srgbClr val="000000"/>
                      </a:solidFill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419100" marR="127000" indent="-292100" algn="l"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- Sensitive to tolerances
- User may push down too far during locking
- More components
- Requires more space
- Complex components</a:t>
                      </a:r>
                    </a:p>
                  </a:txBody>
                  <a:tcPr marL="50800" marR="50800" marT="50800" marB="50800" anchor="ctr" anchorCtr="0" horzOverflow="overflow">
                    <a:lnR w="12700">
                      <a:solidFill>
                        <a:srgbClr val="000000"/>
                      </a:solidFill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419100" marR="127000" indent="-292100" algn="l"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- Sensitive to bending and wear
- May not actuate if button travel is small
- Button exists on housing
- More components</a:t>
                      </a:r>
                    </a:p>
                  </a:txBody>
                  <a:tcPr marL="50800" marR="50800" marT="50800" marB="50800" anchor="ctr" anchorCtr="0" horzOverflow="overflow">
                    <a:lnL w="12700">
                      <a:solidFill>
                        <a:srgbClr val="000000"/>
                      </a:solidFill>
                      <a:miter lim="400000"/>
                    </a:lnL>
                    <a:lnR w="0"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0">
                      <a:miter lim="400000"/>
                    </a:lnB>
                  </a:tcPr>
                </a:tc>
              </a:tr>
            </a:tbl>
          </a:graphicData>
        </a:graphic>
      </p:graphicFrame>
      <p:sp>
        <p:nvSpPr>
          <p:cNvPr id="282" name="Slide Number"/>
          <p:cNvSpPr txBox="1"/>
          <p:nvPr>
            <p:ph type="sldNum" sz="quarter" idx="2"/>
          </p:nvPr>
        </p:nvSpPr>
        <p:spPr>
          <a:xfrm>
            <a:off x="12058764" y="13080999"/>
            <a:ext cx="253975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4" name="Table 1"/>
          <p:cNvGraphicFramePr/>
          <p:nvPr/>
        </p:nvGraphicFramePr>
        <p:xfrm>
          <a:off x="744037" y="2758576"/>
          <a:ext cx="22895926" cy="10078296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{EEE7283C-3CF3-47DC-8721-378D4A62B228}</a:tableStyleId>
              </a:tblPr>
              <a:tblGrid>
                <a:gridCol w="5717107"/>
                <a:gridCol w="5729201"/>
                <a:gridCol w="5722092"/>
                <a:gridCol w="5727523"/>
              </a:tblGrid>
              <a:tr h="648333">
                <a:tc>
                  <a:txBody>
                    <a:bodyPr/>
                    <a:lstStyle/>
                    <a:p>
                      <a:pPr defTabSz="914400"/>
                      <a:r>
                        <a:rPr sz="2800">
                          <a:solidFill>
                            <a:srgbClr val="5E5E5E"/>
                          </a:solidFill>
                        </a:rPr>
                        <a:t>Moving Snap Fit</a:t>
                      </a:r>
                    </a:p>
                  </a:txBody>
                  <a:tcPr marL="50800" marR="50800" marT="50800" marB="50800" anchor="ctr" anchorCtr="0" horzOverflow="overflow">
                    <a:lnL w="0">
                      <a:miter lim="400000"/>
                    </a:lnL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800">
                          <a:solidFill>
                            <a:srgbClr val="5E5E5E"/>
                          </a:solidFill>
                        </a:rPr>
                        <a:t>Push Release</a:t>
                      </a:r>
                    </a:p>
                  </a:txBody>
                  <a:tcPr marL="50800" marR="50800" marT="50800" marB="50800" anchor="ctr" anchorCtr="0" horzOverflow="overflow"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800">
                          <a:solidFill>
                            <a:srgbClr val="5E5E5E"/>
                          </a:solidFill>
                        </a:rPr>
                        <a:t>Rotating Body</a:t>
                      </a:r>
                    </a:p>
                  </a:txBody>
                  <a:tcPr marL="50800" marR="50800" marT="50800" marB="50800" anchor="ctr" anchorCtr="0" horzOverflow="overflow"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2800">
                          <a:solidFill>
                            <a:srgbClr val="5E5E5E"/>
                          </a:solidFill>
                        </a:rPr>
                        <a:t>Sliding Latch</a:t>
                      </a:r>
                    </a:p>
                  </a:txBody>
                  <a:tcPr marL="50800" marR="50800" marT="50800" marB="50800" anchor="ctr" anchorCtr="0" horzOverflow="overflow">
                    <a:lnR w="0">
                      <a:miter lim="400000"/>
                    </a:lnR>
                    <a:lnT w="0">
                      <a:miter lim="400000"/>
                    </a:lnT>
                    <a:lnB w="0">
                      <a:miter lim="400000"/>
                    </a:lnB>
                  </a:tcPr>
                </a:tc>
              </a:tr>
              <a:tr h="2653695">
                <a:tc>
                  <a:txBody>
                    <a:bodyPr/>
                    <a:lstStyle/>
                    <a:p>
                      <a:pPr defTabSz="914400">
                        <a:defRPr sz="2800">
                          <a:solidFill>
                            <a:srgbClr val="5E5E5E"/>
                          </a:solidFill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0">
                      <a:miter lim="400000"/>
                    </a:lnL>
                    <a:lnT w="0">
                      <a:miter lim="400000"/>
                    </a:lnT>
                    <a:blipFill rotWithShape="1">
                      <a:blip r:embed="rId2"/>
                      <a:srcRect l="0" t="0" r="0" b="0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800">
                          <a:solidFill>
                            <a:srgbClr val="5E5E5E"/>
                          </a:solidFill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T w="0">
                      <a:miter lim="400000"/>
                    </a:lnT>
                    <a:blipFill rotWithShape="1">
                      <a:blip r:embed="rId3"/>
                      <a:srcRect l="0" t="0" r="0" b="0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800">
                          <a:solidFill>
                            <a:srgbClr val="5E5E5E"/>
                          </a:solidFill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T w="0">
                      <a:miter lim="400000"/>
                    </a:lnT>
                    <a:blipFill rotWithShape="1">
                      <a:blip r:embed="rId4"/>
                      <a:srcRect l="0" t="0" r="0" b="0"/>
                      <a:stretch>
                        <a:fillRect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2800">
                          <a:solidFill>
                            <a:srgbClr val="5E5E5E"/>
                          </a:solidFill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R w="0">
                      <a:miter lim="400000"/>
                    </a:lnR>
                    <a:lnT w="0">
                      <a:miter lim="400000"/>
                    </a:lnT>
                    <a:blipFill rotWithShape="1">
                      <a:blip r:embed="rId5"/>
                      <a:srcRect l="0" t="0" r="0" b="0"/>
                      <a:stretch>
                        <a:fillRect/>
                      </a:stretch>
                    </a:blipFill>
                  </a:tcPr>
                </a:tc>
              </a:tr>
              <a:tr h="3157056">
                <a:tc>
                  <a:txBody>
                    <a:bodyPr/>
                    <a:lstStyle/>
                    <a:p>
                      <a:pPr marL="482600" marR="508000" indent="-292100" algn="l"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+ Less sensitive to tolerances
+ Not easily actuated
+ Simple components
+ Less components</a:t>
                      </a:r>
                    </a:p>
                  </a:txBody>
                  <a:tcPr marL="50800" marR="50800" marT="50800" marB="50800" anchor="ctr" anchorCtr="0" horzOverflow="overflow">
                    <a:lnL w="0">
                      <a:miter lim="400000"/>
                    </a:lnL>
                    <a:lnB w="127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482600" marR="508000" indent="-292100" algn="l"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+ Button exists on door
+ Not easily actuated
+ Less components
+ Compact</a:t>
                      </a:r>
                    </a:p>
                  </a:txBody>
                  <a:tcPr marL="50800" marR="50800" marT="50800" marB="50800" anchor="ctr" anchorCtr="0" horzOverflow="overflow">
                    <a:lnB w="127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482600" marR="508000" indent="-292100" algn="l"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+ Button exists on door
+ Not easily actuated
+ Less components</a:t>
                      </a:r>
                    </a:p>
                  </a:txBody>
                  <a:tcPr marL="50800" marR="50800" marT="50800" marB="50800" anchor="ctr" anchorCtr="0" horzOverflow="overflow">
                    <a:lnB w="127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482600" marR="508000" indent="-292100" algn="l"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+ Button exists on door
+ Less sensitive to bending</a:t>
                      </a:r>
                    </a:p>
                  </a:txBody>
                  <a:tcPr marL="50800" marR="50800" marT="50800" marB="50800" anchor="ctr" anchorCtr="0" horzOverflow="overflow">
                    <a:lnR w="0">
                      <a:miter lim="400000"/>
                    </a:lnR>
                    <a:lnB w="12700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3619211">
                <a:tc>
                  <a:txBody>
                    <a:bodyPr/>
                    <a:lstStyle/>
                    <a:p>
                      <a:pPr marL="482600" marR="508000" indent="-292100" algn="l"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- Sensitive to bending and wear
- Button exists on housing (user must put finger through door)</a:t>
                      </a:r>
                    </a:p>
                  </a:txBody>
                  <a:tcPr marL="50800" marR="50800" marT="50800" marB="50800" anchor="ctr" anchorCtr="0" horzOverflow="overflow">
                    <a:lnL w="0">
                      <a:miter lim="400000"/>
                    </a:lnL>
                    <a:lnT w="12700">
                      <a:solidFill>
                        <a:srgbClr val="000000"/>
                      </a:solidFill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482600" marR="508000" indent="-292100" algn="l"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- Groove may jam
- Sensitive to bending in multiple directions
- Sensitive to tolerances
- Complex components</a:t>
                      </a:r>
                    </a:p>
                  </a:txBody>
                  <a:tcPr marL="50800" marR="50800" marT="50800" marB="50800" anchor="ctr" anchorCtr="0" horzOverflow="overflow">
                    <a:lnT w="12700">
                      <a:solidFill>
                        <a:srgbClr val="000000"/>
                      </a:solidFill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482600" marR="508000" indent="-292100" algn="l"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- Groove may jam
- Sensitive to tolerances
- Downward hook force may not trigger rotation
- Requires more space
- Complex components</a:t>
                      </a:r>
                    </a:p>
                  </a:txBody>
                  <a:tcPr marL="50800" marR="50800" marT="50800" marB="50800" anchor="ctr" anchorCtr="0" horzOverflow="overflow">
                    <a:lnT w="12700">
                      <a:solidFill>
                        <a:srgbClr val="000000"/>
                      </a:solidFill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482600" marR="508000" indent="-292100" algn="l"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- Sensitive to tolerances
- User may push down too far during locking
- More components
- Requires more space
- Complex components</a:t>
                      </a:r>
                    </a:p>
                  </a:txBody>
                  <a:tcPr marL="50800" marR="50800" marT="50800" marB="50800" anchor="ctr" anchorCtr="0" horzOverflow="overflow">
                    <a:lnR w="0">
                      <a:miter lim="400000"/>
                    </a:lnR>
                    <a:lnT w="12700">
                      <a:solidFill>
                        <a:srgbClr val="000000"/>
                      </a:solidFill>
                      <a:miter lim="400000"/>
                    </a:lnT>
                    <a:lnB w="0">
                      <a:miter lim="400000"/>
                    </a:lnB>
                  </a:tcPr>
                </a:tc>
              </a:tr>
            </a:tbl>
          </a:graphicData>
        </a:graphic>
      </p:graphicFrame>
      <p:sp>
        <p:nvSpPr>
          <p:cNvPr id="285" name="Rounded Rectangle"/>
          <p:cNvSpPr/>
          <p:nvPr/>
        </p:nvSpPr>
        <p:spPr>
          <a:xfrm>
            <a:off x="720105" y="2606983"/>
            <a:ext cx="5497071" cy="10247615"/>
          </a:xfrm>
          <a:prstGeom prst="roundRect">
            <a:avLst>
              <a:gd name="adj" fmla="val 10557"/>
            </a:avLst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86" name="Slide Number"/>
          <p:cNvSpPr txBox="1"/>
          <p:nvPr>
            <p:ph type="sldNum" sz="quarter" idx="2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87" name="Comparing Mechanisms"/>
          <p:cNvSpPr txBox="1"/>
          <p:nvPr/>
        </p:nvSpPr>
        <p:spPr>
          <a:xfrm>
            <a:off x="1206500" y="825500"/>
            <a:ext cx="21971000" cy="14349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algn="l">
              <a:lnSpc>
                <a:spcPct val="80000"/>
              </a:lnSpc>
              <a:defRPr b="1" spc="-152" sz="7600">
                <a:solidFill>
                  <a:srgbClr val="000000"/>
                </a:solidFill>
              </a:defRPr>
            </a:lvl1pPr>
          </a:lstStyle>
          <a:p>
            <a:pPr/>
            <a:r>
              <a:t>Comparing Mechanisms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Screen Shot 2024-12-03 at 11.27.52 PM.png" descr="Screen Shot 2024-12-03 at 11.27.52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91861" y="8197439"/>
            <a:ext cx="9670152" cy="3541367"/>
          </a:xfrm>
          <a:prstGeom prst="rect">
            <a:avLst/>
          </a:prstGeom>
          <a:ln w="12700">
            <a:miter lim="400000"/>
          </a:ln>
        </p:spPr>
      </p:pic>
      <p:sp>
        <p:nvSpPr>
          <p:cNvPr id="290" name="Slide Number"/>
          <p:cNvSpPr txBox="1"/>
          <p:nvPr>
            <p:ph type="sldNum" sz="quarter" idx="2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291" name="Group" descr="Group"/>
          <p:cNvPicPr>
            <a:picLocks noChangeAspect="1"/>
          </p:cNvPicPr>
          <p:nvPr/>
        </p:nvPicPr>
        <p:blipFill>
          <a:blip r:embed="rId3">
            <a:extLst/>
          </a:blip>
          <a:srcRect l="1356" t="0" r="2368" b="0"/>
          <a:stretch>
            <a:fillRect/>
          </a:stretch>
        </p:blipFill>
        <p:spPr>
          <a:xfrm>
            <a:off x="1602308" y="2737001"/>
            <a:ext cx="9944682" cy="3895324"/>
          </a:xfrm>
          <a:prstGeom prst="rect">
            <a:avLst/>
          </a:prstGeom>
          <a:ln w="12700">
            <a:miter lim="400000"/>
          </a:ln>
        </p:spPr>
      </p:pic>
      <p:sp>
        <p:nvSpPr>
          <p:cNvPr id="292" name="1. User presses down on the button, which is constrained by the chassis and pushed upward by the springs."/>
          <p:cNvSpPr txBox="1"/>
          <p:nvPr/>
        </p:nvSpPr>
        <p:spPr>
          <a:xfrm>
            <a:off x="1838098" y="6414394"/>
            <a:ext cx="9422607" cy="1039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marL="381000" indent="-381000" algn="l">
              <a:lnSpc>
                <a:spcPct val="120000"/>
              </a:lnSpc>
              <a:defRPr sz="2800"/>
            </a:lvl1pPr>
          </a:lstStyle>
          <a:p>
            <a:pPr/>
            <a:r>
              <a:t>1. User presses down on the button, which is constrained by the chassis and pushed upward by the springs.</a:t>
            </a:r>
          </a:p>
        </p:txBody>
      </p:sp>
      <p:sp>
        <p:nvSpPr>
          <p:cNvPr id="293" name="Line"/>
          <p:cNvSpPr/>
          <p:nvPr/>
        </p:nvSpPr>
        <p:spPr>
          <a:xfrm>
            <a:off x="4391697" y="2594438"/>
            <a:ext cx="1" cy="572822"/>
          </a:xfrm>
          <a:prstGeom prst="line">
            <a:avLst/>
          </a:prstGeom>
          <a:ln w="381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94" name="Line"/>
          <p:cNvSpPr/>
          <p:nvPr/>
        </p:nvSpPr>
        <p:spPr>
          <a:xfrm>
            <a:off x="4307997" y="9449090"/>
            <a:ext cx="344711" cy="344711"/>
          </a:xfrm>
          <a:prstGeom prst="line">
            <a:avLst/>
          </a:prstGeom>
          <a:ln w="381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95" name="2. Button moves down and pegs apply a force to the latch slot, causing the latch to slide away from the door."/>
          <p:cNvSpPr txBox="1"/>
          <p:nvPr/>
        </p:nvSpPr>
        <p:spPr>
          <a:xfrm>
            <a:off x="1838098" y="11648414"/>
            <a:ext cx="9422607" cy="10396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marL="381000" indent="-381000" algn="l">
              <a:lnSpc>
                <a:spcPct val="120000"/>
              </a:lnSpc>
              <a:defRPr sz="2800"/>
            </a:lvl1pPr>
          </a:lstStyle>
          <a:p>
            <a:pPr/>
            <a:r>
              <a:t>2. Button moves down and pegs apply a force to the latch slot, causing the latch to slide away from the door.</a:t>
            </a:r>
          </a:p>
        </p:txBody>
      </p:sp>
      <p:pic>
        <p:nvPicPr>
          <p:cNvPr id="296" name="Screen Shot 2024-12-03 at 11.34.05 PM.png" descr="Screen Shot 2024-12-03 at 11.34.05 PM.png"/>
          <p:cNvPicPr>
            <a:picLocks noChangeAspect="1"/>
          </p:cNvPicPr>
          <p:nvPr/>
        </p:nvPicPr>
        <p:blipFill>
          <a:blip r:embed="rId4">
            <a:extLst/>
          </a:blip>
          <a:srcRect l="2558" t="0" r="0" b="0"/>
          <a:stretch>
            <a:fillRect/>
          </a:stretch>
        </p:blipFill>
        <p:spPr>
          <a:xfrm>
            <a:off x="13359086" y="1790883"/>
            <a:ext cx="9422679" cy="4854076"/>
          </a:xfrm>
          <a:prstGeom prst="rect">
            <a:avLst/>
          </a:prstGeom>
          <a:ln w="12700">
            <a:miter lim="400000"/>
          </a:ln>
        </p:spPr>
      </p:pic>
      <p:sp>
        <p:nvSpPr>
          <p:cNvPr id="297" name="3. Downward force applied by latch to door is removed and spring loaded hinges cause door to pop open."/>
          <p:cNvSpPr txBox="1"/>
          <p:nvPr/>
        </p:nvSpPr>
        <p:spPr>
          <a:xfrm>
            <a:off x="13359085" y="6414394"/>
            <a:ext cx="9422607" cy="1039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marL="381000" indent="-381000" algn="l">
              <a:lnSpc>
                <a:spcPct val="120000"/>
              </a:lnSpc>
              <a:defRPr sz="2800"/>
            </a:lvl1pPr>
          </a:lstStyle>
          <a:p>
            <a:pPr/>
            <a:r>
              <a:t>3. Downward force applied by latch to door is removed and spring loaded hinges cause door to pop open.</a:t>
            </a:r>
          </a:p>
        </p:txBody>
      </p:sp>
      <p:pic>
        <p:nvPicPr>
          <p:cNvPr id="298" name="Screen Shot 2024-12-03 at 11.36.45 PM.png" descr="Screen Shot 2024-12-03 at 11.36.45 PM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3359085" y="8155117"/>
            <a:ext cx="9422607" cy="3626011"/>
          </a:xfrm>
          <a:prstGeom prst="rect">
            <a:avLst/>
          </a:prstGeom>
          <a:ln w="12700">
            <a:miter lim="400000"/>
          </a:ln>
        </p:spPr>
      </p:pic>
      <p:sp>
        <p:nvSpPr>
          <p:cNvPr id="299" name="Line"/>
          <p:cNvSpPr/>
          <p:nvPr/>
        </p:nvSpPr>
        <p:spPr>
          <a:xfrm>
            <a:off x="14602497" y="7699838"/>
            <a:ext cx="1" cy="572822"/>
          </a:xfrm>
          <a:prstGeom prst="line">
            <a:avLst/>
          </a:prstGeom>
          <a:ln w="381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00" name="4. After replacing batteries, user applies a downward force to the door, engaging the snap fit mechanism."/>
          <p:cNvSpPr txBox="1"/>
          <p:nvPr/>
        </p:nvSpPr>
        <p:spPr>
          <a:xfrm>
            <a:off x="13359085" y="11648414"/>
            <a:ext cx="9422607" cy="10396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marL="381000" indent="-381000" algn="l">
              <a:lnSpc>
                <a:spcPct val="120000"/>
              </a:lnSpc>
              <a:defRPr sz="2800"/>
            </a:lvl1pPr>
          </a:lstStyle>
          <a:p>
            <a:pPr/>
            <a:r>
              <a:t>4. After replacing batteries, user applies a downward force to the door, engaging the snap fit mechanism.</a:t>
            </a:r>
          </a:p>
        </p:txBody>
      </p:sp>
      <p:sp>
        <p:nvSpPr>
          <p:cNvPr id="301" name="Sliding Snap Fit Design"/>
          <p:cNvSpPr txBox="1"/>
          <p:nvPr/>
        </p:nvSpPr>
        <p:spPr>
          <a:xfrm>
            <a:off x="1206500" y="825500"/>
            <a:ext cx="21971000" cy="14349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algn="l">
              <a:lnSpc>
                <a:spcPct val="80000"/>
              </a:lnSpc>
              <a:defRPr b="1" spc="-152" sz="7600">
                <a:solidFill>
                  <a:srgbClr val="000000"/>
                </a:solidFill>
              </a:defRPr>
            </a:lvl1pPr>
          </a:lstStyle>
          <a:p>
            <a:pPr>
              <a:defRPr b="0"/>
            </a:pPr>
            <a:r>
              <a:rPr b="1"/>
              <a:t>Sliding Snap Fit Design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3" name="Table 1"/>
          <p:cNvGraphicFramePr/>
          <p:nvPr/>
        </p:nvGraphicFramePr>
        <p:xfrm>
          <a:off x="744038" y="2665392"/>
          <a:ext cx="22921324" cy="10036064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{EEE7283C-3CF3-47DC-8721-378D4A62B228}</a:tableStyleId>
              </a:tblPr>
              <a:tblGrid>
                <a:gridCol w="4453768"/>
                <a:gridCol w="2224503"/>
                <a:gridCol w="4146293"/>
                <a:gridCol w="3919494"/>
                <a:gridCol w="2254032"/>
                <a:gridCol w="3075211"/>
                <a:gridCol w="2822620"/>
              </a:tblGrid>
              <a:tr h="910060">
                <a:tc>
                  <a:txBody>
                    <a:bodyPr/>
                    <a:lstStyle/>
                    <a:p>
                      <a:pPr defTabSz="914400"/>
                      <a:r>
                        <a:rPr b="1" sz="2800">
                          <a:solidFill>
                            <a:srgbClr val="5E5E5E"/>
                          </a:solidFill>
                        </a:rPr>
                        <a:t>Component</a:t>
                      </a:r>
                    </a:p>
                  </a:txBody>
                  <a:tcPr marL="50800" marR="50800" marT="50800" marB="50800" anchor="ctr" anchorCtr="0" horzOverflow="overflow">
                    <a:lnL w="25400">
                      <a:solidFill>
                        <a:srgbClr val="838383"/>
                      </a:solidFill>
                      <a:miter lim="400000"/>
                    </a:lnL>
                    <a:lnT w="25400">
                      <a:solidFill>
                        <a:srgbClr val="838383"/>
                      </a:solidFill>
                      <a:miter lim="400000"/>
                    </a:lnT>
                    <a:lnB w="25400">
                      <a:solidFill>
                        <a:srgbClr val="838383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b="1" sz="2800">
                          <a:solidFill>
                            <a:srgbClr val="5E5E5E"/>
                          </a:solidFill>
                        </a:rPr>
                        <a:t>Quantity</a:t>
                      </a:r>
                    </a:p>
                  </a:txBody>
                  <a:tcPr marL="50800" marR="50800" marT="50800" marB="50800" anchor="ctr" anchorCtr="0" horzOverflow="overflow">
                    <a:lnT w="25400">
                      <a:solidFill>
                        <a:srgbClr val="838383"/>
                      </a:solidFill>
                      <a:miter lim="400000"/>
                    </a:lnT>
                    <a:lnB w="25400">
                      <a:solidFill>
                        <a:srgbClr val="838383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b="1" sz="2800">
                          <a:solidFill>
                            <a:srgbClr val="5E5E5E"/>
                          </a:solidFill>
                        </a:rPr>
                        <a:t>Material</a:t>
                      </a:r>
                    </a:p>
                  </a:txBody>
                  <a:tcPr marL="50800" marR="50800" marT="50800" marB="50800" anchor="ctr" anchorCtr="0" horzOverflow="overflow">
                    <a:lnT w="25400">
                      <a:solidFill>
                        <a:srgbClr val="838383"/>
                      </a:solidFill>
                      <a:miter lim="400000"/>
                    </a:lnT>
                    <a:lnB w="25400">
                      <a:solidFill>
                        <a:srgbClr val="838383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b="1" sz="2800">
                          <a:solidFill>
                            <a:srgbClr val="5E5E5E"/>
                          </a:solidFill>
                        </a:rPr>
                        <a:t>Manufacturing</a:t>
                      </a:r>
                    </a:p>
                  </a:txBody>
                  <a:tcPr marL="50800" marR="50800" marT="50800" marB="50800" anchor="ctr" anchorCtr="0" horzOverflow="overflow">
                    <a:lnT w="25400">
                      <a:solidFill>
                        <a:srgbClr val="838383"/>
                      </a:solidFill>
                      <a:miter lim="400000"/>
                    </a:lnT>
                    <a:lnB w="25400">
                      <a:solidFill>
                        <a:srgbClr val="838383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b="1" sz="2800">
                          <a:solidFill>
                            <a:srgbClr val="5E5E5E"/>
                          </a:solidFill>
                        </a:rPr>
                        <a:t>Mass (g)</a:t>
                      </a:r>
                    </a:p>
                  </a:txBody>
                  <a:tcPr marL="50800" marR="50800" marT="50800" marB="50800" anchor="ctr" anchorCtr="0" horzOverflow="overflow">
                    <a:lnT w="25400">
                      <a:solidFill>
                        <a:srgbClr val="838383"/>
                      </a:solidFill>
                      <a:miter lim="400000"/>
                    </a:lnT>
                    <a:lnB w="25400">
                      <a:solidFill>
                        <a:srgbClr val="838383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b="1" sz="2800">
                          <a:solidFill>
                            <a:srgbClr val="5E5E5E"/>
                          </a:solidFill>
                        </a:rPr>
                        <a:t>Cost per Unit ($)</a:t>
                      </a:r>
                    </a:p>
                  </a:txBody>
                  <a:tcPr marL="50800" marR="50800" marT="50800" marB="50800" anchor="ctr" anchorCtr="0" horzOverflow="overflow">
                    <a:lnR w="25400">
                      <a:solidFill>
                        <a:srgbClr val="838383"/>
                      </a:solidFill>
                      <a:miter lim="400000"/>
                    </a:lnR>
                    <a:lnT w="25400">
                      <a:solidFill>
                        <a:srgbClr val="838383"/>
                      </a:solidFill>
                      <a:miter lim="400000"/>
                    </a:lnT>
                    <a:lnB w="25400">
                      <a:solidFill>
                        <a:srgbClr val="838383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b="1" sz="2800">
                          <a:solidFill>
                            <a:srgbClr val="5E5E5E"/>
                          </a:solidFill>
                        </a:rPr>
                        <a:t>Total Cost ($)</a:t>
                      </a:r>
                    </a:p>
                  </a:txBody>
                  <a:tcPr marL="50800" marR="50800" marT="50800" marB="50800" anchor="ctr" anchorCtr="0" horzOverflow="overflow">
                    <a:lnL w="25400">
                      <a:solidFill>
                        <a:srgbClr val="838383"/>
                      </a:solidFill>
                      <a:miter lim="400000"/>
                    </a:lnL>
                    <a:lnR w="25400">
                      <a:solidFill>
                        <a:srgbClr val="838383"/>
                      </a:solidFill>
                      <a:miter lim="400000"/>
                    </a:lnR>
                    <a:lnT w="25400">
                      <a:solidFill>
                        <a:srgbClr val="838383"/>
                      </a:solidFill>
                      <a:miter lim="400000"/>
                    </a:lnT>
                    <a:lnB w="25400">
                      <a:solidFill>
                        <a:srgbClr val="838383"/>
                      </a:solidFill>
                      <a:miter lim="400000"/>
                    </a:lnB>
                  </a:tcPr>
                </a:tc>
              </a:tr>
              <a:tr h="910060">
                <a:tc>
                  <a:txBody>
                    <a:bodyPr/>
                    <a:lstStyle/>
                    <a:p>
                      <a:pPr defTabSz="914400"/>
                      <a:r>
                        <a:rPr sz="2800">
                          <a:solidFill>
                            <a:srgbClr val="5E5E5E"/>
                          </a:solidFill>
                        </a:rPr>
                        <a:t>Top Chassis</a:t>
                      </a:r>
                    </a:p>
                  </a:txBody>
                  <a:tcPr marL="50800" marR="50800" marT="50800" marB="50800" anchor="ctr" anchorCtr="0" horzOverflow="overflow">
                    <a:lnL w="25400">
                      <a:solidFill>
                        <a:srgbClr val="838383"/>
                      </a:solidFill>
                      <a:miter lim="400000"/>
                    </a:lnL>
                    <a:lnT w="25400">
                      <a:solidFill>
                        <a:srgbClr val="838383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1</a:t>
                      </a:r>
                    </a:p>
                  </a:txBody>
                  <a:tcPr marL="50800" marR="50800" marT="50800" marB="50800" anchor="ctr" anchorCtr="0" horzOverflow="overflow">
                    <a:lnT w="25400">
                      <a:solidFill>
                        <a:srgbClr val="838383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ABS</a:t>
                      </a:r>
                    </a:p>
                  </a:txBody>
                  <a:tcPr marL="50800" marR="50800" marT="50800" marB="50800" anchor="ctr" anchorCtr="0" horzOverflow="overflow">
                    <a:lnT w="25400">
                      <a:solidFill>
                        <a:srgbClr val="838383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Injection Molding</a:t>
                      </a:r>
                    </a:p>
                  </a:txBody>
                  <a:tcPr marL="50800" marR="50800" marT="50800" marB="50800" anchor="ctr" anchorCtr="0" horzOverflow="overflow">
                    <a:lnT w="25400">
                      <a:solidFill>
                        <a:srgbClr val="838383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6.9</a:t>
                      </a:r>
                    </a:p>
                  </a:txBody>
                  <a:tcPr marL="50800" marR="50800" marT="50800" marB="50800" anchor="ctr" anchorCtr="0" horzOverflow="overflow">
                    <a:lnT w="25400">
                      <a:solidFill>
                        <a:srgbClr val="838383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$0.35</a:t>
                      </a:r>
                    </a:p>
                  </a:txBody>
                  <a:tcPr marL="50800" marR="50800" marT="50800" marB="50800" anchor="ctr" anchorCtr="0" horzOverflow="overflow">
                    <a:lnT w="25400">
                      <a:solidFill>
                        <a:srgbClr val="838383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$0.35</a:t>
                      </a:r>
                    </a:p>
                  </a:txBody>
                  <a:tcPr marL="50800" marR="50800" marT="50800" marB="50800" anchor="ctr" anchorCtr="0" horzOverflow="overflow">
                    <a:lnR w="25400">
                      <a:solidFill>
                        <a:srgbClr val="838383"/>
                      </a:solidFill>
                      <a:miter lim="400000"/>
                    </a:lnR>
                    <a:lnT w="25400">
                      <a:solidFill>
                        <a:srgbClr val="838383"/>
                      </a:solidFill>
                      <a:miter lim="400000"/>
                    </a:lnT>
                  </a:tcPr>
                </a:tc>
              </a:tr>
              <a:tr h="910060">
                <a:tc>
                  <a:txBody>
                    <a:bodyPr/>
                    <a:lstStyle/>
                    <a:p>
                      <a:pPr defTabSz="914400"/>
                      <a:r>
                        <a:rPr sz="2800">
                          <a:solidFill>
                            <a:srgbClr val="5E5E5E"/>
                          </a:solidFill>
                        </a:rPr>
                        <a:t>Button</a:t>
                      </a:r>
                    </a:p>
                  </a:txBody>
                  <a:tcPr marL="50800" marR="50800" marT="50800" marB="50800" anchor="ctr" anchorCtr="0" horzOverflow="overflow">
                    <a:lnL w="25400">
                      <a:solidFill>
                        <a:srgbClr val="838383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1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Aluminum 6061-T6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Die Casting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3.6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$0.10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$0.10</a:t>
                      </a:r>
                    </a:p>
                  </a:txBody>
                  <a:tcPr marL="50800" marR="50800" marT="50800" marB="50800" anchor="ctr" anchorCtr="0" horzOverflow="overflow">
                    <a:lnR w="25400">
                      <a:solidFill>
                        <a:srgbClr val="838383"/>
                      </a:solidFill>
                      <a:miter lim="400000"/>
                    </a:lnR>
                  </a:tcPr>
                </a:tc>
              </a:tr>
              <a:tr h="910060">
                <a:tc>
                  <a:txBody>
                    <a:bodyPr/>
                    <a:lstStyle/>
                    <a:p>
                      <a:pPr defTabSz="914400"/>
                      <a:r>
                        <a:rPr sz="2800">
                          <a:solidFill>
                            <a:srgbClr val="5E5E5E"/>
                          </a:solidFill>
                        </a:rPr>
                        <a:t>Latch</a:t>
                      </a:r>
                    </a:p>
                  </a:txBody>
                  <a:tcPr marL="50800" marR="50800" marT="50800" marB="50800" anchor="ctr" anchorCtr="0" horzOverflow="overflow">
                    <a:lnL w="25400">
                      <a:solidFill>
                        <a:srgbClr val="838383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1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ABS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Injection Molding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4.6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$0.25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$0.25</a:t>
                      </a:r>
                    </a:p>
                  </a:txBody>
                  <a:tcPr marL="50800" marR="50800" marT="50800" marB="50800" anchor="ctr" anchorCtr="0" horzOverflow="overflow">
                    <a:lnR w="25400">
                      <a:solidFill>
                        <a:srgbClr val="838383"/>
                      </a:solidFill>
                      <a:miter lim="400000"/>
                    </a:lnR>
                  </a:tcPr>
                </a:tc>
              </a:tr>
              <a:tr h="910060">
                <a:tc>
                  <a:txBody>
                    <a:bodyPr/>
                    <a:lstStyle/>
                    <a:p>
                      <a:pPr defTabSz="914400"/>
                      <a:r>
                        <a:rPr sz="2800">
                          <a:solidFill>
                            <a:srgbClr val="5E5E5E"/>
                          </a:solidFill>
                        </a:rPr>
                        <a:t>Springs</a:t>
                      </a:r>
                    </a:p>
                  </a:txBody>
                  <a:tcPr marL="50800" marR="50800" marT="50800" marB="50800" anchor="ctr" anchorCtr="0" horzOverflow="overflow">
                    <a:lnL w="25400">
                      <a:solidFill>
                        <a:srgbClr val="838383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2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i="1" sz="2800">
                          <a:solidFill>
                            <a:srgbClr val="929292"/>
                          </a:solidFill>
                        </a:rPr>
                        <a:t>(Purchased)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i="1" sz="2800">
                          <a:solidFill>
                            <a:srgbClr val="929292"/>
                          </a:solidFill>
                        </a:rPr>
                        <a:t>(Purchased)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i="1" sz="2800">
                          <a:solidFill>
                            <a:srgbClr val="929292"/>
                          </a:solidFill>
                        </a:rPr>
                        <a:t>(Purchased)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$0.10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$0.20</a:t>
                      </a:r>
                    </a:p>
                  </a:txBody>
                  <a:tcPr marL="50800" marR="50800" marT="50800" marB="50800" anchor="ctr" anchorCtr="0" horzOverflow="overflow">
                    <a:lnR w="25400">
                      <a:solidFill>
                        <a:srgbClr val="838383"/>
                      </a:solidFill>
                      <a:miter lim="400000"/>
                    </a:lnR>
                  </a:tcPr>
                </a:tc>
              </a:tr>
              <a:tr h="910060">
                <a:tc>
                  <a:txBody>
                    <a:bodyPr/>
                    <a:lstStyle/>
                    <a:p>
                      <a:pPr defTabSz="914400"/>
                      <a:r>
                        <a:rPr sz="2800">
                          <a:solidFill>
                            <a:srgbClr val="5E5E5E"/>
                          </a:solidFill>
                        </a:rPr>
                        <a:t>Screws</a:t>
                      </a:r>
                    </a:p>
                  </a:txBody>
                  <a:tcPr marL="50800" marR="50800" marT="50800" marB="50800" anchor="ctr" anchorCtr="0" horzOverflow="overflow">
                    <a:lnL w="25400">
                      <a:solidFill>
                        <a:srgbClr val="838383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4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i="1" sz="2800">
                          <a:solidFill>
                            <a:srgbClr val="929292"/>
                          </a:solidFill>
                        </a:rPr>
                        <a:t>(Purchased)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i="1" sz="2800">
                          <a:solidFill>
                            <a:srgbClr val="929292"/>
                          </a:solidFill>
                        </a:rPr>
                        <a:t>(Purchased)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i="1" sz="2800">
                          <a:solidFill>
                            <a:srgbClr val="929292"/>
                          </a:solidFill>
                        </a:rPr>
                        <a:t>(Purchased)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$0.10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$0.40</a:t>
                      </a:r>
                    </a:p>
                  </a:txBody>
                  <a:tcPr marL="50800" marR="50800" marT="50800" marB="50800" anchor="ctr" anchorCtr="0" horzOverflow="overflow">
                    <a:lnR w="25400">
                      <a:solidFill>
                        <a:srgbClr val="838383"/>
                      </a:solidFill>
                      <a:miter lim="400000"/>
                    </a:lnR>
                  </a:tcPr>
                </a:tc>
              </a:tr>
              <a:tr h="910060">
                <a:tc>
                  <a:txBody>
                    <a:bodyPr/>
                    <a:lstStyle/>
                    <a:p>
                      <a:pPr defTabSz="914400"/>
                      <a:r>
                        <a:rPr sz="2800">
                          <a:solidFill>
                            <a:srgbClr val="5E5E5E"/>
                          </a:solidFill>
                        </a:rPr>
                        <a:t>Bottom Chassis</a:t>
                      </a:r>
                    </a:p>
                  </a:txBody>
                  <a:tcPr marL="50800" marR="50800" marT="50800" marB="50800" anchor="ctr" anchorCtr="0" horzOverflow="overflow">
                    <a:lnL w="25400">
                      <a:solidFill>
                        <a:srgbClr val="838383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1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ABS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Injection Molding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8.6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$0.45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$0.45</a:t>
                      </a:r>
                    </a:p>
                  </a:txBody>
                  <a:tcPr marL="50800" marR="50800" marT="50800" marB="50800" anchor="ctr" anchorCtr="0" horzOverflow="overflow">
                    <a:lnR w="25400">
                      <a:solidFill>
                        <a:srgbClr val="838383"/>
                      </a:solidFill>
                      <a:miter lim="400000"/>
                    </a:lnR>
                  </a:tcPr>
                </a:tc>
              </a:tr>
              <a:tr h="910060">
                <a:tc>
                  <a:txBody>
                    <a:bodyPr/>
                    <a:lstStyle/>
                    <a:p>
                      <a:pPr defTabSz="914400"/>
                      <a:r>
                        <a:rPr sz="2800">
                          <a:solidFill>
                            <a:srgbClr val="5E5E5E"/>
                          </a:solidFill>
                        </a:rPr>
                        <a:t>Spring Loaded Hinge</a:t>
                      </a:r>
                    </a:p>
                  </a:txBody>
                  <a:tcPr marL="50800" marR="50800" marT="50800" marB="50800" anchor="ctr" anchorCtr="0" horzOverflow="overflow">
                    <a:lnL w="25400">
                      <a:solidFill>
                        <a:srgbClr val="838383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2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i="1" sz="2800">
                          <a:solidFill>
                            <a:srgbClr val="929292"/>
                          </a:solidFill>
                        </a:rPr>
                        <a:t>(Purchased)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i="1" sz="2800">
                          <a:solidFill>
                            <a:srgbClr val="929292"/>
                          </a:solidFill>
                        </a:rPr>
                        <a:t>(Purchased)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i="1" sz="2800">
                          <a:solidFill>
                            <a:srgbClr val="929292"/>
                          </a:solidFill>
                        </a:rPr>
                        <a:t>(Purchased)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$0.10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$0.20</a:t>
                      </a:r>
                    </a:p>
                  </a:txBody>
                  <a:tcPr marL="50800" marR="50800" marT="50800" marB="50800" anchor="ctr" anchorCtr="0" horzOverflow="overflow">
                    <a:lnR w="25400">
                      <a:solidFill>
                        <a:srgbClr val="838383"/>
                      </a:solidFill>
                      <a:miter lim="400000"/>
                    </a:lnR>
                  </a:tcPr>
                </a:tc>
              </a:tr>
              <a:tr h="910060">
                <a:tc>
                  <a:txBody>
                    <a:bodyPr/>
                    <a:lstStyle/>
                    <a:p>
                      <a:pPr defTabSz="914400"/>
                      <a:r>
                        <a:rPr sz="2800">
                          <a:solidFill>
                            <a:srgbClr val="5E5E5E"/>
                          </a:solidFill>
                        </a:rPr>
                        <a:t>Door</a:t>
                      </a:r>
                    </a:p>
                  </a:txBody>
                  <a:tcPr marL="50800" marR="50800" marT="50800" marB="50800" anchor="ctr" anchorCtr="0" horzOverflow="overflow">
                    <a:lnL w="25400">
                      <a:solidFill>
                        <a:srgbClr val="838383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1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ABS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Injection Molding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24.4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$1.20</a:t>
                      </a:r>
                    </a:p>
                  </a:txBody>
                  <a:tcPr marL="50800" marR="50800" marT="50800" marB="50800" anchor="ctr" anchorCtr="0" horzOverflow="overflow">
                    <a:lnB w="6350">
                      <a:solidFill>
                        <a:srgbClr val="838383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$1.20</a:t>
                      </a:r>
                    </a:p>
                  </a:txBody>
                  <a:tcPr marL="50800" marR="50800" marT="50800" marB="50800" anchor="ctr" anchorCtr="0" horzOverflow="overflow">
                    <a:lnR w="25400">
                      <a:solidFill>
                        <a:srgbClr val="838383"/>
                      </a:solidFill>
                      <a:miter lim="400000"/>
                    </a:lnR>
                    <a:lnB w="6350">
                      <a:solidFill>
                        <a:srgbClr val="838383"/>
                      </a:solidFill>
                      <a:miter lim="400000"/>
                    </a:lnB>
                  </a:tcPr>
                </a:tc>
              </a:tr>
              <a:tr h="910060">
                <a:tc>
                  <a:txBody>
                    <a:bodyPr/>
                    <a:lstStyle/>
                    <a:p>
                      <a:pPr defTabSz="914400"/>
                      <a:r>
                        <a:rPr sz="2800">
                          <a:solidFill>
                            <a:srgbClr val="5E5E5E"/>
                          </a:solidFill>
                        </a:rPr>
                        <a:t>Door Cover</a:t>
                      </a:r>
                    </a:p>
                  </a:txBody>
                  <a:tcPr marL="50800" marR="50800" marT="50800" marB="50800" anchor="ctr" anchorCtr="0" horzOverflow="overflow">
                    <a:lnL w="25400">
                      <a:solidFill>
                        <a:srgbClr val="838383"/>
                      </a:solidFill>
                      <a:miter lim="400000"/>
                    </a:lnL>
                    <a:lnB w="25400">
                      <a:solidFill>
                        <a:srgbClr val="838383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1</a:t>
                      </a:r>
                    </a:p>
                  </a:txBody>
                  <a:tcPr marL="50800" marR="50800" marT="50800" marB="50800" anchor="ctr" anchorCtr="0" horzOverflow="overflow">
                    <a:lnB w="25400">
                      <a:solidFill>
                        <a:srgbClr val="838383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Aluminum 6061-T6</a:t>
                      </a:r>
                    </a:p>
                  </a:txBody>
                  <a:tcPr marL="50800" marR="50800" marT="50800" marB="50800" anchor="ctr" anchorCtr="0" horzOverflow="overflow">
                    <a:lnB w="25400">
                      <a:solidFill>
                        <a:srgbClr val="838383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Stamping</a:t>
                      </a:r>
                    </a:p>
                  </a:txBody>
                  <a:tcPr marL="50800" marR="50800" marT="50800" marB="50800" anchor="ctr" anchorCtr="0" horzOverflow="overflow">
                    <a:lnB w="25400">
                      <a:solidFill>
                        <a:srgbClr val="838383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4.7</a:t>
                      </a:r>
                    </a:p>
                  </a:txBody>
                  <a:tcPr marL="50800" marR="50800" marT="50800" marB="50800" anchor="ctr" anchorCtr="0" horzOverflow="overflow">
                    <a:lnB w="25400">
                      <a:solidFill>
                        <a:srgbClr val="838383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$0.15</a:t>
                      </a:r>
                    </a:p>
                  </a:txBody>
                  <a:tcPr marL="50800" marR="50800" marT="50800" marB="50800" anchor="ctr" anchorCtr="0" horzOverflow="overflow">
                    <a:lnT w="6350">
                      <a:solidFill>
                        <a:srgbClr val="838383"/>
                      </a:solidFill>
                      <a:miter lim="400000"/>
                    </a:lnT>
                    <a:lnB w="25400">
                      <a:solidFill>
                        <a:srgbClr val="838383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$0.15</a:t>
                      </a:r>
                    </a:p>
                  </a:txBody>
                  <a:tcPr marL="50800" marR="50800" marT="50800" marB="50800" anchor="ctr" anchorCtr="0" horzOverflow="overflow">
                    <a:lnR w="25400">
                      <a:solidFill>
                        <a:srgbClr val="838383"/>
                      </a:solidFill>
                      <a:miter lim="400000"/>
                    </a:lnR>
                    <a:lnT w="6350">
                      <a:solidFill>
                        <a:srgbClr val="838383"/>
                      </a:solidFill>
                      <a:miter lim="400000"/>
                    </a:lnT>
                    <a:lnB w="25400">
                      <a:solidFill>
                        <a:srgbClr val="838383"/>
                      </a:solidFill>
                      <a:miter lim="400000"/>
                    </a:lnB>
                  </a:tcPr>
                </a:tc>
              </a:tr>
              <a:tr h="910060">
                <a:tc>
                  <a:txBody>
                    <a:bodyPr/>
                    <a:lstStyle/>
                    <a:p>
                      <a:pPr defTabSz="914400">
                        <a:defRPr sz="2800">
                          <a:solidFill>
                            <a:srgbClr val="5E5E5E"/>
                          </a:solidFill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0">
                      <a:miter lim="400000"/>
                    </a:lnL>
                    <a:lnR w="0">
                      <a:miter lim="400000"/>
                    </a:lnR>
                    <a:lnT w="25400">
                      <a:solidFill>
                        <a:srgbClr val="838383"/>
                      </a:solidFill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  <a:defRPr sz="2800">
                          <a:solidFill>
                            <a:srgbClr val="5E5E5E"/>
                          </a:solidFill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0">
                      <a:miter lim="400000"/>
                    </a:lnL>
                    <a:lnR w="0">
                      <a:miter lim="400000"/>
                    </a:lnR>
                    <a:lnT w="25400">
                      <a:solidFill>
                        <a:srgbClr val="838383"/>
                      </a:solidFill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  <a:defRPr sz="2800">
                          <a:solidFill>
                            <a:srgbClr val="5E5E5E"/>
                          </a:solidFill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0">
                      <a:miter lim="400000"/>
                    </a:lnL>
                    <a:lnR w="0">
                      <a:miter lim="400000"/>
                    </a:lnR>
                    <a:lnT w="25400">
                      <a:solidFill>
                        <a:srgbClr val="838383"/>
                      </a:solidFill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  <a:defRPr sz="2800">
                          <a:solidFill>
                            <a:srgbClr val="5E5E5E"/>
                          </a:solidFill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0">
                      <a:miter lim="400000"/>
                    </a:lnL>
                    <a:lnR w="0">
                      <a:miter lim="400000"/>
                    </a:lnR>
                    <a:lnT w="25400">
                      <a:solidFill>
                        <a:srgbClr val="838383"/>
                      </a:solidFill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  <a:defRPr b="1" sz="2800">
                          <a:solidFill>
                            <a:srgbClr val="5E5E5E"/>
                          </a:solidFill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0">
                      <a:miter lim="400000"/>
                    </a:lnL>
                    <a:lnR w="25400">
                      <a:solidFill>
                        <a:srgbClr val="838383"/>
                      </a:solidFill>
                      <a:miter lim="400000"/>
                    </a:lnR>
                    <a:lnT w="25400">
                      <a:solidFill>
                        <a:srgbClr val="838383"/>
                      </a:solidFill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b="1" sz="2800">
                          <a:solidFill>
                            <a:srgbClr val="5E5E5E"/>
                          </a:solidFill>
                        </a:rPr>
                        <a:t>Total</a:t>
                      </a:r>
                    </a:p>
                  </a:txBody>
                  <a:tcPr marL="50800" marR="50800" marT="50800" marB="50800" anchor="ctr" anchorCtr="0" horzOverflow="overflow">
                    <a:lnL w="25400">
                      <a:solidFill>
                        <a:srgbClr val="838383"/>
                      </a:solidFill>
                      <a:miter lim="400000"/>
                    </a:lnL>
                    <a:lnR w="25400">
                      <a:solidFill>
                        <a:srgbClr val="838383"/>
                      </a:solidFill>
                      <a:miter lim="400000"/>
                    </a:lnR>
                    <a:lnT w="25400">
                      <a:solidFill>
                        <a:srgbClr val="838383"/>
                      </a:solidFill>
                      <a:miter lim="400000"/>
                    </a:lnT>
                    <a:lnB w="25400">
                      <a:solidFill>
                        <a:srgbClr val="838383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$3.30</a:t>
                      </a:r>
                    </a:p>
                  </a:txBody>
                  <a:tcPr marL="50800" marR="50800" marT="50800" marB="50800" anchor="ctr" anchorCtr="0" horzOverflow="overflow">
                    <a:lnL w="25400">
                      <a:solidFill>
                        <a:srgbClr val="838383"/>
                      </a:solidFill>
                      <a:miter lim="400000"/>
                    </a:lnL>
                    <a:lnR w="25400">
                      <a:solidFill>
                        <a:srgbClr val="838383"/>
                      </a:solidFill>
                      <a:miter lim="400000"/>
                    </a:lnR>
                    <a:lnT w="25400">
                      <a:solidFill>
                        <a:srgbClr val="838383"/>
                      </a:solidFill>
                      <a:miter lim="400000"/>
                    </a:lnT>
                    <a:lnB w="25400">
                      <a:solidFill>
                        <a:srgbClr val="838383"/>
                      </a:solidFill>
                      <a:miter lim="400000"/>
                    </a:lnB>
                  </a:tcPr>
                </a:tc>
              </a:tr>
            </a:tbl>
          </a:graphicData>
        </a:graphic>
      </p:graphicFrame>
      <p:sp>
        <p:nvSpPr>
          <p:cNvPr id="304" name="Slide Number"/>
          <p:cNvSpPr txBox="1"/>
          <p:nvPr>
            <p:ph type="sldNum" sz="quarter" idx="2"/>
          </p:nvPr>
        </p:nvSpPr>
        <p:spPr>
          <a:xfrm>
            <a:off x="12065050" y="13080999"/>
            <a:ext cx="241403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05" name="* Remaining components assumed out-of-scope"/>
          <p:cNvSpPr txBox="1"/>
          <p:nvPr/>
        </p:nvSpPr>
        <p:spPr>
          <a:xfrm>
            <a:off x="16871957" y="2053083"/>
            <a:ext cx="6731814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* Remaining components assumed out-of-scope</a:t>
            </a:r>
          </a:p>
        </p:txBody>
      </p:sp>
      <p:sp>
        <p:nvSpPr>
          <p:cNvPr id="306" name="Sliding Snap Fit Bill of Materials"/>
          <p:cNvSpPr txBox="1"/>
          <p:nvPr/>
        </p:nvSpPr>
        <p:spPr>
          <a:xfrm>
            <a:off x="1206500" y="825500"/>
            <a:ext cx="21971000" cy="14349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algn="l">
              <a:lnSpc>
                <a:spcPct val="80000"/>
              </a:lnSpc>
              <a:defRPr b="1" spc="-152" sz="7600">
                <a:solidFill>
                  <a:srgbClr val="000000"/>
                </a:solidFill>
              </a:defRPr>
            </a:lvl1pPr>
          </a:lstStyle>
          <a:p>
            <a:pPr/>
            <a:r>
              <a:t>Sliding Snap Fit Bill of Materials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2" name="Group"/>
          <p:cNvGrpSpPr/>
          <p:nvPr/>
        </p:nvGrpSpPr>
        <p:grpSpPr>
          <a:xfrm>
            <a:off x="13297605" y="1807326"/>
            <a:ext cx="9484124" cy="4885728"/>
            <a:chOff x="0" y="0"/>
            <a:chExt cx="9484122" cy="4885727"/>
          </a:xfrm>
        </p:grpSpPr>
        <p:pic>
          <p:nvPicPr>
            <p:cNvPr id="308" name="Screen Shot 2024-12-03 at 11.34.05 PM.png" descr="Screen Shot 2024-12-03 at 11.34.05 PM.png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2558" t="0" r="0" b="0"/>
            <a:stretch>
              <a:fillRect/>
            </a:stretch>
          </p:blipFill>
          <p:spPr>
            <a:xfrm>
              <a:off x="0" y="0"/>
              <a:ext cx="9484123" cy="488572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09" name="Screen Shot 2024-12-06 at 8.51.57 PM.png" descr="Screen Shot 2024-12-06 at 8.51.57 PM.png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14841" t="9076" r="64750" b="13350"/>
            <a:stretch>
              <a:fillRect/>
            </a:stretch>
          </p:blipFill>
          <p:spPr>
            <a:xfrm>
              <a:off x="1262520" y="1350987"/>
              <a:ext cx="2054241" cy="282825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10" name="Screen Shot 2024-12-03 at 11.34.05 PM.png" descr="Screen Shot 2024-12-03 at 11.34.05 PM.png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2558" t="0" r="82997" b="64564"/>
            <a:stretch>
              <a:fillRect/>
            </a:stretch>
          </p:blipFill>
          <p:spPr>
            <a:xfrm>
              <a:off x="0" y="0"/>
              <a:ext cx="1405783" cy="173126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11" name="Screen Shot 2024-12-03 at 11.34.05 PM.png" descr="Screen Shot 2024-12-03 at 11.34.05 PM.png"/>
            <p:cNvPicPr>
              <a:picLocks noChangeAspect="0"/>
            </p:cNvPicPr>
            <p:nvPr/>
          </p:nvPicPr>
          <p:blipFill>
            <a:blip r:embed="rId2">
              <a:extLst/>
            </a:blip>
            <a:srcRect l="6535" t="51650" r="89709" b="22576"/>
            <a:stretch>
              <a:fillRect/>
            </a:stretch>
          </p:blipFill>
          <p:spPr>
            <a:xfrm>
              <a:off x="1093372" y="2509757"/>
              <a:ext cx="229805" cy="158545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313" name="Screen Shot 2024-12-06 at 8.50.15 PM.png" descr="Screen Shot 2024-12-06 at 8.50.15 PM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807340" y="2844418"/>
            <a:ext cx="9484123" cy="3539953"/>
          </a:xfrm>
          <a:prstGeom prst="rect">
            <a:avLst/>
          </a:prstGeom>
          <a:ln w="12700">
            <a:miter lim="400000"/>
          </a:ln>
        </p:spPr>
      </p:pic>
      <p:sp>
        <p:nvSpPr>
          <p:cNvPr id="3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15" name="1. User presses down on the button, which is constrained by the top chassis and pushed upward by the springs."/>
          <p:cNvSpPr txBox="1"/>
          <p:nvPr/>
        </p:nvSpPr>
        <p:spPr>
          <a:xfrm>
            <a:off x="1838098" y="6414394"/>
            <a:ext cx="9422607" cy="1039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marL="381000" indent="-381000" algn="l">
              <a:lnSpc>
                <a:spcPct val="120000"/>
              </a:lnSpc>
              <a:defRPr sz="2800"/>
            </a:lvl1pPr>
          </a:lstStyle>
          <a:p>
            <a:pPr/>
            <a:r>
              <a:t>1. User presses down on the button, which is constrained by the top chassis and pushed upward by the springs.</a:t>
            </a:r>
          </a:p>
        </p:txBody>
      </p:sp>
      <p:sp>
        <p:nvSpPr>
          <p:cNvPr id="316" name="Line"/>
          <p:cNvSpPr/>
          <p:nvPr/>
        </p:nvSpPr>
        <p:spPr>
          <a:xfrm>
            <a:off x="4740534" y="2561564"/>
            <a:ext cx="1" cy="572822"/>
          </a:xfrm>
          <a:prstGeom prst="line">
            <a:avLst/>
          </a:prstGeom>
          <a:ln w="381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17" name="2. Button moves down and applies a force to the tail of the latch, causing it to rotate about the peg."/>
          <p:cNvSpPr txBox="1"/>
          <p:nvPr/>
        </p:nvSpPr>
        <p:spPr>
          <a:xfrm>
            <a:off x="1838098" y="11648414"/>
            <a:ext cx="9422607" cy="10396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marL="381000" indent="-381000" algn="l">
              <a:lnSpc>
                <a:spcPct val="120000"/>
              </a:lnSpc>
              <a:defRPr sz="2800"/>
            </a:lvl1pPr>
          </a:lstStyle>
          <a:p>
            <a:pPr/>
            <a:r>
              <a:t>2. Button moves down and applies a force to the tail of the latch, causing it to rotate about the peg.</a:t>
            </a:r>
          </a:p>
        </p:txBody>
      </p:sp>
      <p:sp>
        <p:nvSpPr>
          <p:cNvPr id="318" name="3. Downward force applied by latch to door is removed and spring loaded hinges cause door to pop open."/>
          <p:cNvSpPr txBox="1"/>
          <p:nvPr/>
        </p:nvSpPr>
        <p:spPr>
          <a:xfrm>
            <a:off x="13359085" y="6414394"/>
            <a:ext cx="9422607" cy="1039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marL="381000" indent="-381000" algn="l">
              <a:lnSpc>
                <a:spcPct val="120000"/>
              </a:lnSpc>
              <a:defRPr sz="2800"/>
            </a:lvl1pPr>
          </a:lstStyle>
          <a:p>
            <a:pPr/>
            <a:r>
              <a:t>3. Downward force applied by latch to door is removed and spring loaded hinges cause door to pop open.</a:t>
            </a:r>
          </a:p>
        </p:txBody>
      </p:sp>
      <p:sp>
        <p:nvSpPr>
          <p:cNvPr id="319" name="4. After replacing batteries, user applies a downward force to the door, engaging the snap fit mechanism."/>
          <p:cNvSpPr txBox="1"/>
          <p:nvPr/>
        </p:nvSpPr>
        <p:spPr>
          <a:xfrm>
            <a:off x="13359085" y="11648414"/>
            <a:ext cx="9422607" cy="10396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marL="381000" indent="-381000" algn="l">
              <a:lnSpc>
                <a:spcPct val="120000"/>
              </a:lnSpc>
              <a:defRPr sz="2800"/>
            </a:lvl1pPr>
          </a:lstStyle>
          <a:p>
            <a:pPr/>
            <a:r>
              <a:t>4. After replacing batteries, user applies a downward force to the door, engaging the snap fit mechanism.</a:t>
            </a:r>
          </a:p>
        </p:txBody>
      </p:sp>
      <p:sp>
        <p:nvSpPr>
          <p:cNvPr id="320" name="Rotating Snap Fit Design"/>
          <p:cNvSpPr txBox="1"/>
          <p:nvPr/>
        </p:nvSpPr>
        <p:spPr>
          <a:xfrm>
            <a:off x="1206500" y="825500"/>
            <a:ext cx="21971000" cy="14349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algn="l">
              <a:lnSpc>
                <a:spcPct val="80000"/>
              </a:lnSpc>
              <a:defRPr b="1" spc="-152" sz="7600">
                <a:solidFill>
                  <a:srgbClr val="000000"/>
                </a:solidFill>
              </a:defRPr>
            </a:lvl1pPr>
          </a:lstStyle>
          <a:p>
            <a:pPr>
              <a:defRPr b="0"/>
            </a:pPr>
            <a:r>
              <a:rPr b="1"/>
              <a:t>Rotating Snap Fit Design</a:t>
            </a:r>
          </a:p>
        </p:txBody>
      </p:sp>
      <p:pic>
        <p:nvPicPr>
          <p:cNvPr id="321" name="Screen Shot 2024-12-06 at 8.50.15 PM.png" descr="Screen Shot 2024-12-06 at 8.50.15 PM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806871" y="8128733"/>
            <a:ext cx="9484875" cy="3540234"/>
          </a:xfrm>
          <a:prstGeom prst="rect">
            <a:avLst/>
          </a:prstGeom>
          <a:ln w="12700">
            <a:miter lim="400000"/>
          </a:ln>
        </p:spPr>
      </p:pic>
      <p:sp>
        <p:nvSpPr>
          <p:cNvPr id="322" name="Line"/>
          <p:cNvSpPr/>
          <p:nvPr/>
        </p:nvSpPr>
        <p:spPr>
          <a:xfrm>
            <a:off x="4290097" y="9264800"/>
            <a:ext cx="1" cy="572822"/>
          </a:xfrm>
          <a:prstGeom prst="line">
            <a:avLst/>
          </a:prstGeom>
          <a:ln w="381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pic>
        <p:nvPicPr>
          <p:cNvPr id="323" name="Screen Shot 2024-12-06 at 8.59.48 PM.png" descr="Screen Shot 2024-12-06 at 8.59.48 PM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3394244" y="7996970"/>
            <a:ext cx="9290749" cy="3676616"/>
          </a:xfrm>
          <a:prstGeom prst="rect">
            <a:avLst/>
          </a:prstGeom>
          <a:ln w="12700">
            <a:miter lim="400000"/>
          </a:ln>
        </p:spPr>
      </p:pic>
      <p:sp>
        <p:nvSpPr>
          <p:cNvPr id="324" name="Line"/>
          <p:cNvSpPr/>
          <p:nvPr/>
        </p:nvSpPr>
        <p:spPr>
          <a:xfrm>
            <a:off x="14534563" y="7640963"/>
            <a:ext cx="1" cy="572821"/>
          </a:xfrm>
          <a:prstGeom prst="line">
            <a:avLst/>
          </a:prstGeom>
          <a:ln w="381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6" name="Table 1"/>
          <p:cNvGraphicFramePr/>
          <p:nvPr/>
        </p:nvGraphicFramePr>
        <p:xfrm>
          <a:off x="744038" y="2665392"/>
          <a:ext cx="22921324" cy="10036064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{EEE7283C-3CF3-47DC-8721-378D4A62B228}</a:tableStyleId>
              </a:tblPr>
              <a:tblGrid>
                <a:gridCol w="4453768"/>
                <a:gridCol w="2224503"/>
                <a:gridCol w="4146293"/>
                <a:gridCol w="3919494"/>
                <a:gridCol w="2254032"/>
                <a:gridCol w="3075211"/>
                <a:gridCol w="2822620"/>
              </a:tblGrid>
              <a:tr h="910060">
                <a:tc>
                  <a:txBody>
                    <a:bodyPr/>
                    <a:lstStyle/>
                    <a:p>
                      <a:pPr defTabSz="914400"/>
                      <a:r>
                        <a:rPr b="1" sz="2800">
                          <a:solidFill>
                            <a:srgbClr val="5E5E5E"/>
                          </a:solidFill>
                        </a:rPr>
                        <a:t>Component</a:t>
                      </a:r>
                    </a:p>
                  </a:txBody>
                  <a:tcPr marL="50800" marR="50800" marT="50800" marB="50800" anchor="ctr" anchorCtr="0" horzOverflow="overflow">
                    <a:lnL w="25400">
                      <a:solidFill>
                        <a:srgbClr val="838383"/>
                      </a:solidFill>
                      <a:miter lim="400000"/>
                    </a:lnL>
                    <a:lnT w="25400">
                      <a:solidFill>
                        <a:srgbClr val="838383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b="1" sz="2800">
                          <a:solidFill>
                            <a:srgbClr val="5E5E5E"/>
                          </a:solidFill>
                        </a:rPr>
                        <a:t>Quantity</a:t>
                      </a:r>
                    </a:p>
                  </a:txBody>
                  <a:tcPr marL="50800" marR="50800" marT="50800" marB="50800" anchor="ctr" anchorCtr="0" horzOverflow="overflow">
                    <a:lnT w="25400">
                      <a:solidFill>
                        <a:srgbClr val="838383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b="1" sz="2800">
                          <a:solidFill>
                            <a:srgbClr val="5E5E5E"/>
                          </a:solidFill>
                        </a:rPr>
                        <a:t>Material</a:t>
                      </a:r>
                    </a:p>
                  </a:txBody>
                  <a:tcPr marL="50800" marR="50800" marT="50800" marB="50800" anchor="ctr" anchorCtr="0" horzOverflow="overflow">
                    <a:lnT w="25400">
                      <a:solidFill>
                        <a:srgbClr val="838383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b="1" sz="2800">
                          <a:solidFill>
                            <a:srgbClr val="5E5E5E"/>
                          </a:solidFill>
                        </a:rPr>
                        <a:t>Manufacturing</a:t>
                      </a:r>
                    </a:p>
                  </a:txBody>
                  <a:tcPr marL="50800" marR="50800" marT="50800" marB="50800" anchor="ctr" anchorCtr="0" horzOverflow="overflow">
                    <a:lnT w="25400">
                      <a:solidFill>
                        <a:srgbClr val="838383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b="1" sz="2800">
                          <a:solidFill>
                            <a:srgbClr val="5E5E5E"/>
                          </a:solidFill>
                        </a:rPr>
                        <a:t>Mass (g)</a:t>
                      </a:r>
                    </a:p>
                  </a:txBody>
                  <a:tcPr marL="50800" marR="50800" marT="50800" marB="50800" anchor="ctr" anchorCtr="0" horzOverflow="overflow">
                    <a:lnT w="25400">
                      <a:solidFill>
                        <a:srgbClr val="838383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b="1" sz="2800">
                          <a:solidFill>
                            <a:srgbClr val="5E5E5E"/>
                          </a:solidFill>
                        </a:rPr>
                        <a:t>Cost per Unit ($)</a:t>
                      </a:r>
                    </a:p>
                  </a:txBody>
                  <a:tcPr marL="50800" marR="50800" marT="50800" marB="50800" anchor="ctr" anchorCtr="0" horzOverflow="overflow">
                    <a:lnR w="25400">
                      <a:solidFill>
                        <a:srgbClr val="838383"/>
                      </a:solidFill>
                      <a:miter lim="400000"/>
                    </a:lnR>
                    <a:lnT w="25400">
                      <a:solidFill>
                        <a:srgbClr val="838383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b="1" sz="2800">
                          <a:solidFill>
                            <a:srgbClr val="5E5E5E"/>
                          </a:solidFill>
                        </a:rPr>
                        <a:t>Total Cost ($)</a:t>
                      </a:r>
                    </a:p>
                  </a:txBody>
                  <a:tcPr marL="50800" marR="50800" marT="50800" marB="50800" anchor="ctr" anchorCtr="0" horzOverflow="overflow">
                    <a:lnL w="25400">
                      <a:solidFill>
                        <a:srgbClr val="838383"/>
                      </a:solidFill>
                      <a:miter lim="400000"/>
                    </a:lnL>
                    <a:lnR w="25400">
                      <a:solidFill>
                        <a:srgbClr val="838383"/>
                      </a:solidFill>
                      <a:miter lim="400000"/>
                    </a:lnR>
                    <a:lnT w="25400">
                      <a:solidFill>
                        <a:srgbClr val="838383"/>
                      </a:solidFill>
                      <a:miter lim="400000"/>
                    </a:lnT>
                  </a:tcPr>
                </a:tc>
              </a:tr>
              <a:tr h="910060">
                <a:tc>
                  <a:txBody>
                    <a:bodyPr/>
                    <a:lstStyle/>
                    <a:p>
                      <a:pPr defTabSz="914400"/>
                      <a:r>
                        <a:rPr sz="2800">
                          <a:solidFill>
                            <a:srgbClr val="5E5E5E"/>
                          </a:solidFill>
                        </a:rPr>
                        <a:t>Top Chassis</a:t>
                      </a:r>
                    </a:p>
                  </a:txBody>
                  <a:tcPr marL="50800" marR="50800" marT="50800" marB="50800" anchor="ctr" anchorCtr="0" horzOverflow="overflow">
                    <a:lnL w="25400">
                      <a:solidFill>
                        <a:srgbClr val="838383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1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ABS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Injection Molding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8.5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$0.45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$0.45</a:t>
                      </a:r>
                    </a:p>
                  </a:txBody>
                  <a:tcPr marL="50800" marR="50800" marT="50800" marB="50800" anchor="ctr" anchorCtr="0" horzOverflow="overflow">
                    <a:lnR w="25400">
                      <a:solidFill>
                        <a:srgbClr val="838383"/>
                      </a:solidFill>
                      <a:miter lim="400000"/>
                    </a:lnR>
                  </a:tcPr>
                </a:tc>
              </a:tr>
              <a:tr h="910060">
                <a:tc>
                  <a:txBody>
                    <a:bodyPr/>
                    <a:lstStyle/>
                    <a:p>
                      <a:pPr defTabSz="914400"/>
                      <a:r>
                        <a:rPr sz="2800">
                          <a:solidFill>
                            <a:srgbClr val="5E5E5E"/>
                          </a:solidFill>
                        </a:rPr>
                        <a:t>Button</a:t>
                      </a:r>
                    </a:p>
                  </a:txBody>
                  <a:tcPr marL="50800" marR="50800" marT="50800" marB="50800" anchor="ctr" anchorCtr="0" horzOverflow="overflow">
                    <a:lnL w="25400">
                      <a:solidFill>
                        <a:srgbClr val="838383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1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Aluminum 6061-T6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Die Casting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3.8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$0.10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$0.10</a:t>
                      </a:r>
                    </a:p>
                  </a:txBody>
                  <a:tcPr marL="50800" marR="50800" marT="50800" marB="50800" anchor="ctr" anchorCtr="0" horzOverflow="overflow">
                    <a:lnR w="25400">
                      <a:solidFill>
                        <a:srgbClr val="838383"/>
                      </a:solidFill>
                      <a:miter lim="400000"/>
                    </a:lnR>
                  </a:tcPr>
                </a:tc>
              </a:tr>
              <a:tr h="910060">
                <a:tc>
                  <a:txBody>
                    <a:bodyPr/>
                    <a:lstStyle/>
                    <a:p>
                      <a:pPr defTabSz="914400"/>
                      <a:r>
                        <a:rPr sz="2800">
                          <a:solidFill>
                            <a:srgbClr val="5E5E5E"/>
                          </a:solidFill>
                        </a:rPr>
                        <a:t>Latch</a:t>
                      </a:r>
                    </a:p>
                  </a:txBody>
                  <a:tcPr marL="50800" marR="50800" marT="50800" marB="50800" anchor="ctr" anchorCtr="0" horzOverflow="overflow">
                    <a:lnL w="25400">
                      <a:solidFill>
                        <a:srgbClr val="838383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1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ABS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Injection Molding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2.4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$0.15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$0.15</a:t>
                      </a:r>
                    </a:p>
                  </a:txBody>
                  <a:tcPr marL="50800" marR="50800" marT="50800" marB="50800" anchor="ctr" anchorCtr="0" horzOverflow="overflow">
                    <a:lnR w="25400">
                      <a:solidFill>
                        <a:srgbClr val="838383"/>
                      </a:solidFill>
                      <a:miter lim="400000"/>
                    </a:lnR>
                  </a:tcPr>
                </a:tc>
              </a:tr>
              <a:tr h="910060">
                <a:tc>
                  <a:txBody>
                    <a:bodyPr/>
                    <a:lstStyle/>
                    <a:p>
                      <a:pPr defTabSz="914400"/>
                      <a:r>
                        <a:rPr sz="2800">
                          <a:solidFill>
                            <a:srgbClr val="5E5E5E"/>
                          </a:solidFill>
                        </a:rPr>
                        <a:t>Springs</a:t>
                      </a:r>
                    </a:p>
                  </a:txBody>
                  <a:tcPr marL="50800" marR="50800" marT="50800" marB="50800" anchor="ctr" anchorCtr="0" horzOverflow="overflow">
                    <a:lnL w="25400">
                      <a:solidFill>
                        <a:srgbClr val="838383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2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i="1" sz="2800">
                          <a:solidFill>
                            <a:srgbClr val="929292"/>
                          </a:solidFill>
                        </a:rPr>
                        <a:t>(Purchased)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i="1" sz="2800">
                          <a:solidFill>
                            <a:srgbClr val="929292"/>
                          </a:solidFill>
                        </a:rPr>
                        <a:t>(Purchased)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i="1" sz="2800">
                          <a:solidFill>
                            <a:srgbClr val="929292"/>
                          </a:solidFill>
                        </a:rPr>
                        <a:t>(Purchased)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$0.10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$0.20</a:t>
                      </a:r>
                    </a:p>
                  </a:txBody>
                  <a:tcPr marL="50800" marR="50800" marT="50800" marB="50800" anchor="ctr" anchorCtr="0" horzOverflow="overflow">
                    <a:lnR w="25400">
                      <a:solidFill>
                        <a:srgbClr val="838383"/>
                      </a:solidFill>
                      <a:miter lim="400000"/>
                    </a:lnR>
                  </a:tcPr>
                </a:tc>
              </a:tr>
              <a:tr h="910060">
                <a:tc>
                  <a:txBody>
                    <a:bodyPr/>
                    <a:lstStyle/>
                    <a:p>
                      <a:pPr defTabSz="914400"/>
                      <a:r>
                        <a:rPr sz="2800">
                          <a:solidFill>
                            <a:srgbClr val="5E5E5E"/>
                          </a:solidFill>
                        </a:rPr>
                        <a:t>Screws</a:t>
                      </a:r>
                    </a:p>
                  </a:txBody>
                  <a:tcPr marL="50800" marR="50800" marT="50800" marB="50800" anchor="ctr" anchorCtr="0" horzOverflow="overflow">
                    <a:lnL w="25400">
                      <a:solidFill>
                        <a:srgbClr val="838383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4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i="1" sz="2800">
                          <a:solidFill>
                            <a:srgbClr val="929292"/>
                          </a:solidFill>
                        </a:rPr>
                        <a:t>(Purchased)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i="1" sz="2800">
                          <a:solidFill>
                            <a:srgbClr val="929292"/>
                          </a:solidFill>
                        </a:rPr>
                        <a:t>(Purchased)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i="1" sz="2800">
                          <a:solidFill>
                            <a:srgbClr val="929292"/>
                          </a:solidFill>
                        </a:rPr>
                        <a:t>(Purchased)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$0.10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$0.40</a:t>
                      </a:r>
                    </a:p>
                  </a:txBody>
                  <a:tcPr marL="50800" marR="50800" marT="50800" marB="50800" anchor="ctr" anchorCtr="0" horzOverflow="overflow">
                    <a:lnR w="25400">
                      <a:solidFill>
                        <a:srgbClr val="838383"/>
                      </a:solidFill>
                      <a:miter lim="400000"/>
                    </a:lnR>
                  </a:tcPr>
                </a:tc>
              </a:tr>
              <a:tr h="910060">
                <a:tc>
                  <a:txBody>
                    <a:bodyPr/>
                    <a:lstStyle/>
                    <a:p>
                      <a:pPr defTabSz="914400"/>
                      <a:r>
                        <a:rPr sz="2800">
                          <a:solidFill>
                            <a:srgbClr val="5E5E5E"/>
                          </a:solidFill>
                        </a:rPr>
                        <a:t>Bottom Chassis</a:t>
                      </a:r>
                    </a:p>
                  </a:txBody>
                  <a:tcPr marL="50800" marR="50800" marT="50800" marB="50800" anchor="ctr" anchorCtr="0" horzOverflow="overflow">
                    <a:lnL w="25400">
                      <a:solidFill>
                        <a:srgbClr val="838383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1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ABS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Injection Molding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7.3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$0.35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$0.35</a:t>
                      </a:r>
                    </a:p>
                  </a:txBody>
                  <a:tcPr marL="50800" marR="50800" marT="50800" marB="50800" anchor="ctr" anchorCtr="0" horzOverflow="overflow">
                    <a:lnR w="25400">
                      <a:solidFill>
                        <a:srgbClr val="838383"/>
                      </a:solidFill>
                      <a:miter lim="400000"/>
                    </a:lnR>
                  </a:tcPr>
                </a:tc>
              </a:tr>
              <a:tr h="910060">
                <a:tc>
                  <a:txBody>
                    <a:bodyPr/>
                    <a:lstStyle/>
                    <a:p>
                      <a:pPr defTabSz="914400"/>
                      <a:r>
                        <a:rPr sz="2800">
                          <a:solidFill>
                            <a:srgbClr val="5E5E5E"/>
                          </a:solidFill>
                        </a:rPr>
                        <a:t>Spring Loaded Hinge</a:t>
                      </a:r>
                    </a:p>
                  </a:txBody>
                  <a:tcPr marL="50800" marR="50800" marT="50800" marB="50800" anchor="ctr" anchorCtr="0" horzOverflow="overflow">
                    <a:lnL w="25400">
                      <a:solidFill>
                        <a:srgbClr val="838383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2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i="1" sz="2800">
                          <a:solidFill>
                            <a:srgbClr val="929292"/>
                          </a:solidFill>
                        </a:rPr>
                        <a:t>(Purchased)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i="1" sz="2800">
                          <a:solidFill>
                            <a:srgbClr val="929292"/>
                          </a:solidFill>
                        </a:rPr>
                        <a:t>(Purchased)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i="1" sz="2800">
                          <a:solidFill>
                            <a:srgbClr val="929292"/>
                          </a:solidFill>
                        </a:rPr>
                        <a:t>(Purchased)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$0.10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$0.20</a:t>
                      </a:r>
                    </a:p>
                  </a:txBody>
                  <a:tcPr marL="50800" marR="50800" marT="50800" marB="50800" anchor="ctr" anchorCtr="0" horzOverflow="overflow">
                    <a:lnR w="25400">
                      <a:solidFill>
                        <a:srgbClr val="838383"/>
                      </a:solidFill>
                      <a:miter lim="400000"/>
                    </a:lnR>
                  </a:tcPr>
                </a:tc>
              </a:tr>
              <a:tr h="910060">
                <a:tc>
                  <a:txBody>
                    <a:bodyPr/>
                    <a:lstStyle/>
                    <a:p>
                      <a:pPr defTabSz="914400"/>
                      <a:r>
                        <a:rPr sz="2800">
                          <a:solidFill>
                            <a:srgbClr val="5E5E5E"/>
                          </a:solidFill>
                        </a:rPr>
                        <a:t>Door</a:t>
                      </a:r>
                    </a:p>
                  </a:txBody>
                  <a:tcPr marL="50800" marR="50800" marT="50800" marB="50800" anchor="ctr" anchorCtr="0" horzOverflow="overflow">
                    <a:lnL w="25400">
                      <a:solidFill>
                        <a:srgbClr val="838383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1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ABS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Injection Molding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$1.20</a:t>
                      </a:r>
                    </a:p>
                  </a:txBody>
                  <a:tcPr marL="50800" marR="50800" marT="50800" marB="50800" anchor="ctr" anchorCtr="0" horzOverflow="overflow">
                    <a:lnB w="6350">
                      <a:solidFill>
                        <a:srgbClr val="838383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$1.20</a:t>
                      </a:r>
                    </a:p>
                  </a:txBody>
                  <a:tcPr marL="50800" marR="50800" marT="50800" marB="50800" anchor="ctr" anchorCtr="0" horzOverflow="overflow">
                    <a:lnB w="6350">
                      <a:solidFill>
                        <a:srgbClr val="838383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$1.20</a:t>
                      </a:r>
                    </a:p>
                  </a:txBody>
                  <a:tcPr marL="50800" marR="50800" marT="50800" marB="50800" anchor="ctr" anchorCtr="0" horzOverflow="overflow">
                    <a:lnR w="25400">
                      <a:solidFill>
                        <a:srgbClr val="838383"/>
                      </a:solidFill>
                      <a:miter lim="400000"/>
                    </a:lnR>
                    <a:lnB w="6350">
                      <a:solidFill>
                        <a:srgbClr val="838383"/>
                      </a:solidFill>
                      <a:miter lim="400000"/>
                    </a:lnB>
                  </a:tcPr>
                </a:tc>
              </a:tr>
              <a:tr h="910060">
                <a:tc>
                  <a:txBody>
                    <a:bodyPr/>
                    <a:lstStyle/>
                    <a:p>
                      <a:pPr defTabSz="914400"/>
                      <a:r>
                        <a:rPr sz="2800">
                          <a:solidFill>
                            <a:srgbClr val="5E5E5E"/>
                          </a:solidFill>
                        </a:rPr>
                        <a:t>Door Cover</a:t>
                      </a:r>
                    </a:p>
                  </a:txBody>
                  <a:tcPr marL="50800" marR="50800" marT="50800" marB="50800" anchor="ctr" anchorCtr="0" horzOverflow="overflow">
                    <a:lnL w="25400">
                      <a:solidFill>
                        <a:srgbClr val="838383"/>
                      </a:solidFill>
                      <a:miter lim="400000"/>
                    </a:lnL>
                    <a:lnB w="25400">
                      <a:solidFill>
                        <a:srgbClr val="838383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1</a:t>
                      </a:r>
                    </a:p>
                  </a:txBody>
                  <a:tcPr marL="50800" marR="50800" marT="50800" marB="50800" anchor="ctr" anchorCtr="0" horzOverflow="overflow">
                    <a:lnB w="25400">
                      <a:solidFill>
                        <a:srgbClr val="838383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Aluminum 6061-T6</a:t>
                      </a:r>
                    </a:p>
                  </a:txBody>
                  <a:tcPr marL="50800" marR="50800" marT="50800" marB="50800" anchor="ctr" anchorCtr="0" horzOverflow="overflow">
                    <a:lnB w="25400">
                      <a:solidFill>
                        <a:srgbClr val="838383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Stamping</a:t>
                      </a:r>
                    </a:p>
                  </a:txBody>
                  <a:tcPr marL="50800" marR="50800" marT="50800" marB="50800" anchor="ctr" anchorCtr="0" horzOverflow="overflow">
                    <a:lnB w="25400">
                      <a:solidFill>
                        <a:srgbClr val="838383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$0.15</a:t>
                      </a:r>
                    </a:p>
                  </a:txBody>
                  <a:tcPr marL="50800" marR="50800" marT="50800" marB="50800" anchor="ctr" anchorCtr="0" horzOverflow="overflow">
                    <a:lnT w="6350">
                      <a:solidFill>
                        <a:srgbClr val="838383"/>
                      </a:solidFill>
                      <a:miter lim="400000"/>
                    </a:lnT>
                    <a:lnB w="25400">
                      <a:solidFill>
                        <a:srgbClr val="838383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$0.15</a:t>
                      </a:r>
                    </a:p>
                  </a:txBody>
                  <a:tcPr marL="50800" marR="50800" marT="50800" marB="50800" anchor="ctr" anchorCtr="0" horzOverflow="overflow">
                    <a:lnT w="6350">
                      <a:solidFill>
                        <a:srgbClr val="838383"/>
                      </a:solidFill>
                      <a:miter lim="400000"/>
                    </a:lnT>
                    <a:lnB w="25400">
                      <a:solidFill>
                        <a:srgbClr val="838383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$0.15</a:t>
                      </a:r>
                    </a:p>
                  </a:txBody>
                  <a:tcPr marL="50800" marR="50800" marT="50800" marB="50800" anchor="ctr" anchorCtr="0" horzOverflow="overflow">
                    <a:lnR w="25400">
                      <a:solidFill>
                        <a:srgbClr val="838383"/>
                      </a:solidFill>
                      <a:miter lim="400000"/>
                    </a:lnR>
                    <a:lnT w="6350">
                      <a:solidFill>
                        <a:srgbClr val="838383"/>
                      </a:solidFill>
                      <a:miter lim="400000"/>
                    </a:lnT>
                    <a:lnB w="25400">
                      <a:solidFill>
                        <a:srgbClr val="838383"/>
                      </a:solidFill>
                      <a:miter lim="400000"/>
                    </a:lnB>
                  </a:tcPr>
                </a:tc>
              </a:tr>
              <a:tr h="910060">
                <a:tc>
                  <a:txBody>
                    <a:bodyPr/>
                    <a:lstStyle/>
                    <a:p>
                      <a:pPr defTabSz="914400">
                        <a:defRPr sz="2800">
                          <a:solidFill>
                            <a:srgbClr val="5E5E5E"/>
                          </a:solidFill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0">
                      <a:miter lim="400000"/>
                    </a:lnL>
                    <a:lnR w="0">
                      <a:miter lim="400000"/>
                    </a:lnR>
                    <a:lnT w="25400">
                      <a:solidFill>
                        <a:srgbClr val="838383"/>
                      </a:solidFill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  <a:defRPr sz="2800">
                          <a:solidFill>
                            <a:srgbClr val="5E5E5E"/>
                          </a:solidFill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0">
                      <a:miter lim="400000"/>
                    </a:lnL>
                    <a:lnR w="0">
                      <a:miter lim="400000"/>
                    </a:lnR>
                    <a:lnT w="25400">
                      <a:solidFill>
                        <a:srgbClr val="838383"/>
                      </a:solidFill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  <a:defRPr sz="2800">
                          <a:solidFill>
                            <a:srgbClr val="5E5E5E"/>
                          </a:solidFill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0">
                      <a:miter lim="400000"/>
                    </a:lnL>
                    <a:lnR w="0">
                      <a:miter lim="400000"/>
                    </a:lnR>
                    <a:lnT w="25400">
                      <a:solidFill>
                        <a:srgbClr val="838383"/>
                      </a:solidFill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  <a:defRPr sz="2800">
                          <a:solidFill>
                            <a:srgbClr val="5E5E5E"/>
                          </a:solidFill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0">
                      <a:miter lim="400000"/>
                    </a:lnL>
                    <a:lnR w="0">
                      <a:miter lim="400000"/>
                    </a:lnR>
                    <a:lnT w="25400">
                      <a:solidFill>
                        <a:srgbClr val="838383"/>
                      </a:solidFill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  <a:defRPr b="1" sz="2800">
                          <a:solidFill>
                            <a:srgbClr val="5E5E5E"/>
                          </a:solidFill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0">
                      <a:miter lim="400000"/>
                    </a:lnL>
                    <a:lnR w="25400">
                      <a:solidFill>
                        <a:srgbClr val="838383"/>
                      </a:solidFill>
                      <a:miter lim="400000"/>
                    </a:lnR>
                    <a:lnT w="25400">
                      <a:solidFill>
                        <a:srgbClr val="838383"/>
                      </a:solidFill>
                      <a:miter lim="400000"/>
                    </a:lnT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b="1" sz="2800">
                          <a:solidFill>
                            <a:srgbClr val="5E5E5E"/>
                          </a:solidFill>
                        </a:rPr>
                        <a:t>Total</a:t>
                      </a:r>
                    </a:p>
                  </a:txBody>
                  <a:tcPr marL="50800" marR="50800" marT="50800" marB="50800" anchor="ctr" anchorCtr="0" horzOverflow="overflow">
                    <a:lnL w="25400">
                      <a:solidFill>
                        <a:srgbClr val="838383"/>
                      </a:solidFill>
                      <a:miter lim="400000"/>
                    </a:lnL>
                    <a:lnR w="25400">
                      <a:solidFill>
                        <a:srgbClr val="838383"/>
                      </a:solidFill>
                      <a:miter lim="400000"/>
                    </a:lnR>
                    <a:lnT w="25400">
                      <a:solidFill>
                        <a:srgbClr val="838383"/>
                      </a:solidFill>
                      <a:miter lim="400000"/>
                    </a:lnT>
                    <a:lnB w="25400">
                      <a:solidFill>
                        <a:srgbClr val="838383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$3.20</a:t>
                      </a:r>
                    </a:p>
                  </a:txBody>
                  <a:tcPr marL="50800" marR="50800" marT="50800" marB="50800" anchor="ctr" anchorCtr="0" horzOverflow="overflow">
                    <a:lnL w="25400">
                      <a:solidFill>
                        <a:srgbClr val="838383"/>
                      </a:solidFill>
                      <a:miter lim="400000"/>
                    </a:lnL>
                    <a:lnR w="25400">
                      <a:solidFill>
                        <a:srgbClr val="838383"/>
                      </a:solidFill>
                      <a:miter lim="400000"/>
                    </a:lnR>
                    <a:lnT w="25400">
                      <a:solidFill>
                        <a:srgbClr val="838383"/>
                      </a:solidFill>
                      <a:miter lim="400000"/>
                    </a:lnT>
                    <a:lnB w="25400">
                      <a:solidFill>
                        <a:srgbClr val="838383"/>
                      </a:solidFill>
                      <a:miter lim="400000"/>
                    </a:lnB>
                  </a:tcPr>
                </a:tc>
              </a:tr>
            </a:tbl>
          </a:graphicData>
        </a:graphic>
      </p:graphicFrame>
      <p:sp>
        <p:nvSpPr>
          <p:cNvPr id="327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28" name="* Remaining components assumed out-of-scope"/>
          <p:cNvSpPr txBox="1"/>
          <p:nvPr/>
        </p:nvSpPr>
        <p:spPr>
          <a:xfrm>
            <a:off x="16871957" y="2053083"/>
            <a:ext cx="6731814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* Remaining components assumed out-of-scope</a:t>
            </a:r>
          </a:p>
        </p:txBody>
      </p:sp>
      <p:sp>
        <p:nvSpPr>
          <p:cNvPr id="329" name="Rotating Snap Fit Bill of Materials"/>
          <p:cNvSpPr txBox="1"/>
          <p:nvPr/>
        </p:nvSpPr>
        <p:spPr>
          <a:xfrm>
            <a:off x="1206500" y="825500"/>
            <a:ext cx="21971000" cy="14349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algn="l">
              <a:lnSpc>
                <a:spcPct val="80000"/>
              </a:lnSpc>
              <a:defRPr b="1" spc="-152" sz="7600">
                <a:solidFill>
                  <a:srgbClr val="000000"/>
                </a:solidFill>
              </a:defRPr>
            </a:lvl1pPr>
          </a:lstStyle>
          <a:p>
            <a:pPr/>
            <a:r>
              <a:t>Rotating Snap Fit Bill of Materials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1" name="Table 1"/>
          <p:cNvGraphicFramePr/>
          <p:nvPr/>
        </p:nvGraphicFramePr>
        <p:xfrm>
          <a:off x="744037" y="2680898"/>
          <a:ext cx="22921326" cy="10005052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{EEE7283C-3CF3-47DC-8721-378D4A62B228}</a:tableStyleId>
              </a:tblPr>
              <a:tblGrid>
                <a:gridCol w="3813216"/>
                <a:gridCol w="3816541"/>
                <a:gridCol w="3816541"/>
                <a:gridCol w="3816541"/>
                <a:gridCol w="3816541"/>
                <a:gridCol w="3816541"/>
              </a:tblGrid>
              <a:tr h="500674">
                <a:tc rowSpan="2">
                  <a:txBody>
                    <a:bodyPr/>
                    <a:lstStyle/>
                    <a:p>
                      <a:pPr marL="482600" marR="508000" indent="-292100" algn="l" defTabSz="914400">
                        <a:lnSpc>
                          <a:spcPct val="120000"/>
                        </a:lnSpc>
                        <a:defRPr b="1" sz="2800">
                          <a:solidFill>
                            <a:srgbClr val="5E5E5E"/>
                          </a:solidFill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0">
                      <a:miter lim="400000"/>
                    </a:lnL>
                    <a:lnR w="0">
                      <a:miter lim="400000"/>
                    </a:lnR>
                    <a:lnT w="0">
                      <a:miter lim="400000"/>
                    </a:lnT>
                    <a:lnB w="25400">
                      <a:solidFill>
                        <a:srgbClr val="838383"/>
                      </a:solidFill>
                      <a:miter lim="400000"/>
                    </a:lnB>
                  </a:tcPr>
                </a:tc>
                <a:tc rowSpan="2">
                  <a:txBody>
                    <a:bodyPr/>
                    <a:lstStyle/>
                    <a:p>
                      <a:pPr defTabSz="914400">
                        <a:defRPr b="1" sz="2800">
                          <a:solidFill>
                            <a:srgbClr val="5E5E5E"/>
                          </a:solidFill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0">
                      <a:miter lim="400000"/>
                    </a:lnL>
                    <a:lnR w="25400">
                      <a:solidFill>
                        <a:srgbClr val="838383"/>
                      </a:solidFill>
                      <a:miter lim="400000"/>
                    </a:lnR>
                    <a:lnT w="0">
                      <a:miter lim="400000"/>
                    </a:lnT>
                    <a:lnB w="25400">
                      <a:solidFill>
                        <a:srgbClr val="838383"/>
                      </a:solidFill>
                      <a:miter lim="400000"/>
                    </a:lnB>
                  </a:tcPr>
                </a:tc>
                <a:tc gridSpan="2">
                  <a:txBody>
                    <a:bodyPr/>
                    <a:lstStyle/>
                    <a:p>
                      <a:pPr defTabSz="914400"/>
                      <a:r>
                        <a:rPr b="1" sz="2800">
                          <a:solidFill>
                            <a:srgbClr val="5E5E5E"/>
                          </a:solidFill>
                        </a:rPr>
                        <a:t>Design 1: Sliding Snap Fit</a:t>
                      </a:r>
                    </a:p>
                  </a:txBody>
                  <a:tcPr marL="50800" marR="50800" marT="50800" marB="50800" anchor="ctr" anchorCtr="0" horzOverflow="overflow">
                    <a:lnL w="25400">
                      <a:solidFill>
                        <a:srgbClr val="838383"/>
                      </a:solidFill>
                      <a:miter lim="400000"/>
                    </a:lnL>
                    <a:lnR w="25400">
                      <a:solidFill>
                        <a:srgbClr val="838383"/>
                      </a:solidFill>
                      <a:miter lim="400000"/>
                    </a:lnR>
                    <a:lnT w="25400">
                      <a:solidFill>
                        <a:srgbClr val="838383"/>
                      </a:solidFill>
                      <a:miter lim="400000"/>
                    </a:lnT>
                    <a:lnB w="0">
                      <a:miter lim="400000"/>
                    </a:lnB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defTabSz="914400"/>
                      <a:r>
                        <a:rPr b="1" sz="2800">
                          <a:solidFill>
                            <a:srgbClr val="5E5E5E"/>
                          </a:solidFill>
                        </a:rPr>
                        <a:t>Design 2: Rotating Snap fit</a:t>
                      </a:r>
                    </a:p>
                  </a:txBody>
                  <a:tcPr marL="50800" marR="50800" marT="50800" marB="50800" anchor="ctr" anchorCtr="0" horzOverflow="overflow">
                    <a:lnL w="25400">
                      <a:solidFill>
                        <a:srgbClr val="838383"/>
                      </a:solidFill>
                      <a:miter lim="400000"/>
                    </a:lnL>
                    <a:lnR w="25400">
                      <a:solidFill>
                        <a:srgbClr val="838383"/>
                      </a:solidFill>
                      <a:miter lim="400000"/>
                    </a:lnR>
                    <a:lnT w="25400">
                      <a:solidFill>
                        <a:srgbClr val="838383"/>
                      </a:solidFill>
                      <a:miter lim="400000"/>
                    </a:lnT>
                    <a:lnB w="0">
                      <a:miter lim="400000"/>
                    </a:lnB>
                  </a:tcPr>
                </a:tc>
                <a:tc hMerge="1">
                  <a:tcPr/>
                </a:tc>
              </a:tr>
              <a:tr h="2786357">
                <a:tc vMerge="1">
                  <a:tcPr/>
                </a:tc>
                <a:tc vMerge="1">
                  <a:tcPr/>
                </a:tc>
                <a:tc gridSpan="2">
                  <a:txBody>
                    <a:bodyPr/>
                    <a:lstStyle/>
                    <a:p>
                      <a:pPr marL="482600" marR="508000" indent="-292100" algn="l" defTabSz="914400">
                        <a:lnSpc>
                          <a:spcPct val="120000"/>
                        </a:lnSpc>
                        <a:defRPr b="1" sz="2800">
                          <a:solidFill>
                            <a:srgbClr val="5E5E5E"/>
                          </a:solidFill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25400">
                      <a:solidFill>
                        <a:srgbClr val="838383"/>
                      </a:solidFill>
                      <a:miter lim="400000"/>
                    </a:lnL>
                    <a:lnR w="25400">
                      <a:solidFill>
                        <a:srgbClr val="838383"/>
                      </a:solidFill>
                      <a:miter lim="400000"/>
                    </a:lnR>
                    <a:lnT w="0">
                      <a:miter lim="400000"/>
                    </a:lnT>
                    <a:lnB w="25400">
                      <a:solidFill>
                        <a:srgbClr val="838383"/>
                      </a:solidFill>
                      <a:miter lim="400000"/>
                    </a:lnB>
                    <a:blipFill rotWithShape="1">
                      <a:blip r:embed="rId2"/>
                      <a:srcRect l="0" t="0" r="0" b="0"/>
                      <a:stretch>
                        <a:fillRect/>
                      </a:stretch>
                    </a:blip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marL="482600" marR="508000" indent="-292100" algn="l" defTabSz="914400">
                        <a:lnSpc>
                          <a:spcPct val="120000"/>
                        </a:lnSpc>
                        <a:defRPr b="1" sz="2800">
                          <a:solidFill>
                            <a:srgbClr val="5E5E5E"/>
                          </a:solidFill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25400">
                      <a:solidFill>
                        <a:srgbClr val="838383"/>
                      </a:solidFill>
                      <a:miter lim="400000"/>
                    </a:lnL>
                    <a:lnR w="25400">
                      <a:solidFill>
                        <a:srgbClr val="838383"/>
                      </a:solidFill>
                      <a:miter lim="400000"/>
                    </a:lnR>
                    <a:lnT w="0">
                      <a:miter lim="400000"/>
                    </a:lnT>
                    <a:lnB w="25400">
                      <a:solidFill>
                        <a:srgbClr val="838383"/>
                      </a:solidFill>
                      <a:miter lim="400000"/>
                    </a:lnB>
                    <a:blipFill rotWithShape="1">
                      <a:blip r:embed="rId3"/>
                      <a:srcRect l="0" t="0" r="0" b="0"/>
                      <a:stretch>
                        <a:fillRect/>
                      </a:stretch>
                    </a:blipFill>
                  </a:tcPr>
                </a:tc>
                <a:tc hMerge="1">
                  <a:tcPr/>
                </a:tc>
              </a:tr>
              <a:tr h="836577">
                <a:tc>
                  <a:txBody>
                    <a:bodyPr/>
                    <a:lstStyle/>
                    <a:p>
                      <a:pPr defTabSz="914400"/>
                      <a:r>
                        <a:rPr b="1" sz="2800">
                          <a:solidFill>
                            <a:srgbClr val="5E5E5E"/>
                          </a:solidFill>
                        </a:rPr>
                        <a:t>Criterion</a:t>
                      </a:r>
                    </a:p>
                  </a:txBody>
                  <a:tcPr marL="50800" marR="50800" marT="50800" marB="50800" anchor="ctr" anchorCtr="0" horzOverflow="overflow">
                    <a:lnL w="25400">
                      <a:solidFill>
                        <a:srgbClr val="838383"/>
                      </a:solidFill>
                      <a:miter lim="400000"/>
                    </a:lnL>
                    <a:lnR w="25400">
                      <a:solidFill>
                        <a:srgbClr val="838383"/>
                      </a:solidFill>
                      <a:miter lim="400000"/>
                    </a:lnR>
                    <a:lnT w="25400">
                      <a:solidFill>
                        <a:srgbClr val="838383"/>
                      </a:solidFill>
                      <a:miter lim="400000"/>
                    </a:lnT>
                    <a:lnB w="25400">
                      <a:solidFill>
                        <a:srgbClr val="5E5E5E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482600" marR="508000" indent="-292100" defTabSz="914400">
                        <a:lnSpc>
                          <a:spcPct val="120000"/>
                        </a:lnSpc>
                      </a:pPr>
                      <a:r>
                        <a:rPr b="1" sz="2800">
                          <a:solidFill>
                            <a:srgbClr val="5E5E5E"/>
                          </a:solidFill>
                        </a:rPr>
                        <a:t>Weight</a:t>
                      </a:r>
                    </a:p>
                  </a:txBody>
                  <a:tcPr marL="50800" marR="50800" marT="50800" marB="50800" anchor="ctr" anchorCtr="0" horzOverflow="overflow">
                    <a:lnL w="25400">
                      <a:solidFill>
                        <a:srgbClr val="838383"/>
                      </a:solidFill>
                      <a:miter lim="400000"/>
                    </a:lnL>
                    <a:lnR w="25400">
                      <a:solidFill>
                        <a:srgbClr val="838383"/>
                      </a:solidFill>
                      <a:miter lim="400000"/>
                    </a:lnR>
                    <a:lnT w="25400">
                      <a:solidFill>
                        <a:srgbClr val="838383"/>
                      </a:solidFill>
                      <a:miter lim="400000"/>
                    </a:lnT>
                    <a:lnB w="25400">
                      <a:solidFill>
                        <a:srgbClr val="838383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482600" marR="508000" indent="-292100" defTabSz="914400">
                        <a:lnSpc>
                          <a:spcPct val="120000"/>
                        </a:lnSpc>
                      </a:pPr>
                      <a:r>
                        <a:rPr b="1" sz="2800">
                          <a:solidFill>
                            <a:srgbClr val="5E5E5E"/>
                          </a:solidFill>
                        </a:rPr>
                        <a:t>Rating</a:t>
                      </a:r>
                    </a:p>
                  </a:txBody>
                  <a:tcPr marL="50800" marR="50800" marT="50800" marB="50800" anchor="ctr" anchorCtr="0" horzOverflow="overflow">
                    <a:lnL w="25400">
                      <a:solidFill>
                        <a:srgbClr val="838383"/>
                      </a:solidFill>
                      <a:miter lim="400000"/>
                    </a:lnL>
                    <a:lnT w="25400">
                      <a:solidFill>
                        <a:srgbClr val="838383"/>
                      </a:solidFill>
                      <a:miter lim="400000"/>
                    </a:lnT>
                    <a:lnB w="25400">
                      <a:solidFill>
                        <a:srgbClr val="838383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482600" marR="508000" indent="-292100" defTabSz="914400">
                        <a:lnSpc>
                          <a:spcPct val="120000"/>
                        </a:lnSpc>
                      </a:pPr>
                      <a:r>
                        <a:rPr b="1" sz="2800">
                          <a:solidFill>
                            <a:srgbClr val="5E5E5E"/>
                          </a:solidFill>
                        </a:rPr>
                        <a:t>Weighted Score</a:t>
                      </a:r>
                    </a:p>
                  </a:txBody>
                  <a:tcPr marL="50800" marR="50800" marT="50800" marB="50800" anchor="ctr" anchorCtr="0" horzOverflow="overflow">
                    <a:lnR w="25400">
                      <a:solidFill>
                        <a:srgbClr val="838383"/>
                      </a:solidFill>
                      <a:miter lim="400000"/>
                    </a:lnR>
                    <a:lnT w="25400">
                      <a:solidFill>
                        <a:srgbClr val="838383"/>
                      </a:solidFill>
                      <a:miter lim="400000"/>
                    </a:lnT>
                    <a:lnB w="25400">
                      <a:solidFill>
                        <a:srgbClr val="838383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482600" marR="508000" indent="-292100" defTabSz="914400">
                        <a:lnSpc>
                          <a:spcPct val="120000"/>
                        </a:lnSpc>
                      </a:pPr>
                      <a:r>
                        <a:rPr b="1" sz="2800">
                          <a:solidFill>
                            <a:srgbClr val="5E5E5E"/>
                          </a:solidFill>
                        </a:rPr>
                        <a:t>Rating</a:t>
                      </a:r>
                    </a:p>
                  </a:txBody>
                  <a:tcPr marL="50800" marR="50800" marT="50800" marB="50800" anchor="ctr" anchorCtr="0" horzOverflow="overflow">
                    <a:lnL w="25400">
                      <a:solidFill>
                        <a:srgbClr val="838383"/>
                      </a:solidFill>
                      <a:miter lim="400000"/>
                    </a:lnL>
                    <a:lnT w="25400">
                      <a:solidFill>
                        <a:srgbClr val="838383"/>
                      </a:solidFill>
                      <a:miter lim="400000"/>
                    </a:lnT>
                    <a:lnB w="25400">
                      <a:solidFill>
                        <a:srgbClr val="838383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482600" marR="508000" indent="-292100" defTabSz="914400">
                        <a:lnSpc>
                          <a:spcPct val="120000"/>
                        </a:lnSpc>
                      </a:pPr>
                      <a:r>
                        <a:rPr b="1" sz="2800">
                          <a:solidFill>
                            <a:srgbClr val="5E5E5E"/>
                          </a:solidFill>
                        </a:rPr>
                        <a:t>Weighted Score</a:t>
                      </a:r>
                    </a:p>
                  </a:txBody>
                  <a:tcPr marL="50800" marR="50800" marT="50800" marB="50800" anchor="ctr" anchorCtr="0" horzOverflow="overflow">
                    <a:lnR w="25400">
                      <a:solidFill>
                        <a:srgbClr val="838383"/>
                      </a:solidFill>
                      <a:miter lim="400000"/>
                    </a:lnR>
                    <a:lnT w="25400">
                      <a:solidFill>
                        <a:srgbClr val="838383"/>
                      </a:solidFill>
                      <a:miter lim="400000"/>
                    </a:lnT>
                    <a:lnB w="25400">
                      <a:solidFill>
                        <a:srgbClr val="838383"/>
                      </a:solidFill>
                      <a:miter lim="400000"/>
                    </a:lnB>
                  </a:tcPr>
                </a:tc>
              </a:tr>
              <a:tr h="836577">
                <a:tc>
                  <a:txBody>
                    <a:bodyPr/>
                    <a:lstStyle/>
                    <a:p>
                      <a:pPr defTabSz="914400"/>
                      <a:r>
                        <a:rPr sz="2800">
                          <a:solidFill>
                            <a:srgbClr val="5E5E5E"/>
                          </a:solidFill>
                        </a:rPr>
                        <a:t>Effectiveness</a:t>
                      </a:r>
                    </a:p>
                  </a:txBody>
                  <a:tcPr marL="50800" marR="50800" marT="50800" marB="50800" anchor="ctr" anchorCtr="0" horzOverflow="overflow">
                    <a:lnL w="25400">
                      <a:solidFill>
                        <a:srgbClr val="5E5E5E"/>
                      </a:solidFill>
                      <a:miter lim="400000"/>
                    </a:lnL>
                    <a:lnR w="25400">
                      <a:solidFill>
                        <a:srgbClr val="5E5E5E"/>
                      </a:solidFill>
                      <a:miter lim="400000"/>
                    </a:lnR>
                    <a:lnT w="25400">
                      <a:solidFill>
                        <a:srgbClr val="5E5E5E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marL="482600" marR="508000" indent="-292100"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5</a:t>
                      </a:r>
                    </a:p>
                  </a:txBody>
                  <a:tcPr marL="50800" marR="50800" marT="50800" marB="50800" anchor="ctr" anchorCtr="0" horzOverflow="overflow">
                    <a:lnL w="25400">
                      <a:solidFill>
                        <a:srgbClr val="5E5E5E"/>
                      </a:solidFill>
                      <a:miter lim="400000"/>
                    </a:lnL>
                    <a:lnR w="25400">
                      <a:solidFill>
                        <a:srgbClr val="838383"/>
                      </a:solidFill>
                      <a:miter lim="400000"/>
                    </a:lnR>
                    <a:lnT w="25400">
                      <a:solidFill>
                        <a:srgbClr val="838383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marL="482600" marR="508000" indent="-292100"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4</a:t>
                      </a:r>
                    </a:p>
                  </a:txBody>
                  <a:tcPr marL="50800" marR="50800" marT="50800" marB="50800" anchor="ctr" anchorCtr="0" horzOverflow="overflow">
                    <a:lnL w="25400">
                      <a:solidFill>
                        <a:srgbClr val="838383"/>
                      </a:solidFill>
                      <a:miter lim="400000"/>
                    </a:lnL>
                    <a:lnT w="25400">
                      <a:solidFill>
                        <a:srgbClr val="838383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marL="482600" marR="508000" indent="-292100"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20</a:t>
                      </a:r>
                    </a:p>
                  </a:txBody>
                  <a:tcPr marL="50800" marR="50800" marT="50800" marB="50800" anchor="ctr" anchorCtr="0" horzOverflow="overflow">
                    <a:lnR w="25400">
                      <a:solidFill>
                        <a:srgbClr val="838383"/>
                      </a:solidFill>
                      <a:miter lim="400000"/>
                    </a:lnR>
                    <a:lnT w="25400">
                      <a:solidFill>
                        <a:srgbClr val="838383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marL="482600" marR="508000" indent="-292100"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3</a:t>
                      </a:r>
                    </a:p>
                  </a:txBody>
                  <a:tcPr marL="50800" marR="50800" marT="50800" marB="50800" anchor="ctr" anchorCtr="0" horzOverflow="overflow">
                    <a:lnL w="25400">
                      <a:solidFill>
                        <a:srgbClr val="838383"/>
                      </a:solidFill>
                      <a:miter lim="400000"/>
                    </a:lnL>
                    <a:lnT w="25400">
                      <a:solidFill>
                        <a:srgbClr val="838383"/>
                      </a:solidFill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marL="482600" marR="508000" indent="-292100"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15</a:t>
                      </a:r>
                    </a:p>
                  </a:txBody>
                  <a:tcPr marL="50800" marR="50800" marT="50800" marB="50800" anchor="ctr" anchorCtr="0" horzOverflow="overflow">
                    <a:lnR w="25400">
                      <a:solidFill>
                        <a:srgbClr val="838383"/>
                      </a:solidFill>
                      <a:miter lim="400000"/>
                    </a:lnR>
                    <a:lnT w="25400">
                      <a:solidFill>
                        <a:srgbClr val="838383"/>
                      </a:solidFill>
                      <a:miter lim="400000"/>
                    </a:lnT>
                  </a:tcPr>
                </a:tc>
              </a:tr>
              <a:tr h="836577">
                <a:tc>
                  <a:txBody>
                    <a:bodyPr/>
                    <a:lstStyle/>
                    <a:p>
                      <a:pPr defTabSz="914400"/>
                      <a:r>
                        <a:rPr sz="2800">
                          <a:solidFill>
                            <a:srgbClr val="5E5E5E"/>
                          </a:solidFill>
                        </a:rPr>
                        <a:t>User Experience</a:t>
                      </a:r>
                    </a:p>
                  </a:txBody>
                  <a:tcPr marL="50800" marR="50800" marT="50800" marB="50800" anchor="ctr" anchorCtr="0" horzOverflow="overflow">
                    <a:lnL w="25400">
                      <a:solidFill>
                        <a:srgbClr val="5E5E5E"/>
                      </a:solidFill>
                      <a:miter lim="400000"/>
                    </a:lnL>
                    <a:lnR w="25400">
                      <a:solidFill>
                        <a:srgbClr val="5E5E5E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482600" marR="508000" indent="-292100"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4</a:t>
                      </a:r>
                    </a:p>
                  </a:txBody>
                  <a:tcPr marL="50800" marR="50800" marT="50800" marB="50800" anchor="ctr" anchorCtr="0" horzOverflow="overflow">
                    <a:lnL w="25400">
                      <a:solidFill>
                        <a:srgbClr val="5E5E5E"/>
                      </a:solidFill>
                      <a:miter lim="400000"/>
                    </a:lnL>
                    <a:lnR w="25400">
                      <a:solidFill>
                        <a:srgbClr val="838383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482600" marR="508000" indent="-292100"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4</a:t>
                      </a:r>
                    </a:p>
                  </a:txBody>
                  <a:tcPr marL="50800" marR="50800" marT="50800" marB="50800" anchor="ctr" anchorCtr="0" horzOverflow="overflow">
                    <a:lnL w="25400">
                      <a:solidFill>
                        <a:srgbClr val="838383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marL="482600" marR="508000" indent="-292100"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16</a:t>
                      </a:r>
                    </a:p>
                  </a:txBody>
                  <a:tcPr marL="50800" marR="50800" marT="50800" marB="50800" anchor="ctr" anchorCtr="0" horzOverflow="overflow">
                    <a:lnR w="25400">
                      <a:solidFill>
                        <a:srgbClr val="838383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482600" marR="508000" indent="-292100"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3</a:t>
                      </a:r>
                    </a:p>
                  </a:txBody>
                  <a:tcPr marL="50800" marR="50800" marT="50800" marB="50800" anchor="ctr" anchorCtr="0" horzOverflow="overflow">
                    <a:lnL w="25400">
                      <a:solidFill>
                        <a:srgbClr val="838383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marL="482600" marR="508000" indent="-292100"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12</a:t>
                      </a:r>
                    </a:p>
                  </a:txBody>
                  <a:tcPr marL="50800" marR="50800" marT="50800" marB="50800" anchor="ctr" anchorCtr="0" horzOverflow="overflow">
                    <a:lnR w="25400">
                      <a:solidFill>
                        <a:srgbClr val="838383"/>
                      </a:solidFill>
                      <a:miter lim="400000"/>
                    </a:lnR>
                  </a:tcPr>
                </a:tc>
              </a:tr>
              <a:tr h="836577">
                <a:tc>
                  <a:txBody>
                    <a:bodyPr/>
                    <a:lstStyle/>
                    <a:p>
                      <a:pPr defTabSz="914400"/>
                      <a:r>
                        <a:rPr sz="2800">
                          <a:solidFill>
                            <a:srgbClr val="5E5E5E"/>
                          </a:solidFill>
                        </a:rPr>
                        <a:t>Manufacturability</a:t>
                      </a:r>
                    </a:p>
                  </a:txBody>
                  <a:tcPr marL="50800" marR="50800" marT="50800" marB="50800" anchor="ctr" anchorCtr="0" horzOverflow="overflow">
                    <a:lnL w="25400">
                      <a:solidFill>
                        <a:srgbClr val="5E5E5E"/>
                      </a:solidFill>
                      <a:miter lim="400000"/>
                    </a:lnL>
                    <a:lnR w="25400">
                      <a:solidFill>
                        <a:srgbClr val="5E5E5E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482600" marR="508000" indent="-292100"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4</a:t>
                      </a:r>
                    </a:p>
                  </a:txBody>
                  <a:tcPr marL="50800" marR="50800" marT="50800" marB="50800" anchor="ctr" anchorCtr="0" horzOverflow="overflow">
                    <a:lnL w="25400">
                      <a:solidFill>
                        <a:srgbClr val="5E5E5E"/>
                      </a:solidFill>
                      <a:miter lim="400000"/>
                    </a:lnL>
                    <a:lnR w="25400">
                      <a:solidFill>
                        <a:srgbClr val="838383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482600" marR="508000" indent="-292100"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3</a:t>
                      </a:r>
                    </a:p>
                  </a:txBody>
                  <a:tcPr marL="50800" marR="50800" marT="50800" marB="50800" anchor="ctr" anchorCtr="0" horzOverflow="overflow">
                    <a:lnL w="25400">
                      <a:solidFill>
                        <a:srgbClr val="838383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marL="482600" marR="508000" indent="-292100"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12</a:t>
                      </a:r>
                    </a:p>
                  </a:txBody>
                  <a:tcPr marL="50800" marR="50800" marT="50800" marB="50800" anchor="ctr" anchorCtr="0" horzOverflow="overflow">
                    <a:lnR w="25400">
                      <a:solidFill>
                        <a:srgbClr val="838383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482600" marR="508000" indent="-292100"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3</a:t>
                      </a:r>
                    </a:p>
                  </a:txBody>
                  <a:tcPr marL="50800" marR="50800" marT="50800" marB="50800" anchor="ctr" anchorCtr="0" horzOverflow="overflow">
                    <a:lnL w="25400">
                      <a:solidFill>
                        <a:srgbClr val="838383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marL="482600" marR="508000" indent="-292100"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12</a:t>
                      </a:r>
                    </a:p>
                  </a:txBody>
                  <a:tcPr marL="50800" marR="50800" marT="50800" marB="50800" anchor="ctr" anchorCtr="0" horzOverflow="overflow">
                    <a:lnR w="25400">
                      <a:solidFill>
                        <a:srgbClr val="838383"/>
                      </a:solidFill>
                      <a:miter lim="400000"/>
                    </a:lnR>
                  </a:tcPr>
                </a:tc>
              </a:tr>
              <a:tr h="836577">
                <a:tc>
                  <a:txBody>
                    <a:bodyPr/>
                    <a:lstStyle/>
                    <a:p>
                      <a:pPr defTabSz="914400"/>
                      <a:r>
                        <a:rPr sz="2800">
                          <a:solidFill>
                            <a:srgbClr val="5E5E5E"/>
                          </a:solidFill>
                        </a:rPr>
                        <a:t>Ease of Assembly</a:t>
                      </a:r>
                    </a:p>
                  </a:txBody>
                  <a:tcPr marL="50800" marR="50800" marT="50800" marB="50800" anchor="ctr" anchorCtr="0" horzOverflow="overflow">
                    <a:lnL w="25400">
                      <a:solidFill>
                        <a:srgbClr val="5E5E5E"/>
                      </a:solidFill>
                      <a:miter lim="400000"/>
                    </a:lnL>
                    <a:lnR w="25400">
                      <a:solidFill>
                        <a:srgbClr val="5E5E5E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482600" marR="508000" indent="-292100"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4</a:t>
                      </a:r>
                    </a:p>
                  </a:txBody>
                  <a:tcPr marL="50800" marR="50800" marT="50800" marB="50800" anchor="ctr" anchorCtr="0" horzOverflow="overflow">
                    <a:lnL w="25400">
                      <a:solidFill>
                        <a:srgbClr val="5E5E5E"/>
                      </a:solidFill>
                      <a:miter lim="400000"/>
                    </a:lnL>
                    <a:lnR w="25400">
                      <a:solidFill>
                        <a:srgbClr val="838383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482600" marR="508000" indent="-292100"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3</a:t>
                      </a:r>
                    </a:p>
                  </a:txBody>
                  <a:tcPr marL="50800" marR="50800" marT="50800" marB="50800" anchor="ctr" anchorCtr="0" horzOverflow="overflow">
                    <a:lnL w="25400">
                      <a:solidFill>
                        <a:srgbClr val="838383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marL="482600" marR="508000" indent="-292100"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12</a:t>
                      </a:r>
                    </a:p>
                  </a:txBody>
                  <a:tcPr marL="50800" marR="50800" marT="50800" marB="50800" anchor="ctr" anchorCtr="0" horzOverflow="overflow">
                    <a:lnR w="25400">
                      <a:solidFill>
                        <a:srgbClr val="838383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482600" marR="508000" indent="-292100"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3</a:t>
                      </a:r>
                    </a:p>
                  </a:txBody>
                  <a:tcPr marL="50800" marR="50800" marT="50800" marB="50800" anchor="ctr" anchorCtr="0" horzOverflow="overflow">
                    <a:lnL w="25400">
                      <a:solidFill>
                        <a:srgbClr val="838383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marL="482600" marR="508000" indent="-292100"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12</a:t>
                      </a:r>
                    </a:p>
                  </a:txBody>
                  <a:tcPr marL="50800" marR="50800" marT="50800" marB="50800" anchor="ctr" anchorCtr="0" horzOverflow="overflow">
                    <a:lnR w="25400">
                      <a:solidFill>
                        <a:srgbClr val="838383"/>
                      </a:solidFill>
                      <a:miter lim="400000"/>
                    </a:lnR>
                  </a:tcPr>
                </a:tc>
              </a:tr>
              <a:tr h="836577">
                <a:tc>
                  <a:txBody>
                    <a:bodyPr/>
                    <a:lstStyle/>
                    <a:p>
                      <a:pPr defTabSz="914400"/>
                      <a:r>
                        <a:rPr sz="2800">
                          <a:solidFill>
                            <a:srgbClr val="5E5E5E"/>
                          </a:solidFill>
                        </a:rPr>
                        <a:t>Compactness</a:t>
                      </a:r>
                    </a:p>
                  </a:txBody>
                  <a:tcPr marL="50800" marR="50800" marT="50800" marB="50800" anchor="ctr" anchorCtr="0" horzOverflow="overflow">
                    <a:lnL w="25400">
                      <a:solidFill>
                        <a:srgbClr val="5E5E5E"/>
                      </a:solidFill>
                      <a:miter lim="400000"/>
                    </a:lnL>
                    <a:lnR w="25400">
                      <a:solidFill>
                        <a:srgbClr val="5E5E5E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482600" marR="508000" indent="-292100"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4</a:t>
                      </a:r>
                    </a:p>
                  </a:txBody>
                  <a:tcPr marL="50800" marR="50800" marT="50800" marB="50800" anchor="ctr" anchorCtr="0" horzOverflow="overflow">
                    <a:lnL w="25400">
                      <a:solidFill>
                        <a:srgbClr val="5E5E5E"/>
                      </a:solidFill>
                      <a:miter lim="400000"/>
                    </a:lnL>
                    <a:lnR w="25400">
                      <a:solidFill>
                        <a:srgbClr val="838383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482600" marR="508000" indent="-292100"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3</a:t>
                      </a:r>
                    </a:p>
                  </a:txBody>
                  <a:tcPr marL="50800" marR="50800" marT="50800" marB="50800" anchor="ctr" anchorCtr="0" horzOverflow="overflow">
                    <a:lnL w="25400">
                      <a:solidFill>
                        <a:srgbClr val="838383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marL="482600" marR="508000" indent="-292100"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12</a:t>
                      </a:r>
                    </a:p>
                  </a:txBody>
                  <a:tcPr marL="50800" marR="50800" marT="50800" marB="50800" anchor="ctr" anchorCtr="0" horzOverflow="overflow">
                    <a:lnR w="25400">
                      <a:solidFill>
                        <a:srgbClr val="838383"/>
                      </a:solidFill>
                      <a:miter lim="400000"/>
                    </a:lnR>
                  </a:tcPr>
                </a:tc>
                <a:tc>
                  <a:txBody>
                    <a:bodyPr/>
                    <a:lstStyle/>
                    <a:p>
                      <a:pPr marL="482600" marR="508000" indent="-292100"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4</a:t>
                      </a:r>
                    </a:p>
                  </a:txBody>
                  <a:tcPr marL="50800" marR="50800" marT="50800" marB="50800" anchor="ctr" anchorCtr="0" horzOverflow="overflow">
                    <a:lnL w="25400">
                      <a:solidFill>
                        <a:srgbClr val="838383"/>
                      </a:solidFill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marL="482600" marR="508000" indent="-292100"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16</a:t>
                      </a:r>
                    </a:p>
                  </a:txBody>
                  <a:tcPr marL="50800" marR="50800" marT="50800" marB="50800" anchor="ctr" anchorCtr="0" horzOverflow="overflow">
                    <a:lnR w="25400">
                      <a:solidFill>
                        <a:srgbClr val="838383"/>
                      </a:solidFill>
                      <a:miter lim="400000"/>
                    </a:lnR>
                  </a:tcPr>
                </a:tc>
              </a:tr>
              <a:tr h="836577">
                <a:tc>
                  <a:txBody>
                    <a:bodyPr/>
                    <a:lstStyle/>
                    <a:p>
                      <a:pPr defTabSz="914400"/>
                      <a:r>
                        <a:rPr sz="2800">
                          <a:solidFill>
                            <a:srgbClr val="5E5E5E"/>
                          </a:solidFill>
                        </a:rPr>
                        <a:t>Cost</a:t>
                      </a:r>
                    </a:p>
                  </a:txBody>
                  <a:tcPr marL="50800" marR="50800" marT="50800" marB="50800" anchor="ctr" anchorCtr="0" horzOverflow="overflow">
                    <a:lnL w="25400">
                      <a:solidFill>
                        <a:srgbClr val="5E5E5E"/>
                      </a:solidFill>
                      <a:miter lim="400000"/>
                    </a:lnL>
                    <a:lnR w="25400">
                      <a:solidFill>
                        <a:srgbClr val="5E5E5E"/>
                      </a:solidFill>
                      <a:miter lim="400000"/>
                    </a:lnR>
                    <a:lnB w="25400">
                      <a:solidFill>
                        <a:srgbClr val="5E5E5E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482600" marR="508000" indent="-292100"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3</a:t>
                      </a:r>
                    </a:p>
                  </a:txBody>
                  <a:tcPr marL="50800" marR="50800" marT="50800" marB="50800" anchor="ctr" anchorCtr="0" horzOverflow="overflow">
                    <a:lnL w="25400">
                      <a:solidFill>
                        <a:srgbClr val="5E5E5E"/>
                      </a:solidFill>
                      <a:miter lim="400000"/>
                    </a:lnL>
                    <a:lnR w="25400">
                      <a:solidFill>
                        <a:srgbClr val="838383"/>
                      </a:solidFill>
                      <a:miter lim="400000"/>
                    </a:lnR>
                    <a:lnB w="25400">
                      <a:solidFill>
                        <a:srgbClr val="838383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482600" marR="508000" indent="-292100"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3</a:t>
                      </a:r>
                    </a:p>
                  </a:txBody>
                  <a:tcPr marL="50800" marR="50800" marT="50800" marB="50800" anchor="ctr" anchorCtr="0" horzOverflow="overflow">
                    <a:lnL w="25400">
                      <a:solidFill>
                        <a:srgbClr val="838383"/>
                      </a:solidFill>
                      <a:miter lim="400000"/>
                    </a:lnL>
                    <a:lnB w="25400">
                      <a:solidFill>
                        <a:srgbClr val="838383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482600" marR="508000" indent="-292100"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9</a:t>
                      </a:r>
                    </a:p>
                  </a:txBody>
                  <a:tcPr marL="50800" marR="50800" marT="50800" marB="50800" anchor="ctr" anchorCtr="0" horzOverflow="overflow">
                    <a:lnR w="25400">
                      <a:solidFill>
                        <a:srgbClr val="838383"/>
                      </a:solidFill>
                      <a:miter lim="400000"/>
                    </a:lnR>
                    <a:lnB w="25400">
                      <a:solidFill>
                        <a:srgbClr val="838383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482600" marR="508000" indent="-292100"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4</a:t>
                      </a:r>
                    </a:p>
                  </a:txBody>
                  <a:tcPr marL="50800" marR="50800" marT="50800" marB="50800" anchor="ctr" anchorCtr="0" horzOverflow="overflow">
                    <a:lnL w="25400">
                      <a:solidFill>
                        <a:srgbClr val="838383"/>
                      </a:solidFill>
                      <a:miter lim="400000"/>
                    </a:lnL>
                    <a:lnB w="25400">
                      <a:solidFill>
                        <a:srgbClr val="838383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482600" marR="508000" indent="-292100" defTabSz="914400">
                        <a:lnSpc>
                          <a:spcPct val="120000"/>
                        </a:lnSpc>
                      </a:pPr>
                      <a:r>
                        <a:rPr sz="2800">
                          <a:solidFill>
                            <a:srgbClr val="5E5E5E"/>
                          </a:solidFill>
                        </a:rPr>
                        <a:t>12</a:t>
                      </a:r>
                    </a:p>
                  </a:txBody>
                  <a:tcPr marL="50800" marR="50800" marT="50800" marB="50800" anchor="ctr" anchorCtr="0" horzOverflow="overflow">
                    <a:lnR w="25400">
                      <a:solidFill>
                        <a:srgbClr val="838383"/>
                      </a:solidFill>
                      <a:miter lim="400000"/>
                    </a:lnR>
                    <a:lnB w="25400">
                      <a:solidFill>
                        <a:srgbClr val="838383"/>
                      </a:solidFill>
                      <a:miter lim="400000"/>
                    </a:lnB>
                  </a:tcPr>
                </a:tc>
              </a:tr>
              <a:tr h="836577">
                <a:tc gridSpan="2">
                  <a:txBody>
                    <a:bodyPr/>
                    <a:lstStyle/>
                    <a:p>
                      <a:pPr marL="482600" marR="508000" indent="-292100" defTabSz="914400">
                        <a:lnSpc>
                          <a:spcPct val="120000"/>
                        </a:lnSpc>
                      </a:pPr>
                      <a:r>
                        <a:rPr b="1" sz="2800">
                          <a:solidFill>
                            <a:srgbClr val="5E5E5E"/>
                          </a:solidFill>
                        </a:rPr>
                        <a:t>Total Score</a:t>
                      </a:r>
                    </a:p>
                  </a:txBody>
                  <a:tcPr marL="50800" marR="50800" marT="50800" marB="50800" anchor="ctr" anchorCtr="0" horzOverflow="overflow">
                    <a:lnL w="25400">
                      <a:solidFill>
                        <a:srgbClr val="838383"/>
                      </a:solidFill>
                      <a:miter lim="400000"/>
                    </a:lnL>
                    <a:lnR w="25400">
                      <a:solidFill>
                        <a:srgbClr val="838383"/>
                      </a:solidFill>
                      <a:miter lim="400000"/>
                    </a:lnR>
                    <a:lnT w="25400">
                      <a:solidFill>
                        <a:srgbClr val="5E5E5E"/>
                      </a:solidFill>
                      <a:miter lim="400000"/>
                    </a:lnT>
                    <a:lnB w="25400">
                      <a:solidFill>
                        <a:srgbClr val="838383"/>
                      </a:solidFill>
                      <a:miter lim="400000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marL="482600" marR="508000" indent="-292100" algn="l" defTabSz="914400">
                        <a:lnSpc>
                          <a:spcPct val="120000"/>
                        </a:lnSpc>
                        <a:defRPr sz="2800">
                          <a:solidFill>
                            <a:srgbClr val="5E5E5E"/>
                          </a:solidFill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25400">
                      <a:solidFill>
                        <a:srgbClr val="838383"/>
                      </a:solidFill>
                      <a:miter lim="400000"/>
                    </a:lnL>
                    <a:lnT w="25400">
                      <a:solidFill>
                        <a:srgbClr val="838383"/>
                      </a:solidFill>
                      <a:miter lim="400000"/>
                    </a:lnT>
                    <a:lnB w="25400">
                      <a:solidFill>
                        <a:srgbClr val="838383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marL="482600" marR="508000" indent="-292100" defTabSz="914400">
                        <a:lnSpc>
                          <a:spcPct val="120000"/>
                        </a:lnSpc>
                      </a:pPr>
                      <a:r>
                        <a:rPr b="1" sz="2800">
                          <a:solidFill>
                            <a:srgbClr val="5E5E5E"/>
                          </a:solidFill>
                        </a:rPr>
                        <a:t>81</a:t>
                      </a:r>
                    </a:p>
                  </a:txBody>
                  <a:tcPr marL="50800" marR="50800" marT="50800" marB="50800" anchor="ctr" anchorCtr="0" horzOverflow="overflow">
                    <a:lnR w="25400">
                      <a:solidFill>
                        <a:srgbClr val="838383"/>
                      </a:solidFill>
                      <a:miter lim="400000"/>
                    </a:lnR>
                    <a:lnT w="25400">
                      <a:solidFill>
                        <a:srgbClr val="838383"/>
                      </a:solidFill>
                      <a:miter lim="400000"/>
                    </a:lnT>
                    <a:lnB w="25400">
                      <a:solidFill>
                        <a:srgbClr val="838383"/>
                      </a:solidFill>
                      <a:miter lim="400000"/>
                    </a:lnB>
                    <a:solidFill>
                      <a:srgbClr val="C1E59E"/>
                    </a:solidFill>
                  </a:tcPr>
                </a:tc>
                <a:tc>
                  <a:txBody>
                    <a:bodyPr/>
                    <a:lstStyle/>
                    <a:p>
                      <a:pPr marL="482600" marR="508000" indent="-292100" algn="l" defTabSz="914400">
                        <a:lnSpc>
                          <a:spcPct val="120000"/>
                        </a:lnSpc>
                        <a:defRPr b="1" sz="2800">
                          <a:solidFill>
                            <a:srgbClr val="5E5E5E"/>
                          </a:solidFill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25400">
                      <a:solidFill>
                        <a:srgbClr val="838383"/>
                      </a:solidFill>
                      <a:miter lim="400000"/>
                    </a:lnL>
                    <a:lnT w="25400">
                      <a:solidFill>
                        <a:srgbClr val="838383"/>
                      </a:solidFill>
                      <a:miter lim="400000"/>
                    </a:lnT>
                    <a:lnB w="25400">
                      <a:solidFill>
                        <a:srgbClr val="838383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b="1" sz="2800"/>
                        <a:t>79</a:t>
                      </a:r>
                    </a:p>
                  </a:txBody>
                  <a:tcPr marL="50800" marR="50800" marT="50800" marB="50800" anchor="ctr" anchorCtr="0" horzOverflow="overflow">
                    <a:lnR w="25400">
                      <a:solidFill>
                        <a:srgbClr val="4D4D4D"/>
                      </a:solidFill>
                      <a:miter lim="400000"/>
                    </a:lnR>
                    <a:lnT w="25400">
                      <a:solidFill>
                        <a:srgbClr val="838383"/>
                      </a:solidFill>
                      <a:miter lim="400000"/>
                    </a:lnT>
                    <a:lnB w="25400">
                      <a:solidFill>
                        <a:srgbClr val="4D4D4D"/>
                      </a:solidFill>
                      <a:miter lim="400000"/>
                    </a:lnB>
                  </a:tcPr>
                </a:tc>
              </a:tr>
            </a:tbl>
          </a:graphicData>
        </a:graphic>
      </p:graphicFrame>
      <p:sp>
        <p:nvSpPr>
          <p:cNvPr id="332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33" name="Decision Matrix"/>
          <p:cNvSpPr txBox="1"/>
          <p:nvPr/>
        </p:nvSpPr>
        <p:spPr>
          <a:xfrm>
            <a:off x="1206500" y="825500"/>
            <a:ext cx="21971000" cy="14349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algn="l">
              <a:lnSpc>
                <a:spcPct val="80000"/>
              </a:lnSpc>
              <a:defRPr b="1" spc="-152" sz="7600">
                <a:solidFill>
                  <a:srgbClr val="000000"/>
                </a:solidFill>
              </a:defRPr>
            </a:lvl1pPr>
          </a:lstStyle>
          <a:p>
            <a:pPr/>
            <a:r>
              <a:t>Decision Matrix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1" name="Group"/>
          <p:cNvGrpSpPr/>
          <p:nvPr/>
        </p:nvGrpSpPr>
        <p:grpSpPr>
          <a:xfrm>
            <a:off x="559146" y="2471277"/>
            <a:ext cx="9296656" cy="10571216"/>
            <a:chOff x="0" y="0"/>
            <a:chExt cx="9296655" cy="10571215"/>
          </a:xfrm>
        </p:grpSpPr>
        <p:sp>
          <p:nvSpPr>
            <p:cNvPr id="335" name="6"/>
            <p:cNvSpPr txBox="1"/>
            <p:nvPr/>
          </p:nvSpPr>
          <p:spPr>
            <a:xfrm>
              <a:off x="8533389" y="5898684"/>
              <a:ext cx="332832" cy="541389"/>
            </a:xfrm>
            <a:prstGeom prst="rect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2800"/>
              </a:lvl1pPr>
            </a:lstStyle>
            <a:p>
              <a:pPr/>
              <a:r>
                <a:t>6</a:t>
              </a:r>
            </a:p>
          </p:txBody>
        </p:sp>
        <p:sp>
          <p:nvSpPr>
            <p:cNvPr id="336" name="7"/>
            <p:cNvSpPr txBox="1"/>
            <p:nvPr/>
          </p:nvSpPr>
          <p:spPr>
            <a:xfrm>
              <a:off x="8533389" y="1023628"/>
              <a:ext cx="332832" cy="541388"/>
            </a:xfrm>
            <a:prstGeom prst="rect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2800"/>
              </a:lvl1pPr>
            </a:lstStyle>
            <a:p>
              <a:pPr/>
              <a:r>
                <a:t>7</a:t>
              </a:r>
            </a:p>
          </p:txBody>
        </p:sp>
        <p:sp>
          <p:nvSpPr>
            <p:cNvPr id="337" name="8"/>
            <p:cNvSpPr txBox="1"/>
            <p:nvPr/>
          </p:nvSpPr>
          <p:spPr>
            <a:xfrm>
              <a:off x="8533389" y="3461156"/>
              <a:ext cx="332832" cy="541389"/>
            </a:xfrm>
            <a:prstGeom prst="rect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2800"/>
              </a:lvl1pPr>
            </a:lstStyle>
            <a:p>
              <a:pPr/>
              <a:r>
                <a:t>8</a:t>
              </a:r>
            </a:p>
          </p:txBody>
        </p:sp>
        <p:pic>
          <p:nvPicPr>
            <p:cNvPr id="338" name="Image" descr="Image"/>
            <p:cNvPicPr>
              <a:picLocks noChangeAspect="1"/>
            </p:cNvPicPr>
            <p:nvPr/>
          </p:nvPicPr>
          <p:blipFill>
            <a:blip r:embed="rId2">
              <a:extLst/>
            </a:blip>
            <a:srcRect l="23868" t="35607" r="26098" b="35607"/>
            <a:stretch>
              <a:fillRect/>
            </a:stretch>
          </p:blipFill>
          <p:spPr>
            <a:xfrm flipH="1" rot="5640000">
              <a:off x="-135588" y="1206404"/>
              <a:ext cx="10026538" cy="815840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39" name="Top Chassis"/>
            <p:cNvSpPr txBox="1"/>
            <p:nvPr/>
          </p:nvSpPr>
          <p:spPr>
            <a:xfrm>
              <a:off x="0" y="968251"/>
              <a:ext cx="2705354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r">
                <a:lnSpc>
                  <a:spcPct val="120000"/>
                </a:lnSpc>
                <a:defRPr sz="2800"/>
              </a:lvl1pPr>
            </a:lstStyle>
            <a:p>
              <a:pPr/>
              <a:r>
                <a:t>Top Chassis</a:t>
              </a:r>
            </a:p>
          </p:txBody>
        </p:sp>
        <p:sp>
          <p:nvSpPr>
            <p:cNvPr id="340" name="Button"/>
            <p:cNvSpPr txBox="1"/>
            <p:nvPr/>
          </p:nvSpPr>
          <p:spPr>
            <a:xfrm>
              <a:off x="0" y="2555292"/>
              <a:ext cx="2705354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r">
                <a:lnSpc>
                  <a:spcPct val="120000"/>
                </a:lnSpc>
                <a:defRPr sz="2800"/>
              </a:lvl1pPr>
            </a:lstStyle>
            <a:p>
              <a:pPr/>
              <a:r>
                <a:t>Button</a:t>
              </a:r>
            </a:p>
          </p:txBody>
        </p:sp>
        <p:sp>
          <p:nvSpPr>
            <p:cNvPr id="341" name="Latch"/>
            <p:cNvSpPr txBox="1"/>
            <p:nvPr/>
          </p:nvSpPr>
          <p:spPr>
            <a:xfrm>
              <a:off x="0" y="3309548"/>
              <a:ext cx="2705354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r">
                <a:lnSpc>
                  <a:spcPct val="120000"/>
                </a:lnSpc>
                <a:defRPr sz="2800"/>
              </a:lvl1pPr>
            </a:lstStyle>
            <a:p>
              <a:pPr/>
              <a:r>
                <a:t>Latch</a:t>
              </a:r>
            </a:p>
          </p:txBody>
        </p:sp>
        <p:sp>
          <p:nvSpPr>
            <p:cNvPr id="342" name="Springs"/>
            <p:cNvSpPr txBox="1"/>
            <p:nvPr/>
          </p:nvSpPr>
          <p:spPr>
            <a:xfrm>
              <a:off x="0" y="3890951"/>
              <a:ext cx="2705354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r">
                <a:lnSpc>
                  <a:spcPct val="120000"/>
                </a:lnSpc>
                <a:defRPr sz="2800"/>
              </a:lvl1pPr>
            </a:lstStyle>
            <a:p>
              <a:pPr/>
              <a:r>
                <a:t>Springs</a:t>
              </a:r>
            </a:p>
          </p:txBody>
        </p:sp>
        <p:sp>
          <p:nvSpPr>
            <p:cNvPr id="343" name="Line"/>
            <p:cNvSpPr/>
            <p:nvPr/>
          </p:nvSpPr>
          <p:spPr>
            <a:xfrm flipH="1">
              <a:off x="2951499" y="5912168"/>
              <a:ext cx="2338830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head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344" name="Screws"/>
            <p:cNvSpPr txBox="1"/>
            <p:nvPr/>
          </p:nvSpPr>
          <p:spPr>
            <a:xfrm>
              <a:off x="0" y="4770897"/>
              <a:ext cx="2705354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r">
                <a:lnSpc>
                  <a:spcPct val="120000"/>
                </a:lnSpc>
                <a:defRPr sz="2800"/>
              </a:lvl1pPr>
            </a:lstStyle>
            <a:p>
              <a:pPr/>
              <a:r>
                <a:t>Screws</a:t>
              </a:r>
            </a:p>
          </p:txBody>
        </p:sp>
        <p:sp>
          <p:nvSpPr>
            <p:cNvPr id="345" name="Bottom Chassis"/>
            <p:cNvSpPr txBox="1"/>
            <p:nvPr/>
          </p:nvSpPr>
          <p:spPr>
            <a:xfrm>
              <a:off x="0" y="5650844"/>
              <a:ext cx="2705354" cy="52344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r">
                <a:lnSpc>
                  <a:spcPct val="120000"/>
                </a:lnSpc>
                <a:defRPr sz="2800"/>
              </a:lvl1pPr>
            </a:lstStyle>
            <a:p>
              <a:pPr/>
              <a:r>
                <a:t>Bottom Chassis</a:t>
              </a:r>
            </a:p>
          </p:txBody>
        </p:sp>
        <p:sp>
          <p:nvSpPr>
            <p:cNvPr id="346" name="Line"/>
            <p:cNvSpPr/>
            <p:nvPr/>
          </p:nvSpPr>
          <p:spPr>
            <a:xfrm flipH="1">
              <a:off x="2951499" y="5032619"/>
              <a:ext cx="2084634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head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347" name="Line"/>
            <p:cNvSpPr/>
            <p:nvPr/>
          </p:nvSpPr>
          <p:spPr>
            <a:xfrm flipH="1">
              <a:off x="2951499" y="4153071"/>
              <a:ext cx="2338830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head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348" name="Line"/>
            <p:cNvSpPr/>
            <p:nvPr/>
          </p:nvSpPr>
          <p:spPr>
            <a:xfrm flipH="1" flipV="1">
              <a:off x="2951500" y="3571269"/>
              <a:ext cx="3241261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head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349" name="Line"/>
            <p:cNvSpPr/>
            <p:nvPr/>
          </p:nvSpPr>
          <p:spPr>
            <a:xfrm flipH="1" flipV="1">
              <a:off x="2951499" y="2817014"/>
              <a:ext cx="2338830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head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350" name="Line"/>
            <p:cNvSpPr/>
            <p:nvPr/>
          </p:nvSpPr>
          <p:spPr>
            <a:xfrm flipH="1" flipV="1">
              <a:off x="2824401" y="1294321"/>
              <a:ext cx="2084635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head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grpSp>
        <p:nvGrpSpPr>
          <p:cNvPr id="363" name="Group"/>
          <p:cNvGrpSpPr/>
          <p:nvPr/>
        </p:nvGrpSpPr>
        <p:grpSpPr>
          <a:xfrm>
            <a:off x="9050081" y="706963"/>
            <a:ext cx="7685788" cy="12302075"/>
            <a:chOff x="0" y="0"/>
            <a:chExt cx="7685786" cy="12302074"/>
          </a:xfrm>
        </p:grpSpPr>
        <p:pic>
          <p:nvPicPr>
            <p:cNvPr id="352" name="Image" descr="Image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17552" t="35397" r="0" b="41115"/>
            <a:stretch>
              <a:fillRect/>
            </a:stretch>
          </p:blipFill>
          <p:spPr>
            <a:xfrm flipH="1" rot="5640000">
              <a:off x="-3168479" y="3734865"/>
              <a:ext cx="11994205" cy="483234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53" name="Door Cover"/>
            <p:cNvSpPr txBox="1"/>
            <p:nvPr/>
          </p:nvSpPr>
          <p:spPr>
            <a:xfrm>
              <a:off x="5092531" y="2563426"/>
              <a:ext cx="2593256" cy="5017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l">
                <a:lnSpc>
                  <a:spcPct val="120000"/>
                </a:lnSpc>
                <a:defRPr sz="2800"/>
              </a:lvl1pPr>
            </a:lstStyle>
            <a:p>
              <a:pPr/>
              <a:r>
                <a:t>Door Cover</a:t>
              </a:r>
            </a:p>
          </p:txBody>
        </p:sp>
        <p:sp>
          <p:nvSpPr>
            <p:cNvPr id="354" name="Line"/>
            <p:cNvSpPr/>
            <p:nvPr/>
          </p:nvSpPr>
          <p:spPr>
            <a:xfrm>
              <a:off x="3275881" y="2814547"/>
              <a:ext cx="1577149" cy="1011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head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355" name="Line"/>
            <p:cNvSpPr/>
            <p:nvPr/>
          </p:nvSpPr>
          <p:spPr>
            <a:xfrm>
              <a:off x="3275958" y="4029788"/>
              <a:ext cx="1577071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head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356" name="Door"/>
            <p:cNvSpPr txBox="1"/>
            <p:nvPr/>
          </p:nvSpPr>
          <p:spPr>
            <a:xfrm>
              <a:off x="5092531" y="3786658"/>
              <a:ext cx="2593256" cy="50175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l">
                <a:lnSpc>
                  <a:spcPct val="120000"/>
                </a:lnSpc>
                <a:defRPr sz="2800"/>
              </a:lvl1pPr>
            </a:lstStyle>
            <a:p>
              <a:pPr/>
              <a:r>
                <a:t>Door</a:t>
              </a:r>
            </a:p>
          </p:txBody>
        </p:sp>
        <p:sp>
          <p:nvSpPr>
            <p:cNvPr id="357" name="Spring…"/>
            <p:cNvSpPr txBox="1"/>
            <p:nvPr/>
          </p:nvSpPr>
          <p:spPr>
            <a:xfrm>
              <a:off x="5092531" y="5123079"/>
              <a:ext cx="2593256" cy="99653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l">
                <a:lnSpc>
                  <a:spcPct val="120000"/>
                </a:lnSpc>
                <a:defRPr sz="2800"/>
              </a:pPr>
              <a:r>
                <a:t>Spring</a:t>
              </a:r>
            </a:p>
            <a:p>
              <a:pPr algn="l">
                <a:lnSpc>
                  <a:spcPct val="120000"/>
                </a:lnSpc>
                <a:defRPr sz="2800"/>
              </a:pPr>
              <a:r>
                <a:t>Loaded Hinge</a:t>
              </a:r>
            </a:p>
          </p:txBody>
        </p:sp>
        <p:sp>
          <p:nvSpPr>
            <p:cNvPr id="358" name="Line"/>
            <p:cNvSpPr/>
            <p:nvPr/>
          </p:nvSpPr>
          <p:spPr>
            <a:xfrm>
              <a:off x="1287547" y="5621346"/>
              <a:ext cx="3565483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head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359" name="Line"/>
            <p:cNvSpPr/>
            <p:nvPr/>
          </p:nvSpPr>
          <p:spPr>
            <a:xfrm>
              <a:off x="2612690" y="6544252"/>
              <a:ext cx="2240340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head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360" name="AA Battery"/>
            <p:cNvSpPr txBox="1"/>
            <p:nvPr/>
          </p:nvSpPr>
          <p:spPr>
            <a:xfrm>
              <a:off x="5092531" y="6281119"/>
              <a:ext cx="2593256" cy="50175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l">
                <a:defRPr sz="2800"/>
              </a:lvl1pPr>
            </a:lstStyle>
            <a:p>
              <a:pPr/>
              <a:r>
                <a:t>AA Battery</a:t>
              </a:r>
            </a:p>
          </p:txBody>
        </p:sp>
        <p:sp>
          <p:nvSpPr>
            <p:cNvPr id="361" name="Battery Holder"/>
            <p:cNvSpPr txBox="1"/>
            <p:nvPr/>
          </p:nvSpPr>
          <p:spPr>
            <a:xfrm>
              <a:off x="5092531" y="7780261"/>
              <a:ext cx="2593256" cy="50175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algn="l">
                <a:defRPr sz="2800"/>
              </a:lvl1pPr>
            </a:lstStyle>
            <a:p>
              <a:pPr/>
              <a:r>
                <a:t>Battery Holder</a:t>
              </a:r>
            </a:p>
          </p:txBody>
        </p:sp>
        <p:sp>
          <p:nvSpPr>
            <p:cNvPr id="362" name="Line"/>
            <p:cNvSpPr/>
            <p:nvPr/>
          </p:nvSpPr>
          <p:spPr>
            <a:xfrm>
              <a:off x="2892048" y="8230459"/>
              <a:ext cx="1960982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headEnd type="oval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sp>
        <p:nvSpPr>
          <p:cNvPr id="364" name="Slide Number"/>
          <p:cNvSpPr txBox="1"/>
          <p:nvPr>
            <p:ph type="sldNum" sz="quarter" idx="2"/>
          </p:nvPr>
        </p:nvSpPr>
        <p:spPr>
          <a:xfrm>
            <a:off x="11979097" y="13008858"/>
            <a:ext cx="368504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65" name="Rounded Rectangle"/>
          <p:cNvSpPr/>
          <p:nvPr/>
        </p:nvSpPr>
        <p:spPr>
          <a:xfrm>
            <a:off x="17142007" y="2589832"/>
            <a:ext cx="6612845" cy="10143249"/>
          </a:xfrm>
          <a:prstGeom prst="roundRect">
            <a:avLst>
              <a:gd name="adj" fmla="val 8479"/>
            </a:avLst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66" name="Procedure"/>
          <p:cNvSpPr txBox="1"/>
          <p:nvPr/>
        </p:nvSpPr>
        <p:spPr>
          <a:xfrm>
            <a:off x="19095752" y="2251375"/>
            <a:ext cx="2705354" cy="5842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32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Procedure</a:t>
            </a:r>
          </a:p>
        </p:txBody>
      </p:sp>
      <p:sp>
        <p:nvSpPr>
          <p:cNvPr id="367" name="Bottom chassis is fixed to housing via screws…"/>
          <p:cNvSpPr txBox="1"/>
          <p:nvPr/>
        </p:nvSpPr>
        <p:spPr>
          <a:xfrm>
            <a:off x="17653682" y="3012300"/>
            <a:ext cx="5589495" cy="92983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518583" indent="-518583" algn="l">
              <a:lnSpc>
                <a:spcPct val="120000"/>
              </a:lnSpc>
              <a:buSzPct val="100000"/>
              <a:buAutoNum type="arabicPeriod" startAt="1"/>
              <a:defRPr sz="2800"/>
            </a:pPr>
            <a:r>
              <a:t>Bottom chassis is fixed to housing via screws</a:t>
            </a:r>
          </a:p>
          <a:p>
            <a:pPr marL="518583" indent="-518583" algn="l">
              <a:lnSpc>
                <a:spcPct val="120000"/>
              </a:lnSpc>
              <a:buSzPct val="100000"/>
              <a:buAutoNum type="arabicPeriod" startAt="1"/>
              <a:defRPr sz="2800"/>
            </a:pPr>
            <a:r>
              <a:t>Button is assembled into latch so that button pegs will slide along latch slots</a:t>
            </a:r>
          </a:p>
          <a:p>
            <a:pPr marL="518583" indent="-518583" algn="l">
              <a:lnSpc>
                <a:spcPct val="120000"/>
              </a:lnSpc>
              <a:buSzPct val="100000"/>
              <a:buAutoNum type="arabicPeriod" startAt="1"/>
              <a:defRPr sz="2800"/>
            </a:pPr>
            <a:r>
              <a:t>Springs placed onto bottom chassis posts</a:t>
            </a:r>
          </a:p>
          <a:p>
            <a:pPr marL="518583" indent="-518583" algn="l">
              <a:lnSpc>
                <a:spcPct val="120000"/>
              </a:lnSpc>
              <a:buSzPct val="100000"/>
              <a:buAutoNum type="arabicPeriod" startAt="1"/>
              <a:defRPr sz="2800"/>
            </a:pPr>
            <a:r>
              <a:t>Latch and button assembly positioned over bottom chassis posts</a:t>
            </a:r>
          </a:p>
          <a:p>
            <a:pPr marL="518583" indent="-518583" algn="l">
              <a:lnSpc>
                <a:spcPct val="120000"/>
              </a:lnSpc>
              <a:buSzPct val="100000"/>
              <a:buAutoNum type="arabicPeriod" startAt="1"/>
              <a:defRPr sz="2800"/>
            </a:pPr>
            <a:r>
              <a:t>Top chassis secured to bottom chassis via snap fit features</a:t>
            </a:r>
          </a:p>
          <a:p>
            <a:pPr marL="518583" indent="-518583" algn="l">
              <a:lnSpc>
                <a:spcPct val="120000"/>
              </a:lnSpc>
              <a:buSzPct val="100000"/>
              <a:buAutoNum type="arabicPeriod" startAt="1"/>
              <a:defRPr sz="2800"/>
            </a:pPr>
            <a:r>
              <a:t>Battery holder fixed to housing (assumed out-of-scope)</a:t>
            </a:r>
          </a:p>
          <a:p>
            <a:pPr marL="518583" indent="-518583" algn="l">
              <a:lnSpc>
                <a:spcPct val="120000"/>
              </a:lnSpc>
              <a:buSzPct val="100000"/>
              <a:buAutoNum type="arabicPeriod" startAt="1"/>
              <a:defRPr sz="2800"/>
            </a:pPr>
            <a:r>
              <a:t>Door cover secured to door via adhesive</a:t>
            </a:r>
          </a:p>
          <a:p>
            <a:pPr marL="518583" indent="-518583" algn="l">
              <a:lnSpc>
                <a:spcPct val="120000"/>
              </a:lnSpc>
              <a:buSzPct val="100000"/>
              <a:buAutoNum type="arabicPeriod" startAt="1"/>
              <a:defRPr sz="2800"/>
            </a:pPr>
            <a:r>
              <a:t>Hinges assembled to door and housing via adhesive or screws</a:t>
            </a:r>
          </a:p>
        </p:txBody>
      </p:sp>
      <p:sp>
        <p:nvSpPr>
          <p:cNvPr id="368" name="Sliding Snap Fit Components and Assembly"/>
          <p:cNvSpPr txBox="1"/>
          <p:nvPr/>
        </p:nvSpPr>
        <p:spPr>
          <a:xfrm>
            <a:off x="1206500" y="825500"/>
            <a:ext cx="21971000" cy="14349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algn="l">
              <a:lnSpc>
                <a:spcPct val="80000"/>
              </a:lnSpc>
              <a:defRPr b="1" spc="-152" sz="7600">
                <a:solidFill>
                  <a:srgbClr val="000000"/>
                </a:solidFill>
              </a:defRPr>
            </a:lvl1pPr>
          </a:lstStyle>
          <a:p>
            <a:pPr/>
            <a:r>
              <a:t>Sliding Snap Fit Components and Assembly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Rounded Rectangle"/>
          <p:cNvSpPr/>
          <p:nvPr/>
        </p:nvSpPr>
        <p:spPr>
          <a:xfrm>
            <a:off x="455978" y="9916807"/>
            <a:ext cx="7714952" cy="2986592"/>
          </a:xfrm>
          <a:prstGeom prst="roundRect">
            <a:avLst>
              <a:gd name="adj" fmla="val 19416"/>
            </a:avLst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pic>
        <p:nvPicPr>
          <p:cNvPr id="371" name="Latch FEA.mp4" descr="Latch FEA.mp4"/>
          <p:cNvPicPr>
            <a:picLocks noChangeAspect="0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>
            <a:extLst/>
          </a:blip>
          <a:stretch>
            <a:fillRect/>
          </a:stretch>
        </p:blipFill>
        <p:spPr>
          <a:xfrm>
            <a:off x="717168" y="2550071"/>
            <a:ext cx="6635181" cy="6635182"/>
          </a:xfrm>
          <a:prstGeom prst="rect">
            <a:avLst/>
          </a:prstGeom>
          <a:ln w="12700">
            <a:miter lim="400000"/>
          </a:ln>
        </p:spPr>
      </p:pic>
      <p:sp>
        <p:nvSpPr>
          <p:cNvPr id="372" name="Force for button to slide latch: 0.0033 N"/>
          <p:cNvSpPr txBox="1"/>
          <p:nvPr/>
        </p:nvSpPr>
        <p:spPr>
          <a:xfrm>
            <a:off x="872527" y="8423374"/>
            <a:ext cx="6881854" cy="524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lnSpc>
                <a:spcPct val="150000"/>
              </a:lnSpc>
              <a:defRPr sz="2800"/>
            </a:pPr>
            <a:r>
              <a:rPr b="1"/>
              <a:t>Force for button to slide latch</a:t>
            </a:r>
            <a:r>
              <a:t>: 0.0033 N</a:t>
            </a:r>
          </a:p>
        </p:txBody>
      </p:sp>
      <p:sp>
        <p:nvSpPr>
          <p:cNvPr id="373" name="Initial Button and Latch Calculations"/>
          <p:cNvSpPr txBox="1"/>
          <p:nvPr>
            <p:ph type="title"/>
          </p:nvPr>
        </p:nvSpPr>
        <p:spPr>
          <a:xfrm>
            <a:off x="1206500" y="825500"/>
            <a:ext cx="21971000" cy="1434949"/>
          </a:xfrm>
          <a:prstGeom prst="rect">
            <a:avLst/>
          </a:prstGeom>
        </p:spPr>
        <p:txBody>
          <a:bodyPr/>
          <a:lstStyle>
            <a:lvl1pPr>
              <a:defRPr spc="-152" sz="7600"/>
            </a:lvl1pPr>
          </a:lstStyle>
          <a:p>
            <a:pPr/>
            <a:r>
              <a:t>Initial Button and Latch Calculations</a:t>
            </a:r>
          </a:p>
        </p:txBody>
      </p:sp>
      <p:sp>
        <p:nvSpPr>
          <p:cNvPr id="374" name="μ = 0.2"/>
          <p:cNvSpPr txBox="1"/>
          <p:nvPr/>
        </p:nvSpPr>
        <p:spPr>
          <a:xfrm>
            <a:off x="6602880" y="4542609"/>
            <a:ext cx="1316229" cy="523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457200">
              <a:defRPr sz="2800"/>
            </a:lvl1pPr>
          </a:lstStyle>
          <a:p>
            <a:pPr/>
            <a:r>
              <a:t>μ = 0.2 </a:t>
            </a:r>
          </a:p>
        </p:txBody>
      </p:sp>
      <p:sp>
        <p:nvSpPr>
          <p:cNvPr id="375" name="Rounded Rectangle"/>
          <p:cNvSpPr/>
          <p:nvPr/>
        </p:nvSpPr>
        <p:spPr>
          <a:xfrm>
            <a:off x="8639724" y="2727240"/>
            <a:ext cx="15288297" cy="10182157"/>
          </a:xfrm>
          <a:prstGeom prst="roundRect">
            <a:avLst>
              <a:gd name="adj" fmla="val 5507"/>
            </a:avLst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76" name="Negligible friction between peg and slot…"/>
          <p:cNvSpPr txBox="1"/>
          <p:nvPr/>
        </p:nvSpPr>
        <p:spPr>
          <a:xfrm>
            <a:off x="717677" y="10450328"/>
            <a:ext cx="7191555" cy="2071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355600" indent="-355600" algn="l">
              <a:lnSpc>
                <a:spcPct val="120000"/>
              </a:lnSpc>
              <a:buSzPct val="123000"/>
              <a:buChar char="•"/>
              <a:defRPr sz="2800"/>
            </a:pPr>
            <a:r>
              <a:t>Negligible friction between peg and slot</a:t>
            </a:r>
          </a:p>
          <a:p>
            <a:pPr marL="355600" indent="-355600" algn="l">
              <a:lnSpc>
                <a:spcPct val="120000"/>
              </a:lnSpc>
              <a:buSzPct val="123000"/>
              <a:buChar char="•"/>
              <a:defRPr sz="2800"/>
            </a:pPr>
            <a:r>
              <a:t>Negligible friction between latch and door</a:t>
            </a:r>
          </a:p>
          <a:p>
            <a:pPr marL="355600" indent="-355600" algn="l">
              <a:lnSpc>
                <a:spcPct val="120000"/>
              </a:lnSpc>
              <a:buSzPct val="123000"/>
              <a:buChar char="•"/>
              <a:defRPr sz="2800"/>
            </a:pPr>
            <a:r>
              <a:t>Rigid bodies: button peg moves with peg, snap fit moves with latch</a:t>
            </a:r>
          </a:p>
        </p:txBody>
      </p:sp>
      <p:sp>
        <p:nvSpPr>
          <p:cNvPr id="377" name="Rounded Rectangle"/>
          <p:cNvSpPr/>
          <p:nvPr/>
        </p:nvSpPr>
        <p:spPr>
          <a:xfrm>
            <a:off x="455978" y="2727240"/>
            <a:ext cx="7714952" cy="6613508"/>
          </a:xfrm>
          <a:prstGeom prst="roundRect">
            <a:avLst>
              <a:gd name="adj" fmla="val 8670"/>
            </a:avLst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78" name="FEA"/>
          <p:cNvSpPr txBox="1"/>
          <p:nvPr/>
        </p:nvSpPr>
        <p:spPr>
          <a:xfrm>
            <a:off x="3420337" y="2403474"/>
            <a:ext cx="1786234" cy="5842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32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FEA</a:t>
            </a:r>
          </a:p>
        </p:txBody>
      </p:sp>
      <p:sp>
        <p:nvSpPr>
          <p:cNvPr id="379" name="Assumptions"/>
          <p:cNvSpPr txBox="1"/>
          <p:nvPr/>
        </p:nvSpPr>
        <p:spPr>
          <a:xfrm>
            <a:off x="2664054" y="9609787"/>
            <a:ext cx="3298800" cy="5842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32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Assumptions</a:t>
            </a:r>
          </a:p>
        </p:txBody>
      </p:sp>
      <p:sp>
        <p:nvSpPr>
          <p:cNvPr id="380" name="Hand Calculations"/>
          <p:cNvSpPr txBox="1"/>
          <p:nvPr/>
        </p:nvSpPr>
        <p:spPr>
          <a:xfrm>
            <a:off x="14166941" y="2395461"/>
            <a:ext cx="4233863" cy="5842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32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Hand Calculations</a:t>
            </a:r>
          </a:p>
        </p:txBody>
      </p:sp>
      <p:sp>
        <p:nvSpPr>
          <p:cNvPr id="3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406" name="Group"/>
          <p:cNvGrpSpPr/>
          <p:nvPr/>
        </p:nvGrpSpPr>
        <p:grpSpPr>
          <a:xfrm>
            <a:off x="8982931" y="2915337"/>
            <a:ext cx="14704266" cy="9678515"/>
            <a:chOff x="0" y="0"/>
            <a:chExt cx="14704264" cy="9678513"/>
          </a:xfrm>
        </p:grpSpPr>
        <p:pic>
          <p:nvPicPr>
            <p:cNvPr id="382" name="Page3 2.jpg" descr="Page3 2.jpg"/>
            <p:cNvPicPr>
              <a:picLocks noChangeAspect="1"/>
            </p:cNvPicPr>
            <p:nvPr/>
          </p:nvPicPr>
          <p:blipFill>
            <a:blip r:embed="rId5">
              <a:extLst/>
            </a:blip>
            <a:srcRect l="7774" t="0" r="66228" b="87784"/>
            <a:stretch>
              <a:fillRect/>
            </a:stretch>
          </p:blipFill>
          <p:spPr>
            <a:xfrm>
              <a:off x="618263" y="0"/>
              <a:ext cx="3599632" cy="222092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83" name="Page2 2.jpg" descr="Page2 2.jpg"/>
            <p:cNvPicPr>
              <a:picLocks noChangeAspect="1"/>
            </p:cNvPicPr>
            <p:nvPr/>
          </p:nvPicPr>
          <p:blipFill>
            <a:blip r:embed="rId6">
              <a:extLst/>
            </a:blip>
            <a:srcRect l="4485" t="20454" r="37837" b="61370"/>
            <a:stretch>
              <a:fillRect/>
            </a:stretch>
          </p:blipFill>
          <p:spPr>
            <a:xfrm>
              <a:off x="0" y="6461634"/>
              <a:ext cx="6769014" cy="280069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388" name="Group"/>
            <p:cNvGrpSpPr/>
            <p:nvPr/>
          </p:nvGrpSpPr>
          <p:grpSpPr>
            <a:xfrm>
              <a:off x="7730857" y="7112906"/>
              <a:ext cx="6003675" cy="2384838"/>
              <a:chOff x="0" y="0"/>
              <a:chExt cx="6003674" cy="2384836"/>
            </a:xfrm>
          </p:grpSpPr>
          <p:pic>
            <p:nvPicPr>
              <p:cNvPr id="384" name="Page2 2.jpg" descr="Page2 2.jpg"/>
              <p:cNvPicPr>
                <a:picLocks noChangeAspect="1"/>
              </p:cNvPicPr>
              <p:nvPr/>
            </p:nvPicPr>
            <p:blipFill>
              <a:blip r:embed="rId6">
                <a:extLst/>
              </a:blip>
              <a:srcRect l="4485" t="40019" r="59322" b="56681"/>
              <a:stretch>
                <a:fillRect/>
              </a:stretch>
            </p:blipFill>
            <p:spPr>
              <a:xfrm>
                <a:off x="56435" y="553805"/>
                <a:ext cx="5657653" cy="67721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385" name="Page1.jpg" descr="Page1.jpg"/>
              <p:cNvPicPr>
                <a:picLocks noChangeAspect="1"/>
              </p:cNvPicPr>
              <p:nvPr/>
            </p:nvPicPr>
            <p:blipFill>
              <a:blip r:embed="rId7">
                <a:extLst/>
              </a:blip>
              <a:srcRect l="60507" t="54627" r="371" b="41981"/>
              <a:stretch>
                <a:fillRect/>
              </a:stretch>
            </p:blipFill>
            <p:spPr>
              <a:xfrm>
                <a:off x="158736" y="0"/>
                <a:ext cx="5844939" cy="665231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386" name="Page2 2.jpg" descr="Page2 2.jpg"/>
              <p:cNvPicPr>
                <a:picLocks noChangeAspect="1"/>
              </p:cNvPicPr>
              <p:nvPr/>
            </p:nvPicPr>
            <p:blipFill>
              <a:blip r:embed="rId6">
                <a:extLst/>
              </a:blip>
              <a:srcRect l="4485" t="44156" r="59322" b="53389"/>
              <a:stretch>
                <a:fillRect/>
              </a:stretch>
            </p:blipFill>
            <p:spPr>
              <a:xfrm>
                <a:off x="0" y="1276891"/>
                <a:ext cx="5657653" cy="50387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387" name="Page2 2.jpg" descr="Page2 2.jpg"/>
              <p:cNvPicPr>
                <a:picLocks noChangeAspect="1"/>
              </p:cNvPicPr>
              <p:nvPr/>
            </p:nvPicPr>
            <p:blipFill>
              <a:blip r:embed="rId6">
                <a:extLst/>
              </a:blip>
              <a:srcRect l="4998" t="47540" r="58810" b="50005"/>
              <a:stretch>
                <a:fillRect/>
              </a:stretch>
            </p:blipFill>
            <p:spPr>
              <a:xfrm>
                <a:off x="18336" y="1880961"/>
                <a:ext cx="5657654" cy="503876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grpSp>
          <p:nvGrpSpPr>
            <p:cNvPr id="394" name="Group"/>
            <p:cNvGrpSpPr/>
            <p:nvPr/>
          </p:nvGrpSpPr>
          <p:grpSpPr>
            <a:xfrm>
              <a:off x="7935410" y="4731514"/>
              <a:ext cx="6768855" cy="2136519"/>
              <a:chOff x="0" y="0"/>
              <a:chExt cx="6768854" cy="2136517"/>
            </a:xfrm>
          </p:grpSpPr>
          <p:pic>
            <p:nvPicPr>
              <p:cNvPr id="389" name="Page1.jpg" descr="Page1.jpg"/>
              <p:cNvPicPr>
                <a:picLocks noChangeAspect="1"/>
              </p:cNvPicPr>
              <p:nvPr/>
            </p:nvPicPr>
            <p:blipFill>
              <a:blip r:embed="rId7">
                <a:extLst/>
              </a:blip>
              <a:srcRect l="4338" t="71778" r="54011" b="25082"/>
              <a:stretch>
                <a:fillRect/>
              </a:stretch>
            </p:blipFill>
            <p:spPr>
              <a:xfrm>
                <a:off x="82879" y="504079"/>
                <a:ext cx="6191098" cy="612573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390" name="Page1.jpg" descr="Page1.jpg"/>
              <p:cNvPicPr>
                <a:picLocks noChangeAspect="1"/>
              </p:cNvPicPr>
              <p:nvPr/>
            </p:nvPicPr>
            <p:blipFill>
              <a:blip r:embed="rId7">
                <a:extLst/>
              </a:blip>
              <a:srcRect l="4338" t="79589" r="54011" b="18235"/>
              <a:stretch>
                <a:fillRect/>
              </a:stretch>
            </p:blipFill>
            <p:spPr>
              <a:xfrm>
                <a:off x="82879" y="1201894"/>
                <a:ext cx="6191098" cy="424533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391" name="Page1.jpg" descr="Page1.jpg"/>
              <p:cNvPicPr>
                <a:picLocks noChangeAspect="1"/>
              </p:cNvPicPr>
              <p:nvPr/>
            </p:nvPicPr>
            <p:blipFill>
              <a:blip r:embed="rId7">
                <a:extLst/>
              </a:blip>
              <a:srcRect l="60507" t="51092" r="371" b="45716"/>
              <a:stretch>
                <a:fillRect/>
              </a:stretch>
            </p:blipFill>
            <p:spPr>
              <a:xfrm>
                <a:off x="0" y="87687"/>
                <a:ext cx="5763615" cy="617387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392" name="Page1.jpg" descr="Page1.jpg"/>
              <p:cNvPicPr>
                <a:picLocks noChangeAspect="1"/>
              </p:cNvPicPr>
              <p:nvPr/>
            </p:nvPicPr>
            <p:blipFill>
              <a:blip r:embed="rId7">
                <a:extLst/>
              </a:blip>
              <a:srcRect l="60507" t="47487" r="19867" b="49471"/>
              <a:stretch>
                <a:fillRect/>
              </a:stretch>
            </p:blipFill>
            <p:spPr>
              <a:xfrm>
                <a:off x="3877608" y="0"/>
                <a:ext cx="2891247" cy="588264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393" name="Page1.jpg" descr="Page1.jpg"/>
              <p:cNvPicPr>
                <a:picLocks noChangeAspect="1"/>
              </p:cNvPicPr>
              <p:nvPr/>
            </p:nvPicPr>
            <p:blipFill>
              <a:blip r:embed="rId7">
                <a:extLst/>
              </a:blip>
              <a:srcRect l="4176" t="82669" r="54173" b="15155"/>
              <a:stretch>
                <a:fillRect/>
              </a:stretch>
            </p:blipFill>
            <p:spPr>
              <a:xfrm>
                <a:off x="82879" y="1711985"/>
                <a:ext cx="6191098" cy="424533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sp>
          <p:nvSpPr>
            <p:cNvPr id="395" name="Required spring constant: 0.01-0.875 N/mm"/>
            <p:cNvSpPr txBox="1"/>
            <p:nvPr/>
          </p:nvSpPr>
          <p:spPr>
            <a:xfrm>
              <a:off x="242272" y="9153648"/>
              <a:ext cx="7391660" cy="5248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/>
            <a:p>
              <a:pPr algn="l">
                <a:defRPr sz="2800"/>
              </a:pPr>
              <a:r>
                <a:rPr b="1"/>
                <a:t>Required spring constant: </a:t>
              </a:r>
              <a:r>
                <a:t>0.01-0.875 N/mm</a:t>
              </a:r>
            </a:p>
          </p:txBody>
        </p:sp>
        <p:pic>
          <p:nvPicPr>
            <p:cNvPr id="396" name="Page1 2.jpg" descr="Page1 2.jpg"/>
            <p:cNvPicPr>
              <a:picLocks noChangeAspect="1"/>
            </p:cNvPicPr>
            <p:nvPr/>
          </p:nvPicPr>
          <p:blipFill>
            <a:blip r:embed="rId8">
              <a:extLst/>
            </a:blip>
            <a:srcRect l="3634" t="44613" r="42729" b="34570"/>
            <a:stretch>
              <a:fillRect/>
            </a:stretch>
          </p:blipFill>
          <p:spPr>
            <a:xfrm>
              <a:off x="359125" y="3311892"/>
              <a:ext cx="6115561" cy="311634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400" name="Group"/>
            <p:cNvGrpSpPr/>
            <p:nvPr/>
          </p:nvGrpSpPr>
          <p:grpSpPr>
            <a:xfrm>
              <a:off x="5193778" y="342777"/>
              <a:ext cx="7721322" cy="1928936"/>
              <a:chOff x="0" y="0"/>
              <a:chExt cx="7721319" cy="1928934"/>
            </a:xfrm>
          </p:grpSpPr>
          <p:pic>
            <p:nvPicPr>
              <p:cNvPr id="397" name="Page3 2.jpg" descr="Page3 2.jpg"/>
              <p:cNvPicPr>
                <a:picLocks noChangeAspect="1"/>
              </p:cNvPicPr>
              <p:nvPr/>
            </p:nvPicPr>
            <p:blipFill>
              <a:blip r:embed="rId5">
                <a:extLst/>
              </a:blip>
              <a:srcRect l="7774" t="17090" r="45541" b="76253"/>
              <a:stretch>
                <a:fillRect/>
              </a:stretch>
            </p:blipFill>
            <p:spPr>
              <a:xfrm>
                <a:off x="0" y="562481"/>
                <a:ext cx="6992303" cy="1309147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398" name="Page3 2.jpg" descr="Page3 2.jpg"/>
              <p:cNvPicPr>
                <a:picLocks noChangeAspect="1"/>
              </p:cNvPicPr>
              <p:nvPr/>
            </p:nvPicPr>
            <p:blipFill>
              <a:blip r:embed="rId5">
                <a:extLst/>
              </a:blip>
              <a:srcRect l="43906" t="16801" r="45541" b="79804"/>
              <a:stretch>
                <a:fillRect/>
              </a:stretch>
            </p:blipFill>
            <p:spPr>
              <a:xfrm>
                <a:off x="6140903" y="1261535"/>
                <a:ext cx="1580417" cy="667400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399" name="Page3 2.jpg" descr="Page3 2.jpg"/>
              <p:cNvPicPr>
                <a:picLocks noChangeAspect="1"/>
              </p:cNvPicPr>
              <p:nvPr/>
            </p:nvPicPr>
            <p:blipFill>
              <a:blip r:embed="rId5">
                <a:extLst/>
              </a:blip>
              <a:srcRect l="7774" t="13741" r="45541" b="83663"/>
              <a:stretch>
                <a:fillRect/>
              </a:stretch>
            </p:blipFill>
            <p:spPr>
              <a:xfrm>
                <a:off x="0" y="0"/>
                <a:ext cx="6992304" cy="510511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sp>
          <p:nvSpPr>
            <p:cNvPr id="401" name="Max peg bending stress &lt; fatigue strength…"/>
            <p:cNvSpPr txBox="1"/>
            <p:nvPr/>
          </p:nvSpPr>
          <p:spPr>
            <a:xfrm>
              <a:off x="87884" y="2288781"/>
              <a:ext cx="6881854" cy="9552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/>
            <a:p>
              <a:pPr algn="l">
                <a:defRPr sz="2800"/>
              </a:pPr>
              <a:r>
                <a:t>Max peg bending stress &lt; fatigue strength</a:t>
              </a:r>
            </a:p>
            <a:p>
              <a:pPr algn="l">
                <a:defRPr sz="2800"/>
              </a:pPr>
              <a:r>
                <a:t>of SUS316 for 1000 cycles (300 MPa)</a:t>
              </a:r>
            </a:p>
          </p:txBody>
        </p:sp>
        <p:sp>
          <p:nvSpPr>
            <p:cNvPr id="402" name="Button travel: 1.39 mm"/>
            <p:cNvSpPr txBox="1"/>
            <p:nvPr/>
          </p:nvSpPr>
          <p:spPr>
            <a:xfrm>
              <a:off x="10700642" y="3913669"/>
              <a:ext cx="3988224" cy="5248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/>
            <a:p>
              <a:pPr algn="l">
                <a:defRPr sz="2800"/>
              </a:pPr>
              <a:r>
                <a:rPr b="1"/>
                <a:t>Button travel:</a:t>
              </a:r>
              <a:r>
                <a:t> 1.39 mm</a:t>
              </a:r>
            </a:p>
          </p:txBody>
        </p:sp>
        <p:pic>
          <p:nvPicPr>
            <p:cNvPr id="403" name="Page1.jpg" descr="Page1.jpg"/>
            <p:cNvPicPr>
              <a:picLocks noChangeAspect="1"/>
            </p:cNvPicPr>
            <p:nvPr/>
          </p:nvPicPr>
          <p:blipFill>
            <a:blip r:embed="rId7">
              <a:extLst/>
            </a:blip>
            <a:srcRect l="14515" t="20836" r="56066" b="64733"/>
            <a:stretch>
              <a:fillRect/>
            </a:stretch>
          </p:blipFill>
          <p:spPr>
            <a:xfrm>
              <a:off x="7220305" y="2422463"/>
              <a:ext cx="3356841" cy="216204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04" name="Page1 2.jpg" descr="Page1 2.jpg"/>
            <p:cNvPicPr>
              <a:picLocks noChangeAspect="1"/>
            </p:cNvPicPr>
            <p:nvPr/>
          </p:nvPicPr>
          <p:blipFill>
            <a:blip r:embed="rId8">
              <a:extLst/>
            </a:blip>
            <a:srcRect l="4519" t="39260" r="72696" b="55444"/>
            <a:stretch>
              <a:fillRect/>
            </a:stretch>
          </p:blipFill>
          <p:spPr>
            <a:xfrm>
              <a:off x="10532995" y="2343904"/>
              <a:ext cx="3094381" cy="94418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05" name="Page1 2.jpg" descr="Page1 2.jpg"/>
            <p:cNvPicPr>
              <a:picLocks noChangeAspect="1"/>
            </p:cNvPicPr>
            <p:nvPr/>
          </p:nvPicPr>
          <p:blipFill>
            <a:blip r:embed="rId8">
              <a:extLst/>
            </a:blip>
            <a:srcRect l="32374" t="41120" r="48402" b="55623"/>
            <a:stretch>
              <a:fillRect/>
            </a:stretch>
          </p:blipFill>
          <p:spPr>
            <a:xfrm>
              <a:off x="10590281" y="3308770"/>
              <a:ext cx="2626703" cy="58425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after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02" fill="hold"/>
                                        <p:tgtEl>
                                          <p:spTgt spid="37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100000">
                <p:cTn id="7" fill="hold" display="0">
                  <p:stCondLst>
                    <p:cond delay="indefinite"/>
                  </p:stCondLst>
                </p:cTn>
                <p:tgtEl>
                  <p:spTgt spid="371"/>
                </p:tgtEl>
              </p:cMediaNode>
            </p:video>
            <p:seq concurrent="1" prevAc="none" nextAc="seek">
              <p:cTn id="8" evtFilter="cancelBubble" nodeType="interactiveSeq" restart="whenNotActive" fill="hold">
                <p:stCondLst>
                  <p:cond delay="0" evt="onClick">
                    <p:tgtEl>
                      <p:spTgt spid="371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7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371"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8" name="Door FEA Deformation (1).mp4" descr="Door FEA Deformation (1).mp4"/>
          <p:cNvPicPr>
            <a:picLocks noChangeAspect="0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>
            <a:extLst/>
          </a:blip>
          <a:stretch>
            <a:fillRect/>
          </a:stretch>
        </p:blipFill>
        <p:spPr>
          <a:xfrm>
            <a:off x="408090" y="3003447"/>
            <a:ext cx="5212568" cy="5212568"/>
          </a:xfrm>
          <a:prstGeom prst="rect">
            <a:avLst/>
          </a:prstGeom>
          <a:ln w="12700">
            <a:miter lim="400000"/>
          </a:ln>
        </p:spPr>
      </p:pic>
      <p:sp>
        <p:nvSpPr>
          <p:cNvPr id="409" name="Rounded Rectangle"/>
          <p:cNvSpPr/>
          <p:nvPr/>
        </p:nvSpPr>
        <p:spPr>
          <a:xfrm>
            <a:off x="455978" y="10878701"/>
            <a:ext cx="13556202" cy="2024697"/>
          </a:xfrm>
          <a:prstGeom prst="roundRect">
            <a:avLst>
              <a:gd name="adj" fmla="val 28640"/>
            </a:avLst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10" name="Rounded Rectangle"/>
          <p:cNvSpPr/>
          <p:nvPr/>
        </p:nvSpPr>
        <p:spPr>
          <a:xfrm>
            <a:off x="14498445" y="2727240"/>
            <a:ext cx="9429576" cy="10182157"/>
          </a:xfrm>
          <a:prstGeom prst="roundRect">
            <a:avLst>
              <a:gd name="adj" fmla="val 5946"/>
            </a:avLst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11" name="Rounded Rectangle"/>
          <p:cNvSpPr/>
          <p:nvPr/>
        </p:nvSpPr>
        <p:spPr>
          <a:xfrm>
            <a:off x="455978" y="2727240"/>
            <a:ext cx="13556202" cy="7609105"/>
          </a:xfrm>
          <a:prstGeom prst="roundRect">
            <a:avLst>
              <a:gd name="adj" fmla="val 8523"/>
            </a:avLst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12" name="Door and Latch Calculations"/>
          <p:cNvSpPr txBox="1"/>
          <p:nvPr>
            <p:ph type="title"/>
          </p:nvPr>
        </p:nvSpPr>
        <p:spPr>
          <a:xfrm>
            <a:off x="1206500" y="825500"/>
            <a:ext cx="21971000" cy="1434949"/>
          </a:xfrm>
          <a:prstGeom prst="rect">
            <a:avLst/>
          </a:prstGeom>
        </p:spPr>
        <p:txBody>
          <a:bodyPr/>
          <a:lstStyle>
            <a:lvl1pPr>
              <a:defRPr spc="-152" sz="7600"/>
            </a:lvl1pPr>
          </a:lstStyle>
          <a:p>
            <a:pPr/>
            <a:r>
              <a:t>Door and Latch Calculations</a:t>
            </a:r>
          </a:p>
        </p:txBody>
      </p:sp>
      <p:sp>
        <p:nvSpPr>
          <p:cNvPr id="413" name="Slide Number"/>
          <p:cNvSpPr txBox="1"/>
          <p:nvPr>
            <p:ph type="sldNum" sz="quarter" idx="2"/>
          </p:nvPr>
        </p:nvSpPr>
        <p:spPr>
          <a:xfrm>
            <a:off x="12058764" y="13080999"/>
            <a:ext cx="253975" cy="374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414" name="FEA"/>
          <p:cNvSpPr txBox="1"/>
          <p:nvPr/>
        </p:nvSpPr>
        <p:spPr>
          <a:xfrm>
            <a:off x="6340962" y="2403474"/>
            <a:ext cx="1786234" cy="5842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32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FEA</a:t>
            </a:r>
          </a:p>
        </p:txBody>
      </p:sp>
      <p:sp>
        <p:nvSpPr>
          <p:cNvPr id="415" name="Assumptions"/>
          <p:cNvSpPr txBox="1"/>
          <p:nvPr/>
        </p:nvSpPr>
        <p:spPr>
          <a:xfrm>
            <a:off x="5584679" y="10547633"/>
            <a:ext cx="3298800" cy="5842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32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Assumptions</a:t>
            </a:r>
          </a:p>
        </p:txBody>
      </p:sp>
      <p:sp>
        <p:nvSpPr>
          <p:cNvPr id="416" name="Hand Calculations"/>
          <p:cNvSpPr txBox="1"/>
          <p:nvPr/>
        </p:nvSpPr>
        <p:spPr>
          <a:xfrm>
            <a:off x="17096302" y="2427222"/>
            <a:ext cx="4233863" cy="5842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32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Hand Calculations</a:t>
            </a:r>
          </a:p>
        </p:txBody>
      </p:sp>
      <p:sp>
        <p:nvSpPr>
          <p:cNvPr id="417" name="Snap fit has constant cross-section…"/>
          <p:cNvSpPr txBox="1"/>
          <p:nvPr/>
        </p:nvSpPr>
        <p:spPr>
          <a:xfrm>
            <a:off x="877131" y="11113159"/>
            <a:ext cx="13285866" cy="15557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numCol="2" spcCol="664293" anchor="ctr"/>
          <a:lstStyle/>
          <a:p>
            <a:pPr marL="355600" indent="-355600" algn="l">
              <a:lnSpc>
                <a:spcPct val="120000"/>
              </a:lnSpc>
              <a:buSzPct val="123000"/>
              <a:buChar char="•"/>
              <a:defRPr sz="2800"/>
            </a:pPr>
            <a:r>
              <a:t>Snap fit has constant cross-section</a:t>
            </a:r>
          </a:p>
          <a:p>
            <a:pPr marL="355600" indent="-355600" algn="l">
              <a:lnSpc>
                <a:spcPct val="120000"/>
              </a:lnSpc>
              <a:buSzPct val="123000"/>
              <a:buChar char="•"/>
              <a:defRPr sz="2800"/>
            </a:pPr>
            <a:r>
              <a:t>Deflection magnification factor Q = 1</a:t>
            </a:r>
          </a:p>
          <a:p>
            <a:pPr marL="355600" indent="-355600" algn="l">
              <a:lnSpc>
                <a:spcPct val="120000"/>
              </a:lnSpc>
              <a:buSzPct val="123000"/>
              <a:buChar char="•"/>
              <a:defRPr sz="2800"/>
            </a:pPr>
            <a:r>
              <a:t>Latch does not move during door closing (assume worst case)</a:t>
            </a:r>
          </a:p>
        </p:txBody>
      </p:sp>
      <p:grpSp>
        <p:nvGrpSpPr>
          <p:cNvPr id="428" name="Group"/>
          <p:cNvGrpSpPr/>
          <p:nvPr/>
        </p:nvGrpSpPr>
        <p:grpSpPr>
          <a:xfrm>
            <a:off x="14545048" y="3051196"/>
            <a:ext cx="9158569" cy="9534246"/>
            <a:chOff x="0" y="0"/>
            <a:chExt cx="9158568" cy="9534244"/>
          </a:xfrm>
        </p:grpSpPr>
        <p:pic>
          <p:nvPicPr>
            <p:cNvPr id="418" name="Page4 3.jpg" descr="Page4 3.jpg"/>
            <p:cNvPicPr>
              <a:picLocks noChangeAspect="1"/>
            </p:cNvPicPr>
            <p:nvPr/>
          </p:nvPicPr>
          <p:blipFill>
            <a:blip r:embed="rId5">
              <a:extLst/>
            </a:blip>
            <a:srcRect l="7994" t="38378" r="37506" b="52736"/>
            <a:stretch>
              <a:fillRect/>
            </a:stretch>
          </p:blipFill>
          <p:spPr>
            <a:xfrm>
              <a:off x="557575" y="7149099"/>
              <a:ext cx="8600994" cy="18412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19" name="Hand Calculations 2.jpg" descr="Hand Calculations 2.jpg"/>
            <p:cNvPicPr>
              <a:picLocks noChangeAspect="1"/>
            </p:cNvPicPr>
            <p:nvPr/>
          </p:nvPicPr>
          <p:blipFill>
            <a:blip r:embed="rId6">
              <a:extLst/>
            </a:blip>
            <a:srcRect l="14057" t="7848" r="40008" b="79746"/>
            <a:stretch>
              <a:fillRect/>
            </a:stretch>
          </p:blipFill>
          <p:spPr>
            <a:xfrm>
              <a:off x="556405" y="0"/>
              <a:ext cx="6991478" cy="247914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20" name="Max door strain &lt; allowable strain for ABS (7%)"/>
            <p:cNvSpPr txBox="1"/>
            <p:nvPr/>
          </p:nvSpPr>
          <p:spPr>
            <a:xfrm>
              <a:off x="516843" y="4081028"/>
              <a:ext cx="7920013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l">
                <a:defRPr sz="2800"/>
              </a:lvl1pPr>
            </a:lstStyle>
            <a:p>
              <a:pPr/>
              <a:r>
                <a:t>Max door strain &lt; allowable strain for ABS (7%)</a:t>
              </a:r>
            </a:p>
          </p:txBody>
        </p:sp>
        <p:pic>
          <p:nvPicPr>
            <p:cNvPr id="421" name="Hand Calculations.jpg" descr="Hand Calculations.jpg"/>
            <p:cNvPicPr>
              <a:picLocks noChangeAspect="1"/>
            </p:cNvPicPr>
            <p:nvPr/>
          </p:nvPicPr>
          <p:blipFill>
            <a:blip r:embed="rId7">
              <a:extLst/>
            </a:blip>
            <a:srcRect l="4636" t="27258" r="56547" b="68741"/>
            <a:stretch>
              <a:fillRect/>
            </a:stretch>
          </p:blipFill>
          <p:spPr>
            <a:xfrm>
              <a:off x="0" y="3182661"/>
              <a:ext cx="6194159" cy="83814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22" name="Hand Calculations.jpg" descr="Hand Calculations.jpg"/>
            <p:cNvPicPr>
              <a:picLocks noChangeAspect="1"/>
            </p:cNvPicPr>
            <p:nvPr/>
          </p:nvPicPr>
          <p:blipFill>
            <a:blip r:embed="rId7">
              <a:extLst/>
            </a:blip>
            <a:srcRect l="6444" t="31278" r="48845" b="66062"/>
            <a:stretch>
              <a:fillRect/>
            </a:stretch>
          </p:blipFill>
          <p:spPr>
            <a:xfrm>
              <a:off x="200967" y="4791820"/>
              <a:ext cx="7134542" cy="55709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23" name="Max door stress &lt; fatigue strength of ABS for 1000 cycles (35 MPa)"/>
            <p:cNvSpPr txBox="1"/>
            <p:nvPr/>
          </p:nvSpPr>
          <p:spPr>
            <a:xfrm>
              <a:off x="516843" y="6070202"/>
              <a:ext cx="7920013" cy="9552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l">
                <a:defRPr sz="2800"/>
              </a:lvl1pPr>
            </a:lstStyle>
            <a:p>
              <a:pPr/>
              <a:r>
                <a:t>Max door stress &lt; fatigue strength of ABS for 1000 cycles (35 MPa)</a:t>
              </a:r>
            </a:p>
          </p:txBody>
        </p:sp>
        <p:pic>
          <p:nvPicPr>
            <p:cNvPr id="424" name="Hand Calculations.jpg" descr="Hand Calculations.jpg"/>
            <p:cNvPicPr>
              <a:picLocks noChangeAspect="1"/>
            </p:cNvPicPr>
            <p:nvPr/>
          </p:nvPicPr>
          <p:blipFill>
            <a:blip r:embed="rId7">
              <a:extLst/>
            </a:blip>
            <a:srcRect l="6444" t="35739" r="48845" b="61582"/>
            <a:stretch>
              <a:fillRect/>
            </a:stretch>
          </p:blipFill>
          <p:spPr>
            <a:xfrm>
              <a:off x="200967" y="5537240"/>
              <a:ext cx="7134542" cy="56103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25" name="Required force to close door: 6.1 N"/>
            <p:cNvSpPr txBox="1"/>
            <p:nvPr/>
          </p:nvSpPr>
          <p:spPr>
            <a:xfrm>
              <a:off x="516843" y="9009379"/>
              <a:ext cx="7920013" cy="5248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/>
            <a:p>
              <a:pPr algn="l">
                <a:defRPr b="1" sz="2800"/>
              </a:pPr>
              <a:r>
                <a:t>Required force to close door: </a:t>
              </a:r>
              <a:r>
                <a:rPr b="0"/>
                <a:t>6.1 N</a:t>
              </a:r>
            </a:p>
          </p:txBody>
        </p:sp>
        <p:pic>
          <p:nvPicPr>
            <p:cNvPr id="426" name="Page3 2.jpg" descr="Page3 2.jpg"/>
            <p:cNvPicPr>
              <a:picLocks noChangeAspect="1"/>
            </p:cNvPicPr>
            <p:nvPr/>
          </p:nvPicPr>
          <p:blipFill>
            <a:blip r:embed="rId8">
              <a:extLst/>
            </a:blip>
            <a:srcRect l="69643" t="41449" r="15468" b="54238"/>
            <a:stretch>
              <a:fillRect/>
            </a:stretch>
          </p:blipFill>
          <p:spPr>
            <a:xfrm>
              <a:off x="3110719" y="1766380"/>
              <a:ext cx="2265699" cy="86173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427" name="Hand Calculations.jpg" descr="Hand Calculations.jpg"/>
            <p:cNvPicPr>
              <a:picLocks noChangeAspect="1"/>
            </p:cNvPicPr>
            <p:nvPr/>
          </p:nvPicPr>
          <p:blipFill>
            <a:blip r:embed="rId7">
              <a:extLst/>
            </a:blip>
            <a:srcRect l="4636" t="23867" r="74648" b="72634"/>
            <a:stretch>
              <a:fillRect/>
            </a:stretch>
          </p:blipFill>
          <p:spPr>
            <a:xfrm>
              <a:off x="0" y="2472231"/>
              <a:ext cx="3305661" cy="73293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429" name="Door FEA Stress.mp4" descr="Door FEA Stress.mp4"/>
          <p:cNvPicPr>
            <a:picLocks noChangeAspect="0"/>
          </p:cNvPicPr>
          <p:nvPr>
            <a:videoFile r:link="rId9"/>
            <p:extLst>
              <p:ext uri="{DAA4B4D4-6D71-4841-9C94-3DE7FCFB9230}">
                <p14:media xmlns:p14="http://schemas.microsoft.com/office/powerpoint/2010/main" r:embed="rId10"/>
              </p:ext>
            </p:extLst>
          </p:nvPr>
        </p:nvPicPr>
        <p:blipFill>
          <a:blip r:embed="rId4">
            <a:extLst/>
          </a:blip>
          <a:stretch>
            <a:fillRect/>
          </a:stretch>
        </p:blipFill>
        <p:spPr>
          <a:xfrm>
            <a:off x="4881795" y="3003447"/>
            <a:ext cx="5212568" cy="5212568"/>
          </a:xfrm>
          <a:prstGeom prst="rect">
            <a:avLst/>
          </a:prstGeom>
          <a:ln w="12700">
            <a:miter lim="400000"/>
          </a:ln>
        </p:spPr>
      </p:pic>
      <p:sp>
        <p:nvSpPr>
          <p:cNvPr id="430" name="μ = 0.2"/>
          <p:cNvSpPr txBox="1"/>
          <p:nvPr/>
        </p:nvSpPr>
        <p:spPr>
          <a:xfrm>
            <a:off x="4930087" y="3680663"/>
            <a:ext cx="1316229" cy="523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457200">
              <a:defRPr sz="2800"/>
            </a:lvl1pPr>
          </a:lstStyle>
          <a:p>
            <a:pPr/>
            <a:r>
              <a:t>μ = 0.2 </a:t>
            </a:r>
          </a:p>
        </p:txBody>
      </p:sp>
      <p:sp>
        <p:nvSpPr>
          <p:cNvPr id="431" name="Total deformation"/>
          <p:cNvSpPr txBox="1"/>
          <p:nvPr/>
        </p:nvSpPr>
        <p:spPr>
          <a:xfrm>
            <a:off x="1161552" y="8128677"/>
            <a:ext cx="3298800" cy="5334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8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Total deformation</a:t>
            </a:r>
          </a:p>
        </p:txBody>
      </p:sp>
      <p:sp>
        <p:nvSpPr>
          <p:cNvPr id="432" name="Equivalent stress"/>
          <p:cNvSpPr txBox="1"/>
          <p:nvPr/>
        </p:nvSpPr>
        <p:spPr>
          <a:xfrm>
            <a:off x="5838679" y="8128677"/>
            <a:ext cx="3298800" cy="5334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8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Equivalent stress</a:t>
            </a:r>
          </a:p>
        </p:txBody>
      </p:sp>
      <p:sp>
        <p:nvSpPr>
          <p:cNvPr id="433" name="Max deflection of door:  0.78 mm…"/>
          <p:cNvSpPr txBox="1"/>
          <p:nvPr/>
        </p:nvSpPr>
        <p:spPr>
          <a:xfrm>
            <a:off x="9990522" y="4221488"/>
            <a:ext cx="3117318" cy="3556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b="1" sz="2800">
                <a:latin typeface="Helvetica"/>
                <a:ea typeface="Helvetica"/>
                <a:cs typeface="Helvetica"/>
                <a:sym typeface="Helvetica"/>
              </a:defRPr>
            </a:pPr>
            <a:r>
              <a:t>Max deflection of door: </a:t>
            </a:r>
            <a:r>
              <a:rPr b="0"/>
              <a:t> 0.78 mm</a:t>
            </a:r>
            <a:endParaRPr b="0"/>
          </a:p>
          <a:p>
            <a:pPr>
              <a:defRPr b="1" sz="2800">
                <a:latin typeface="Helvetica"/>
                <a:ea typeface="Helvetica"/>
                <a:cs typeface="Helvetica"/>
                <a:sym typeface="Helvetica"/>
              </a:defRPr>
            </a:pPr>
            <a:endParaRPr b="0"/>
          </a:p>
          <a:p>
            <a:pPr>
              <a:defRPr b="1" sz="2800">
                <a:latin typeface="Helvetica"/>
                <a:ea typeface="Helvetica"/>
                <a:cs typeface="Helvetica"/>
                <a:sym typeface="Helvetica"/>
              </a:defRPr>
            </a:pPr>
            <a:r>
              <a:t>Max equivalent stress: </a:t>
            </a:r>
            <a:r>
              <a:rPr b="0"/>
              <a:t>49 MPa</a:t>
            </a:r>
            <a:endParaRPr b="0"/>
          </a:p>
          <a:p>
            <a:pPr>
              <a:defRPr b="1" sz="2800">
                <a:latin typeface="Helvetica"/>
                <a:ea typeface="Helvetica"/>
                <a:cs typeface="Helvetica"/>
                <a:sym typeface="Helvetica"/>
              </a:defRPr>
            </a:pPr>
            <a:endParaRPr b="0"/>
          </a:p>
          <a:p>
            <a:pPr>
              <a:defRPr b="1" sz="2800">
                <a:latin typeface="Helvetica"/>
                <a:ea typeface="Helvetica"/>
                <a:cs typeface="Helvetica"/>
                <a:sym typeface="Helvetica"/>
              </a:defRPr>
            </a:pPr>
            <a:r>
              <a:t>Max force required: </a:t>
            </a:r>
            <a:r>
              <a:rPr b="0"/>
              <a:t>28 N</a:t>
            </a:r>
          </a:p>
        </p:txBody>
      </p:sp>
      <p:sp>
        <p:nvSpPr>
          <p:cNvPr id="434" name="Simulation assumes latch is a rigid body, latch does not move during door closing, and base of snap fit feature is fixed → use hand calculations"/>
          <p:cNvSpPr txBox="1"/>
          <p:nvPr/>
        </p:nvSpPr>
        <p:spPr>
          <a:xfrm>
            <a:off x="1018409" y="8962724"/>
            <a:ext cx="12431340" cy="9652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28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Simulation assumes latch is a rigid body, latch does not move during door closing, and base of snap fit feature is fixed → use hand calculations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after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13" fill="hold"/>
                                        <p:tgtEl>
                                          <p:spTgt spid="40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13"/>
                            </p:stCondLst>
                            <p:childTnLst>
                              <p:par>
                                <p:cTn id="8" presetClass="mediacall" nodeType="afterEffect" presetSubtype="0" presetID="1" grp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2013" fill="hold"/>
                                        <p:tgtEl>
                                          <p:spTgt spid="42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100000">
                <p:cTn id="10" fill="hold" display="0">
                  <p:stCondLst>
                    <p:cond delay="indefinite"/>
                  </p:stCondLst>
                </p:cTn>
                <p:tgtEl>
                  <p:spTgt spid="408"/>
                </p:tgtEl>
              </p:cMediaNode>
            </p:video>
            <p:seq concurrent="1" prevAc="none" nextAc="seek">
              <p:cTn id="11" evtFilter="cancelBubble" nodeType="interactiveSeq" restart="whenNotActive" fill="hold">
                <p:stCondLst>
                  <p:cond delay="0" evt="onClick">
                    <p:tgtEl>
                      <p:spTgt spid="408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40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408"/>
                  </p:tgtEl>
                </p:cond>
              </p:nextCondLst>
            </p:seq>
            <p:video fullScrn="0">
              <p:cMediaNode mute="0" showWhenStopped="1" numSld="1" vol="100000">
                <p:cTn id="16" fill="hold" display="0">
                  <p:stCondLst>
                    <p:cond delay="indefinite"/>
                  </p:stCondLst>
                </p:cTn>
                <p:tgtEl>
                  <p:spTgt spid="429"/>
                </p:tgtEl>
              </p:cMediaNode>
            </p:video>
            <p:seq concurrent="1" prevAc="none" nextAc="seek">
              <p:cTn id="17" evtFilter="cancelBubble" nodeType="interactiveSeq" restart="whenNotActive" fill="hold">
                <p:stCondLst>
                  <p:cond delay="0" evt="onClick">
                    <p:tgtEl>
                      <p:spTgt spid="429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1" dur="1" fill="hold"/>
                                        <p:tgtEl>
                                          <p:spTgt spid="42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429"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Rounded Rectangle"/>
          <p:cNvSpPr/>
          <p:nvPr/>
        </p:nvSpPr>
        <p:spPr>
          <a:xfrm>
            <a:off x="10320882" y="2727240"/>
            <a:ext cx="13607139" cy="10182157"/>
          </a:xfrm>
          <a:prstGeom prst="roundRect">
            <a:avLst>
              <a:gd name="adj" fmla="val 5507"/>
            </a:avLst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37" name="Rounded Rectangle"/>
          <p:cNvSpPr/>
          <p:nvPr/>
        </p:nvSpPr>
        <p:spPr>
          <a:xfrm>
            <a:off x="455978" y="2727240"/>
            <a:ext cx="9363793" cy="10182157"/>
          </a:xfrm>
          <a:prstGeom prst="roundRect">
            <a:avLst>
              <a:gd name="adj" fmla="val 6926"/>
            </a:avLst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38" name="Initial Door and Latch Calculations"/>
          <p:cNvSpPr txBox="1"/>
          <p:nvPr>
            <p:ph type="title"/>
          </p:nvPr>
        </p:nvSpPr>
        <p:spPr>
          <a:xfrm>
            <a:off x="1206500" y="825500"/>
            <a:ext cx="21971000" cy="1434949"/>
          </a:xfrm>
          <a:prstGeom prst="rect">
            <a:avLst/>
          </a:prstGeom>
        </p:spPr>
        <p:txBody>
          <a:bodyPr/>
          <a:lstStyle>
            <a:lvl1pPr>
              <a:defRPr spc="-152" sz="7600"/>
            </a:lvl1pPr>
          </a:lstStyle>
          <a:p>
            <a:pPr/>
            <a:r>
              <a:t>Initial Door and Latch Calculations</a:t>
            </a:r>
          </a:p>
        </p:txBody>
      </p:sp>
      <p:sp>
        <p:nvSpPr>
          <p:cNvPr id="439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440" name="Hand Calculations"/>
          <p:cNvSpPr txBox="1"/>
          <p:nvPr/>
        </p:nvSpPr>
        <p:spPr>
          <a:xfrm>
            <a:off x="3147601" y="2425350"/>
            <a:ext cx="4087170" cy="5842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32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Hand Calculations</a:t>
            </a:r>
          </a:p>
        </p:txBody>
      </p:sp>
      <p:pic>
        <p:nvPicPr>
          <p:cNvPr id="441" name="Page4 3.jpg" descr="Page4 3.jpg"/>
          <p:cNvPicPr>
            <a:picLocks noChangeAspect="1"/>
          </p:cNvPicPr>
          <p:nvPr/>
        </p:nvPicPr>
        <p:blipFill>
          <a:blip r:embed="rId2">
            <a:extLst/>
          </a:blip>
          <a:srcRect l="7994" t="38378" r="37506" b="52736"/>
          <a:stretch>
            <a:fillRect/>
          </a:stretch>
        </p:blipFill>
        <p:spPr>
          <a:xfrm>
            <a:off x="890648" y="9817804"/>
            <a:ext cx="8600993" cy="1841202"/>
          </a:xfrm>
          <a:prstGeom prst="rect">
            <a:avLst/>
          </a:prstGeom>
          <a:ln w="12700">
            <a:miter lim="400000"/>
          </a:ln>
        </p:spPr>
      </p:pic>
      <p:pic>
        <p:nvPicPr>
          <p:cNvPr id="442" name="Hand Calculations 2.jpg" descr="Hand Calculations 2.jpg"/>
          <p:cNvPicPr>
            <a:picLocks noChangeAspect="1"/>
          </p:cNvPicPr>
          <p:nvPr/>
        </p:nvPicPr>
        <p:blipFill>
          <a:blip r:embed="rId3">
            <a:extLst/>
          </a:blip>
          <a:srcRect l="14057" t="7848" r="40008" b="79746"/>
          <a:stretch>
            <a:fillRect/>
          </a:stretch>
        </p:blipFill>
        <p:spPr>
          <a:xfrm>
            <a:off x="745193" y="3085487"/>
            <a:ext cx="6555695" cy="2324618"/>
          </a:xfrm>
          <a:prstGeom prst="rect">
            <a:avLst/>
          </a:prstGeom>
          <a:ln w="12700">
            <a:miter lim="400000"/>
          </a:ln>
        </p:spPr>
      </p:pic>
      <p:sp>
        <p:nvSpPr>
          <p:cNvPr id="443" name="Max strain &lt; allowable strain for ABS (7%)"/>
          <p:cNvSpPr txBox="1"/>
          <p:nvPr/>
        </p:nvSpPr>
        <p:spPr>
          <a:xfrm>
            <a:off x="982390" y="6406629"/>
            <a:ext cx="6931556" cy="523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 sz="2800"/>
            </a:lvl1pPr>
          </a:lstStyle>
          <a:p>
            <a:pPr/>
            <a:r>
              <a:t>Max strain &lt; allowable strain for ABS (7%)</a:t>
            </a:r>
          </a:p>
        </p:txBody>
      </p:sp>
      <p:pic>
        <p:nvPicPr>
          <p:cNvPr id="444" name="Hand Calculations.jpg" descr="Hand Calculations.jpg"/>
          <p:cNvPicPr>
            <a:picLocks noChangeAspect="1"/>
          </p:cNvPicPr>
          <p:nvPr/>
        </p:nvPicPr>
        <p:blipFill>
          <a:blip r:embed="rId4">
            <a:extLst/>
          </a:blip>
          <a:srcRect l="14305" t="27258" r="56547" b="68741"/>
          <a:stretch>
            <a:fillRect/>
          </a:stretch>
        </p:blipFill>
        <p:spPr>
          <a:xfrm>
            <a:off x="3968165" y="5486235"/>
            <a:ext cx="4651185" cy="838145"/>
          </a:xfrm>
          <a:prstGeom prst="rect">
            <a:avLst/>
          </a:prstGeom>
          <a:ln w="12700">
            <a:miter lim="400000"/>
          </a:ln>
        </p:spPr>
      </p:pic>
      <p:pic>
        <p:nvPicPr>
          <p:cNvPr id="445" name="Hand Calculations.jpg" descr="Hand Calculations.jpg"/>
          <p:cNvPicPr>
            <a:picLocks noChangeAspect="1"/>
          </p:cNvPicPr>
          <p:nvPr/>
        </p:nvPicPr>
        <p:blipFill>
          <a:blip r:embed="rId4">
            <a:extLst/>
          </a:blip>
          <a:srcRect l="6444" t="31278" r="48845" b="66062"/>
          <a:stretch>
            <a:fillRect/>
          </a:stretch>
        </p:blipFill>
        <p:spPr>
          <a:xfrm>
            <a:off x="800557" y="7006069"/>
            <a:ext cx="7134543" cy="557091"/>
          </a:xfrm>
          <a:prstGeom prst="rect">
            <a:avLst/>
          </a:prstGeom>
          <a:ln w="12700">
            <a:miter lim="400000"/>
          </a:ln>
        </p:spPr>
      </p:pic>
      <p:sp>
        <p:nvSpPr>
          <p:cNvPr id="446" name="Max door stress &lt; fatigue strength of ABS for 1000 cycles (35 MPa)"/>
          <p:cNvSpPr txBox="1"/>
          <p:nvPr/>
        </p:nvSpPr>
        <p:spPr>
          <a:xfrm>
            <a:off x="1003918" y="8615970"/>
            <a:ext cx="8267913" cy="9552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defRPr sz="2800"/>
            </a:lvl1pPr>
          </a:lstStyle>
          <a:p>
            <a:pPr/>
            <a:r>
              <a:t>Max door stress &lt; fatigue strength of ABS for 1000 cycles (35 MPa)</a:t>
            </a:r>
          </a:p>
        </p:txBody>
      </p:sp>
      <p:pic>
        <p:nvPicPr>
          <p:cNvPr id="447" name="Hand Calculations.jpg" descr="Hand Calculations.jpg"/>
          <p:cNvPicPr>
            <a:picLocks noChangeAspect="1"/>
          </p:cNvPicPr>
          <p:nvPr/>
        </p:nvPicPr>
        <p:blipFill>
          <a:blip r:embed="rId4">
            <a:extLst/>
          </a:blip>
          <a:srcRect l="6444" t="35739" r="48845" b="61582"/>
          <a:stretch>
            <a:fillRect/>
          </a:stretch>
        </p:blipFill>
        <p:spPr>
          <a:xfrm>
            <a:off x="800557" y="7926717"/>
            <a:ext cx="7134543" cy="561037"/>
          </a:xfrm>
          <a:prstGeom prst="rect">
            <a:avLst/>
          </a:prstGeom>
          <a:ln w="12700">
            <a:miter lim="400000"/>
          </a:ln>
        </p:spPr>
      </p:pic>
      <p:sp>
        <p:nvSpPr>
          <p:cNvPr id="448" name="Required force to close door: 6.1 N"/>
          <p:cNvSpPr txBox="1"/>
          <p:nvPr/>
        </p:nvSpPr>
        <p:spPr>
          <a:xfrm>
            <a:off x="984151" y="11905498"/>
            <a:ext cx="6077667" cy="524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 b="1" sz="2800"/>
            </a:pPr>
            <a:r>
              <a:t>Required force to close door: </a:t>
            </a:r>
            <a:r>
              <a:rPr b="0"/>
              <a:t>6.1 N</a:t>
            </a:r>
          </a:p>
        </p:txBody>
      </p:sp>
      <p:pic>
        <p:nvPicPr>
          <p:cNvPr id="449" name="Page3 2.jpg" descr="Page3 2.jpg"/>
          <p:cNvPicPr>
            <a:picLocks noChangeAspect="1"/>
          </p:cNvPicPr>
          <p:nvPr/>
        </p:nvPicPr>
        <p:blipFill>
          <a:blip r:embed="rId5">
            <a:extLst/>
          </a:blip>
          <a:srcRect l="69643" t="41449" r="15468" b="54238"/>
          <a:stretch>
            <a:fillRect/>
          </a:stretch>
        </p:blipFill>
        <p:spPr>
          <a:xfrm>
            <a:off x="3588075" y="4754498"/>
            <a:ext cx="2118838" cy="805879"/>
          </a:xfrm>
          <a:prstGeom prst="rect">
            <a:avLst/>
          </a:prstGeom>
          <a:ln w="12700">
            <a:miter lim="400000"/>
          </a:ln>
        </p:spPr>
      </p:pic>
      <p:pic>
        <p:nvPicPr>
          <p:cNvPr id="450" name="Hand Calculations.jpg" descr="Hand Calculations.jpg"/>
          <p:cNvPicPr>
            <a:picLocks noChangeAspect="1"/>
          </p:cNvPicPr>
          <p:nvPr/>
        </p:nvPicPr>
        <p:blipFill>
          <a:blip r:embed="rId4">
            <a:extLst/>
          </a:blip>
          <a:srcRect l="4636" t="23867" r="74648" b="72634"/>
          <a:stretch>
            <a:fillRect/>
          </a:stretch>
        </p:blipFill>
        <p:spPr>
          <a:xfrm>
            <a:off x="597593" y="5538821"/>
            <a:ext cx="3305661" cy="73293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71" name="Group"/>
          <p:cNvGrpSpPr/>
          <p:nvPr/>
        </p:nvGrpSpPr>
        <p:grpSpPr>
          <a:xfrm>
            <a:off x="11182337" y="3017168"/>
            <a:ext cx="11884229" cy="5700135"/>
            <a:chOff x="0" y="0"/>
            <a:chExt cx="11884227" cy="5700133"/>
          </a:xfrm>
        </p:grpSpPr>
        <p:sp>
          <p:nvSpPr>
            <p:cNvPr id="451" name="Line"/>
            <p:cNvSpPr/>
            <p:nvPr/>
          </p:nvSpPr>
          <p:spPr>
            <a:xfrm>
              <a:off x="78938" y="5155165"/>
              <a:ext cx="1203850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headEnd type="triangle" w="med" len="sm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52" name="+"/>
            <p:cNvSpPr txBox="1"/>
            <p:nvPr/>
          </p:nvSpPr>
          <p:spPr>
            <a:xfrm>
              <a:off x="1408386" y="4879320"/>
              <a:ext cx="327661" cy="5234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+</a:t>
              </a:r>
            </a:p>
          </p:txBody>
        </p:sp>
        <p:grpSp>
          <p:nvGrpSpPr>
            <p:cNvPr id="455" name="Group"/>
            <p:cNvGrpSpPr/>
            <p:nvPr/>
          </p:nvGrpSpPr>
          <p:grpSpPr>
            <a:xfrm>
              <a:off x="-1" y="66436"/>
              <a:ext cx="5598050" cy="4749668"/>
              <a:chOff x="0" y="0"/>
              <a:chExt cx="5598048" cy="4749667"/>
            </a:xfrm>
          </p:grpSpPr>
          <p:pic>
            <p:nvPicPr>
              <p:cNvPr id="453" name="Screen Shot 2024-12-03 at 11.53.55 PM.png" descr="Screen Shot 2024-12-03 at 11.53.55 PM.png"/>
              <p:cNvPicPr>
                <a:picLocks noChangeAspect="1"/>
              </p:cNvPicPr>
              <p:nvPr/>
            </p:nvPicPr>
            <p:blipFill>
              <a:blip r:embed="rId6">
                <a:extLst/>
              </a:blip>
              <a:srcRect l="0" t="0" r="16262" b="0"/>
              <a:stretch>
                <a:fillRect/>
              </a:stretch>
            </p:blipFill>
            <p:spPr>
              <a:xfrm>
                <a:off x="0" y="0"/>
                <a:ext cx="5596585" cy="4749668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454" name="Rectangle"/>
              <p:cNvSpPr/>
              <p:nvPr/>
            </p:nvSpPr>
            <p:spPr>
              <a:xfrm rot="16200000">
                <a:off x="2887553" y="1916432"/>
                <a:ext cx="4504189" cy="916803"/>
              </a:xfrm>
              <a:prstGeom prst="rect">
                <a:avLst/>
              </a:prstGeom>
              <a:gradFill flip="none" rotWithShape="1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FFFFF"/>
                  </a:gs>
                </a:gsLst>
                <a:lin ang="54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EDFFED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</p:grpSp>
        <p:grpSp>
          <p:nvGrpSpPr>
            <p:cNvPr id="458" name="Group"/>
            <p:cNvGrpSpPr/>
            <p:nvPr/>
          </p:nvGrpSpPr>
          <p:grpSpPr>
            <a:xfrm>
              <a:off x="6286179" y="0"/>
              <a:ext cx="5598049" cy="4868220"/>
              <a:chOff x="0" y="0"/>
              <a:chExt cx="5598048" cy="4868219"/>
            </a:xfrm>
          </p:grpSpPr>
          <p:pic>
            <p:nvPicPr>
              <p:cNvPr id="456" name="Screen Shot 2024-12-03 at 11.52.54 PM.png" descr="Screen Shot 2024-12-03 at 11.52.54 PM.png"/>
              <p:cNvPicPr>
                <a:picLocks noChangeAspect="1"/>
              </p:cNvPicPr>
              <p:nvPr/>
            </p:nvPicPr>
            <p:blipFill>
              <a:blip r:embed="rId7">
                <a:extLst/>
              </a:blip>
              <a:srcRect l="1562" t="0" r="10419" b="0"/>
              <a:stretch>
                <a:fillRect/>
              </a:stretch>
            </p:blipFill>
            <p:spPr>
              <a:xfrm>
                <a:off x="0" y="0"/>
                <a:ext cx="5597200" cy="4868220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457" name="Rectangle"/>
              <p:cNvSpPr/>
              <p:nvPr/>
            </p:nvSpPr>
            <p:spPr>
              <a:xfrm rot="16200000">
                <a:off x="2890803" y="1976258"/>
                <a:ext cx="4498789" cy="915704"/>
              </a:xfrm>
              <a:prstGeom prst="rect">
                <a:avLst/>
              </a:prstGeom>
              <a:gradFill flip="none" rotWithShape="1">
                <a:gsLst>
                  <a:gs pos="0">
                    <a:srgbClr val="FFFFFF">
                      <a:alpha val="0"/>
                    </a:srgbClr>
                  </a:gs>
                  <a:gs pos="100000">
                    <a:srgbClr val="FFFFFF"/>
                  </a:gs>
                </a:gsLst>
                <a:lin ang="54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EDFFED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</p:grpSp>
        <p:sp>
          <p:nvSpPr>
            <p:cNvPr id="459" name="Line"/>
            <p:cNvSpPr/>
            <p:nvPr/>
          </p:nvSpPr>
          <p:spPr>
            <a:xfrm flipV="1">
              <a:off x="8275762" y="2022275"/>
              <a:ext cx="1" cy="2820078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60" name="Line"/>
            <p:cNvSpPr/>
            <p:nvPr/>
          </p:nvSpPr>
          <p:spPr>
            <a:xfrm flipV="1">
              <a:off x="3606915" y="2060886"/>
              <a:ext cx="1" cy="2742855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61" name="1"/>
            <p:cNvSpPr txBox="1"/>
            <p:nvPr/>
          </p:nvSpPr>
          <p:spPr>
            <a:xfrm>
              <a:off x="7957743" y="5202270"/>
              <a:ext cx="296767" cy="4978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2800"/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462" name="4, 5"/>
            <p:cNvSpPr txBox="1"/>
            <p:nvPr/>
          </p:nvSpPr>
          <p:spPr>
            <a:xfrm>
              <a:off x="3199986" y="4764074"/>
              <a:ext cx="813860" cy="4978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2800"/>
              </a:lvl1pPr>
            </a:lstStyle>
            <a:p>
              <a:pPr/>
              <a:r>
                <a:t>4, 5</a:t>
              </a:r>
            </a:p>
          </p:txBody>
        </p:sp>
        <p:sp>
          <p:nvSpPr>
            <p:cNvPr id="463" name="Line"/>
            <p:cNvSpPr/>
            <p:nvPr/>
          </p:nvSpPr>
          <p:spPr>
            <a:xfrm flipV="1">
              <a:off x="9978009" y="3438914"/>
              <a:ext cx="1" cy="1364827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64" name="6, 7"/>
            <p:cNvSpPr txBox="1"/>
            <p:nvPr/>
          </p:nvSpPr>
          <p:spPr>
            <a:xfrm>
              <a:off x="9234839" y="4750589"/>
              <a:ext cx="813860" cy="4978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2800"/>
              </a:lvl1pPr>
            </a:lstStyle>
            <a:p>
              <a:pPr/>
              <a:r>
                <a:t>6, 7</a:t>
              </a:r>
            </a:p>
          </p:txBody>
        </p:sp>
        <p:sp>
          <p:nvSpPr>
            <p:cNvPr id="465" name="Line"/>
            <p:cNvSpPr/>
            <p:nvPr/>
          </p:nvSpPr>
          <p:spPr>
            <a:xfrm flipV="1">
              <a:off x="7673275" y="411472"/>
              <a:ext cx="1" cy="4392269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66" name="Line"/>
            <p:cNvSpPr/>
            <p:nvPr/>
          </p:nvSpPr>
          <p:spPr>
            <a:xfrm flipV="1">
              <a:off x="8145504" y="2032701"/>
              <a:ext cx="1" cy="325864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67" name="8"/>
            <p:cNvSpPr txBox="1"/>
            <p:nvPr/>
          </p:nvSpPr>
          <p:spPr>
            <a:xfrm>
              <a:off x="7524892" y="4744494"/>
              <a:ext cx="296767" cy="4978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2800"/>
              </a:lvl1pPr>
            </a:lstStyle>
            <a:p>
              <a:pPr/>
              <a:r>
                <a:t>8</a:t>
              </a:r>
            </a:p>
          </p:txBody>
        </p:sp>
        <p:sp>
          <p:nvSpPr>
            <p:cNvPr id="468" name="9"/>
            <p:cNvSpPr txBox="1"/>
            <p:nvPr/>
          </p:nvSpPr>
          <p:spPr>
            <a:xfrm>
              <a:off x="8178179" y="4764074"/>
              <a:ext cx="296768" cy="4978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2800"/>
              </a:lvl1pPr>
            </a:lstStyle>
            <a:p>
              <a:pPr/>
              <a:r>
                <a:t>9</a:t>
              </a:r>
            </a:p>
          </p:txBody>
        </p:sp>
        <p:sp>
          <p:nvSpPr>
            <p:cNvPr id="469" name="Line"/>
            <p:cNvSpPr/>
            <p:nvPr/>
          </p:nvSpPr>
          <p:spPr>
            <a:xfrm flipV="1">
              <a:off x="10190438" y="1895223"/>
              <a:ext cx="1" cy="3370024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470" name="2, 3"/>
            <p:cNvSpPr txBox="1"/>
            <p:nvPr/>
          </p:nvSpPr>
          <p:spPr>
            <a:xfrm>
              <a:off x="9849099" y="5202270"/>
              <a:ext cx="939769" cy="4978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2800"/>
              </a:lvl1pPr>
            </a:lstStyle>
            <a:p>
              <a:pPr/>
              <a:r>
                <a:t>2, 3</a:t>
              </a:r>
            </a:p>
          </p:txBody>
        </p:sp>
      </p:grpSp>
      <p:graphicFrame>
        <p:nvGraphicFramePr>
          <p:cNvPr id="472" name="Table 1"/>
          <p:cNvGraphicFramePr/>
          <p:nvPr/>
        </p:nvGraphicFramePr>
        <p:xfrm>
          <a:off x="10710978" y="8935675"/>
          <a:ext cx="9109754" cy="3601055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853890"/>
                <a:gridCol w="5152779"/>
                <a:gridCol w="1066377"/>
                <a:gridCol w="1008783"/>
                <a:gridCol w="1015222"/>
              </a:tblGrid>
              <a:tr h="358835">
                <a:tc>
                  <a:txBody>
                    <a:bodyPr/>
                    <a:lstStyle/>
                    <a:p>
                      <a:pPr algn="l" defTabSz="457200"/>
                      <a:r>
                        <a:rPr b="1" sz="2200"/>
                        <a:t>No.</a:t>
                      </a:r>
                    </a:p>
                  </a:txBody>
                  <a:tcPr marL="63500" marR="63500" marT="0" marB="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b="1" sz="2200"/>
                        <a:t>Description</a:t>
                      </a:r>
                    </a:p>
                  </a:txBody>
                  <a:tcPr marL="63500" marR="63500" marT="0" marB="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/>
                      <a:r>
                        <a:rPr b="1" sz="2200"/>
                        <a:t>Nom.</a:t>
                      </a:r>
                    </a:p>
                  </a:txBody>
                  <a:tcPr marL="63500" marR="63500" marT="0" marB="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/>
                      <a:r>
                        <a:rPr b="1" sz="2200"/>
                        <a:t>+ Tol.</a:t>
                      </a:r>
                    </a:p>
                  </a:txBody>
                  <a:tcPr marL="63500" marR="63500" marT="0" marB="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457200"/>
                      <a:r>
                        <a:rPr b="1" sz="2200"/>
                        <a:t>- Tol.</a:t>
                      </a:r>
                    </a:p>
                  </a:txBody>
                  <a:tcPr marL="63500" marR="63500" marT="0" marB="0" anchor="ctr" anchorCtr="0" horzOverflow="overflow">
                    <a:solidFill>
                      <a:srgbClr val="FFFFFF"/>
                    </a:solidFill>
                  </a:tcPr>
                </a:tc>
              </a:tr>
              <a:tr h="358835">
                <a:tc>
                  <a:txBody>
                    <a:bodyPr/>
                    <a:lstStyle/>
                    <a:p>
                      <a:pPr defTabSz="457200"/>
                      <a:r>
                        <a:rPr sz="2200"/>
                        <a:t>1 - 2</a:t>
                      </a:r>
                    </a:p>
                  </a:txBody>
                  <a:tcPr marL="63500" marR="63500" marT="0" marB="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2200"/>
                        <a:t>Latch tip to latch slot center</a:t>
                      </a:r>
                    </a:p>
                  </a:txBody>
                  <a:tcPr marL="63500" marR="63500" marT="0" marB="0" anchor="ctr" anchorCtr="0" horzOverflow="overflow"/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2200"/>
                        <a:t>9.70</a:t>
                      </a:r>
                    </a:p>
                  </a:txBody>
                  <a:tcPr marL="63500" marR="63500" marT="0" marB="0" anchor="ctr" anchorCtr="0" horzOverflow="overflow"/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2200"/>
                        <a:t>0.05</a:t>
                      </a:r>
                    </a:p>
                  </a:txBody>
                  <a:tcPr marL="63500" marR="63500" marT="0" marB="0" anchor="ctr" anchorCtr="0" horzOverflow="overflow"/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2200"/>
                        <a:t>0.05</a:t>
                      </a:r>
                    </a:p>
                  </a:txBody>
                  <a:tcPr marL="63500" marR="63500" marT="0" marB="0" anchor="ctr" anchorCtr="0" horzOverflow="overflow"/>
                </a:tc>
              </a:tr>
              <a:tr h="358835">
                <a:tc>
                  <a:txBody>
                    <a:bodyPr/>
                    <a:lstStyle/>
                    <a:p>
                      <a:pPr defTabSz="457200"/>
                      <a:r>
                        <a:rPr sz="2200"/>
                        <a:t>2 - 3</a:t>
                      </a:r>
                    </a:p>
                  </a:txBody>
                  <a:tcPr marL="63500" marR="63500" marT="0" marB="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2200"/>
                        <a:t>Latch slot center to button peg center</a:t>
                      </a:r>
                    </a:p>
                  </a:txBody>
                  <a:tcPr marL="63500" marR="63500" marT="0" marB="0" anchor="ctr" anchorCtr="0" horzOverflow="overflow"/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2200"/>
                        <a:t>0.00</a:t>
                      </a:r>
                    </a:p>
                  </a:txBody>
                  <a:tcPr marL="63500" marR="63500" marT="0" marB="0" anchor="ctr" anchorCtr="0" horzOverflow="overflow"/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2200"/>
                        <a:t>0.10</a:t>
                      </a:r>
                    </a:p>
                  </a:txBody>
                  <a:tcPr marL="63500" marR="63500" marT="0" marB="0" anchor="ctr" anchorCtr="0" horzOverflow="overflow"/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2200"/>
                        <a:t>0.00</a:t>
                      </a:r>
                    </a:p>
                  </a:txBody>
                  <a:tcPr marL="63500" marR="63500" marT="0" marB="0" anchor="ctr" anchorCtr="0" horzOverflow="overflow"/>
                </a:tc>
              </a:tr>
              <a:tr h="358835">
                <a:tc>
                  <a:txBody>
                    <a:bodyPr/>
                    <a:lstStyle/>
                    <a:p>
                      <a:pPr defTabSz="457200"/>
                      <a:r>
                        <a:rPr sz="2200"/>
                        <a:t>3 - 4</a:t>
                      </a:r>
                    </a:p>
                  </a:txBody>
                  <a:tcPr marL="63500" marR="63500" marT="0" marB="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2200"/>
                        <a:t>Button peg center to button hole</a:t>
                      </a:r>
                    </a:p>
                  </a:txBody>
                  <a:tcPr marL="63500" marR="63500" marT="0" marB="0" anchor="ctr" anchorCtr="0" horzOverflow="overflow"/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2200"/>
                        <a:t>-1.50</a:t>
                      </a:r>
                    </a:p>
                  </a:txBody>
                  <a:tcPr marL="63500" marR="63500" marT="0" marB="0" anchor="ctr" anchorCtr="0" horzOverflow="overflow"/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2200"/>
                        <a:t>0.05</a:t>
                      </a:r>
                    </a:p>
                  </a:txBody>
                  <a:tcPr marL="63500" marR="63500" marT="0" marB="0" anchor="ctr" anchorCtr="0" horzOverflow="overflow"/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2200"/>
                        <a:t>0.05</a:t>
                      </a:r>
                    </a:p>
                  </a:txBody>
                  <a:tcPr marL="63500" marR="63500" marT="0" marB="0" anchor="ctr" anchorCtr="0" horzOverflow="overflow"/>
                </a:tc>
              </a:tr>
              <a:tr h="358835">
                <a:tc>
                  <a:txBody>
                    <a:bodyPr/>
                    <a:lstStyle/>
                    <a:p>
                      <a:pPr defTabSz="457200"/>
                      <a:r>
                        <a:rPr sz="2200"/>
                        <a:t>4 - 5</a:t>
                      </a:r>
                    </a:p>
                  </a:txBody>
                  <a:tcPr marL="63500" marR="63500" marT="0" marB="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2200"/>
                        <a:t>Button hole to chassis post</a:t>
                      </a:r>
                    </a:p>
                  </a:txBody>
                  <a:tcPr marL="63500" marR="63500" marT="0" marB="0" anchor="ctr" anchorCtr="0" horzOverflow="overflow"/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2200"/>
                        <a:t>0.00</a:t>
                      </a:r>
                    </a:p>
                  </a:txBody>
                  <a:tcPr marL="63500" marR="63500" marT="0" marB="0" anchor="ctr" anchorCtr="0" horzOverflow="overflow"/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2200"/>
                        <a:t>0.10</a:t>
                      </a:r>
                    </a:p>
                  </a:txBody>
                  <a:tcPr marL="63500" marR="63500" marT="0" marB="0" anchor="ctr" anchorCtr="0" horzOverflow="overflow"/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2200"/>
                        <a:t>0.10</a:t>
                      </a:r>
                    </a:p>
                  </a:txBody>
                  <a:tcPr marL="63500" marR="63500" marT="0" marB="0" anchor="ctr" anchorCtr="0" horzOverflow="overflow"/>
                </a:tc>
              </a:tr>
              <a:tr h="358835">
                <a:tc>
                  <a:txBody>
                    <a:bodyPr/>
                    <a:lstStyle/>
                    <a:p>
                      <a:pPr defTabSz="457200"/>
                      <a:r>
                        <a:rPr sz="2200"/>
                        <a:t>5 - 6</a:t>
                      </a:r>
                    </a:p>
                  </a:txBody>
                  <a:tcPr marL="63500" marR="63500" marT="0" marB="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2200"/>
                        <a:t>Chassis post to screw hole center</a:t>
                      </a:r>
                    </a:p>
                  </a:txBody>
                  <a:tcPr marL="63500" marR="63500" marT="0" marB="0" anchor="ctr" anchorCtr="0" horzOverflow="overflow"/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2200"/>
                        <a:t>0.64</a:t>
                      </a:r>
                    </a:p>
                  </a:txBody>
                  <a:tcPr marL="63500" marR="63500" marT="0" marB="0" anchor="ctr" anchorCtr="0" horzOverflow="overflow"/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2200"/>
                        <a:t>0.05</a:t>
                      </a:r>
                    </a:p>
                  </a:txBody>
                  <a:tcPr marL="63500" marR="63500" marT="0" marB="0" anchor="ctr" anchorCtr="0" horzOverflow="overflow"/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2200"/>
                        <a:t>0.05</a:t>
                      </a:r>
                    </a:p>
                  </a:txBody>
                  <a:tcPr marL="63500" marR="63500" marT="0" marB="0" anchor="ctr" anchorCtr="0" horzOverflow="overflow"/>
                </a:tc>
              </a:tr>
              <a:tr h="358835">
                <a:tc>
                  <a:txBody>
                    <a:bodyPr/>
                    <a:lstStyle/>
                    <a:p>
                      <a:pPr defTabSz="457200"/>
                      <a:r>
                        <a:rPr sz="2200"/>
                        <a:t>4 - 5</a:t>
                      </a:r>
                    </a:p>
                  </a:txBody>
                  <a:tcPr marL="63500" marR="63500" marT="0" marB="0" anchor="ctr" anchorCtr="0" horzOverflow="overflow"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2200"/>
                        <a:t>Chassis screw hole center to housing</a:t>
                      </a:r>
                    </a:p>
                  </a:txBody>
                  <a:tcPr marL="63500" marR="63500" marT="0" marB="0" anchor="ctr" anchorCtr="0" horzOverflow="overflow"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2200"/>
                        <a:t>0.00</a:t>
                      </a:r>
                    </a:p>
                  </a:txBody>
                  <a:tcPr marL="63500" marR="63500" marT="0" marB="0" anchor="ctr" anchorCtr="0" horzOverflow="overflow"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2200"/>
                        <a:t>0.10</a:t>
                      </a:r>
                    </a:p>
                  </a:txBody>
                  <a:tcPr marL="63500" marR="63500" marT="0" marB="0" anchor="ctr" anchorCtr="0" horzOverflow="overflow">
                    <a:lnB w="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2200"/>
                        <a:t>0.10</a:t>
                      </a:r>
                    </a:p>
                  </a:txBody>
                  <a:tcPr marL="63500" marR="63500" marT="0" marB="0" anchor="ctr" anchorCtr="0" horzOverflow="overflow">
                    <a:lnB w="0">
                      <a:miter lim="400000"/>
                    </a:lnB>
                  </a:tcPr>
                </a:tc>
              </a:tr>
              <a:tr h="358835">
                <a:tc>
                  <a:txBody>
                    <a:bodyPr/>
                    <a:lstStyle/>
                    <a:p>
                      <a:pPr defTabSz="457200">
                        <a:defRPr sz="2200"/>
                      </a:pPr>
                    </a:p>
                  </a:txBody>
                  <a:tcPr marL="63500" marR="63500" marT="0" marB="0" anchor="ctr" anchorCtr="0" horzOverflow="overflow">
                    <a:lnT w="0"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2200"/>
                        <a:t>housing screw hole center</a:t>
                      </a:r>
                    </a:p>
                  </a:txBody>
                  <a:tcPr marL="63500" marR="63500" marT="0" marB="0" anchor="ctr" anchorCtr="0" horzOverflow="overflow">
                    <a:lnT w="0"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2200"/>
                      </a:pPr>
                    </a:p>
                  </a:txBody>
                  <a:tcPr marL="63500" marR="63500" marT="0" marB="0" anchor="ctr" anchorCtr="0" horzOverflow="overflow">
                    <a:lnT w="0"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2200"/>
                      </a:pPr>
                    </a:p>
                  </a:txBody>
                  <a:tcPr marL="63500" marR="63500" marT="0" marB="0" anchor="ctr" anchorCtr="0" horzOverflow="overflow">
                    <a:lnT w="0"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algn="l" defTabSz="457200">
                        <a:defRPr sz="2200"/>
                      </a:pPr>
                    </a:p>
                  </a:txBody>
                  <a:tcPr marL="63500" marR="63500" marT="0" marB="0" anchor="ctr" anchorCtr="0" horzOverflow="overflow">
                    <a:lnT w="0">
                      <a:miter lim="400000"/>
                    </a:lnT>
                  </a:tcPr>
                </a:tc>
              </a:tr>
              <a:tr h="358835">
                <a:tc>
                  <a:txBody>
                    <a:bodyPr/>
                    <a:lstStyle/>
                    <a:p>
                      <a:pPr defTabSz="457200"/>
                      <a:r>
                        <a:rPr sz="2200"/>
                        <a:t>5 - 6</a:t>
                      </a:r>
                    </a:p>
                  </a:txBody>
                  <a:tcPr marL="63500" marR="63500" marT="0" marB="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2200"/>
                        <a:t>Housing screw hole center to edge</a:t>
                      </a:r>
                    </a:p>
                  </a:txBody>
                  <a:tcPr marL="63500" marR="63500" marT="0" marB="0" anchor="ctr" anchorCtr="0" horzOverflow="overflow"/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2200"/>
                        <a:t>-11.00</a:t>
                      </a:r>
                    </a:p>
                  </a:txBody>
                  <a:tcPr marL="63500" marR="63500" marT="0" marB="0" anchor="ctr" anchorCtr="0" horzOverflow="overflow"/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2200"/>
                        <a:t>0.10</a:t>
                      </a:r>
                    </a:p>
                  </a:txBody>
                  <a:tcPr marL="63500" marR="63500" marT="0" marB="0" anchor="ctr" anchorCtr="0" horzOverflow="overflow"/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2200"/>
                        <a:t>0.10</a:t>
                      </a:r>
                    </a:p>
                  </a:txBody>
                  <a:tcPr marL="63500" marR="63500" marT="0" marB="0" anchor="ctr" anchorCtr="0" horzOverflow="overflow"/>
                </a:tc>
              </a:tr>
              <a:tr h="358835">
                <a:tc>
                  <a:txBody>
                    <a:bodyPr/>
                    <a:lstStyle/>
                    <a:p>
                      <a:pPr defTabSz="457200"/>
                      <a:r>
                        <a:rPr sz="2200"/>
                        <a:t>6 - 7</a:t>
                      </a:r>
                    </a:p>
                  </a:txBody>
                  <a:tcPr marL="63500" marR="63500" marT="0" marB="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2200"/>
                        <a:t>Housing edge to door tip</a:t>
                      </a:r>
                    </a:p>
                  </a:txBody>
                  <a:tcPr marL="63500" marR="63500" marT="0" marB="0" anchor="ctr" anchorCtr="0" horzOverflow="overflow"/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2200"/>
                        <a:t>2.95</a:t>
                      </a:r>
                    </a:p>
                  </a:txBody>
                  <a:tcPr marL="63500" marR="63500" marT="0" marB="0" anchor="ctr" anchorCtr="0" horzOverflow="overflow"/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2200"/>
                        <a:t>0.20</a:t>
                      </a:r>
                    </a:p>
                  </a:txBody>
                  <a:tcPr marL="63500" marR="63500" marT="0" marB="0" anchor="ctr" anchorCtr="0" horzOverflow="overflow"/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2200"/>
                        <a:t>0.20</a:t>
                      </a:r>
                    </a:p>
                  </a:txBody>
                  <a:tcPr marL="63500" marR="63500" marT="0" marB="0" anchor="ctr" anchorCtr="0" horzOverflow="overflow"/>
                </a:tc>
              </a:tr>
            </a:tbl>
          </a:graphicData>
        </a:graphic>
      </p:graphicFrame>
      <p:sp>
        <p:nvSpPr>
          <p:cNvPr id="473" name="Tolerance Analysis"/>
          <p:cNvSpPr txBox="1"/>
          <p:nvPr/>
        </p:nvSpPr>
        <p:spPr>
          <a:xfrm>
            <a:off x="15007519" y="2425350"/>
            <a:ext cx="4233864" cy="5842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32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Tolerance Analysis</a:t>
            </a:r>
          </a:p>
        </p:txBody>
      </p:sp>
      <p:sp>
        <p:nvSpPr>
          <p:cNvPr id="474" name="Nominal overlap: 0.79 mm…"/>
          <p:cNvSpPr txBox="1"/>
          <p:nvPr/>
        </p:nvSpPr>
        <p:spPr>
          <a:xfrm>
            <a:off x="20306493" y="8992277"/>
            <a:ext cx="3145059" cy="3370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 b="1" sz="2800"/>
            </a:pPr>
            <a:r>
              <a:t>Nominal overlap: </a:t>
            </a:r>
            <a:r>
              <a:rPr b="0"/>
              <a:t>0.79 mm</a:t>
            </a:r>
            <a:endParaRPr b="0"/>
          </a:p>
          <a:p>
            <a:pPr algn="l">
              <a:defRPr b="1" sz="2200"/>
            </a:pPr>
            <a:endParaRPr b="0"/>
          </a:p>
          <a:p>
            <a:pPr algn="l">
              <a:defRPr b="1" sz="2800"/>
            </a:pPr>
            <a:r>
              <a:t>RSS Max overlap: </a:t>
            </a:r>
            <a:r>
              <a:rPr b="0"/>
              <a:t>1.09</a:t>
            </a:r>
            <a:r>
              <a:t> mm</a:t>
            </a:r>
          </a:p>
          <a:p>
            <a:pPr algn="l">
              <a:defRPr b="1" sz="2200"/>
            </a:pPr>
          </a:p>
          <a:p>
            <a:pPr algn="l">
              <a:defRPr b="1" sz="2800"/>
            </a:pPr>
            <a:r>
              <a:t>RSS Min overlap: </a:t>
            </a:r>
            <a:r>
              <a:rPr b="0"/>
              <a:t>0.51 mm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